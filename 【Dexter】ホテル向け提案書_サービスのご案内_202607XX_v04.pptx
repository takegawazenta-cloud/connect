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2"/>
  </p:notesMasterIdLst>
  <p:sldIdLst>
    <p:sldId id="256" r:id="rId2"/>
    <p:sldId id="257" r:id="rId3"/>
    <p:sldId id="258" r:id="rId4"/>
    <p:sldId id="261" r:id="rId5"/>
    <p:sldId id="259" r:id="rId6"/>
    <p:sldId id="260" r:id="rId7"/>
    <p:sldId id="271"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54"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EFE6"/>
    <a:srgbClr val="F7F5EF"/>
    <a:srgbClr val="FBFAF7"/>
    <a:srgbClr val="3CAEA3"/>
    <a:srgbClr val="ED8B3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1308" y="952"/>
      </p:cViewPr>
      <p:guideLst>
        <p:guide orient="horz" pos="75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908292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
        <p:nvSpPr>
          <p:cNvPr id="9" name="Rectangle 6">
            <a:extLst>
              <a:ext uri="{FF2B5EF4-FFF2-40B4-BE49-F238E27FC236}">
                <a16:creationId xmlns:a16="http://schemas.microsoft.com/office/drawing/2014/main" id="{501B3C3A-3FDD-23B2-B528-A757D69601B7}"/>
              </a:ext>
            </a:extLst>
          </p:cNvPr>
          <p:cNvSpPr txBox="1">
            <a:spLocks noChangeArrowheads="1"/>
          </p:cNvSpPr>
          <p:nvPr userDrawn="1"/>
        </p:nvSpPr>
        <p:spPr bwMode="auto">
          <a:xfrm>
            <a:off x="11461262" y="6618279"/>
            <a:ext cx="500185" cy="21544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r" eaLnBrk="1" hangingPunct="1">
              <a:defRPr sz="900" b="0">
                <a:latin typeface="Times New Roman" pitchFamily="18" charset="0"/>
                <a:ea typeface="ＭＳ Ｐゴシック" pitchFamily="50" charset="-128"/>
              </a:defRPr>
            </a:lvl1pPr>
          </a:lstStyle>
          <a:p>
            <a:pPr marL="0" marR="0" lvl="0" indent="0" algn="r" defTabSz="914446" rtl="0" eaLnBrk="1" fontAlgn="base" latinLnBrk="0" hangingPunct="1">
              <a:lnSpc>
                <a:spcPct val="100000"/>
              </a:lnSpc>
              <a:spcBef>
                <a:spcPct val="50000"/>
              </a:spcBef>
              <a:spcAft>
                <a:spcPct val="0"/>
              </a:spcAft>
              <a:buClrTx/>
              <a:buSzTx/>
              <a:buFontTx/>
              <a:buNone/>
              <a:tabLst/>
              <a:defRPr/>
            </a:pPr>
            <a:fld id="{BDE7CA0D-AB1A-4C44-916F-B14BAEBD27E7}" type="slidenum">
              <a:rPr kumimoji="1" lang="en-US" altLang="ja-JP" sz="1400" b="0" i="0" u="none" strike="noStrike" kern="1200" cap="none" spc="0" normalizeH="0" baseline="0" noProof="0" smtClean="0">
                <a:ln>
                  <a:noFill/>
                </a:ln>
                <a:solidFill>
                  <a:schemeClr val="bg1">
                    <a:lumMod val="50000"/>
                  </a:schemeClr>
                </a:solidFill>
                <a:effectLst/>
                <a:uLnTx/>
                <a:uFillTx/>
                <a:latin typeface="Arial" panose="020B0604020202020204" pitchFamily="34" charset="0"/>
                <a:ea typeface="メイリオ" panose="020B0604030504040204" pitchFamily="50" charset="-128"/>
                <a:cs typeface="Arial" panose="020B0604020202020204" pitchFamily="34" charset="0"/>
              </a:rPr>
              <a:pPr marL="0" marR="0" lvl="0" indent="0" algn="r" defTabSz="914446" rtl="0" eaLnBrk="1" fontAlgn="base" latinLnBrk="0" hangingPunct="1">
                <a:lnSpc>
                  <a:spcPct val="100000"/>
                </a:lnSpc>
                <a:spcBef>
                  <a:spcPct val="50000"/>
                </a:spcBef>
                <a:spcAft>
                  <a:spcPct val="0"/>
                </a:spcAft>
                <a:buClrTx/>
                <a:buSzTx/>
                <a:buFontTx/>
                <a:buNone/>
                <a:tabLst/>
                <a:defRPr/>
              </a:pPr>
              <a:t>‹#›</a:t>
            </a:fld>
            <a:endParaRPr kumimoji="1" lang="en-US" altLang="ja-JP" sz="14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メイリオ" panose="020B0604030504040204" pitchFamily="50" charset="-128"/>
              <a:cs typeface="Arial" panose="020B0604020202020204" pitchFamily="34" charset="0"/>
            </a:endParaRPr>
          </a:p>
        </p:txBody>
      </p:sp>
      <p:sp>
        <p:nvSpPr>
          <p:cNvPr id="11" name="Google Shape;14;p17">
            <a:extLst>
              <a:ext uri="{FF2B5EF4-FFF2-40B4-BE49-F238E27FC236}">
                <a16:creationId xmlns:a16="http://schemas.microsoft.com/office/drawing/2014/main" id="{23A4F772-AEF2-08C6-5D98-D1C87DFDF2AD}"/>
              </a:ext>
            </a:extLst>
          </p:cNvPr>
          <p:cNvSpPr txBox="1"/>
          <p:nvPr userDrawn="1"/>
        </p:nvSpPr>
        <p:spPr>
          <a:xfrm>
            <a:off x="8772526" y="6612705"/>
            <a:ext cx="2688736" cy="226591"/>
          </a:xfrm>
          <a:prstGeom prst="rect">
            <a:avLst/>
          </a:prstGeom>
          <a:noFill/>
          <a:ln>
            <a:noFill/>
          </a:ln>
        </p:spPr>
        <p:txBody>
          <a:bodyPr spcFirstLastPara="1" wrap="square" lIns="72000" tIns="36000" rIns="72000" bIns="36000" anchor="t" anchorCtr="0">
            <a:spAutoFit/>
          </a:bodyPr>
          <a:lstStyle/>
          <a:p>
            <a:pPr marL="0" marR="0" lvl="0" indent="0" algn="l" rtl="0">
              <a:spcBef>
                <a:spcPts val="0"/>
              </a:spcBef>
              <a:spcAft>
                <a:spcPts val="0"/>
              </a:spcAft>
              <a:buClr>
                <a:srgbClr val="000000"/>
              </a:buClr>
              <a:buSzPts val="900"/>
              <a:buFont typeface="Arial"/>
              <a:buNone/>
            </a:pPr>
            <a:r>
              <a:rPr lang="en-US" altLang="ja-JP" sz="1000" b="0" i="0" u="none" strike="noStrike" cap="none" dirty="0">
                <a:solidFill>
                  <a:schemeClr val="bg1">
                    <a:lumMod val="50000"/>
                  </a:schemeClr>
                </a:solidFill>
                <a:latin typeface="Arial" panose="020B0604020202020204" pitchFamily="34" charset="0"/>
                <a:ea typeface="Arial"/>
                <a:cs typeface="Arial" panose="020B0604020202020204" pitchFamily="34" charset="0"/>
                <a:sym typeface="Arial"/>
              </a:rPr>
              <a:t>©2026 DEXTER, LLC.  All Rights Reserved.</a:t>
            </a:r>
            <a:endParaRPr sz="1000" b="0" i="0" u="none" strike="noStrike" cap="none" dirty="0">
              <a:solidFill>
                <a:schemeClr val="bg1">
                  <a:lumMod val="50000"/>
                </a:schemeClr>
              </a:solidFill>
              <a:latin typeface="Arial" panose="020B0604020202020204" pitchFamily="34" charset="0"/>
              <a:ea typeface="Arial"/>
              <a:cs typeface="Arial" panose="020B0604020202020204" pitchFamily="34" charset="0"/>
              <a:sym typeface="Arial"/>
            </a:endParaRPr>
          </a:p>
        </p:txBody>
      </p:sp>
      <p:pic>
        <p:nvPicPr>
          <p:cNvPr id="13" name="Image 0" descr="https://page.gensparksite.com/v1/base64_upload/2cb4a57ed1c6c88f0729af1fa56cd440">
            <a:extLst>
              <a:ext uri="{FF2B5EF4-FFF2-40B4-BE49-F238E27FC236}">
                <a16:creationId xmlns:a16="http://schemas.microsoft.com/office/drawing/2014/main" id="{AF638EA2-ED5C-A746-1676-393384A8836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889761" y="152704"/>
            <a:ext cx="1143000" cy="267005"/>
          </a:xfrm>
          <a:prstGeom prst="rect">
            <a:avLst/>
          </a:prstGeom>
        </p:spPr>
      </p:pic>
    </p:spTree>
    <p:extLst>
      <p:ext uri="{BB962C8B-B14F-4D97-AF65-F5344CB8AC3E}">
        <p14:creationId xmlns:p14="http://schemas.microsoft.com/office/powerpoint/2010/main" val="29816678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表紙">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DEEB365A-37BC-F7AD-479B-D8844E886FEA}"/>
              </a:ext>
            </a:extLst>
          </p:cNvPr>
          <p:cNvSpPr/>
          <p:nvPr userDrawn="1"/>
        </p:nvSpPr>
        <p:spPr>
          <a:xfrm>
            <a:off x="0" y="0"/>
            <a:ext cx="9334195" cy="6858000"/>
          </a:xfrm>
          <a:prstGeom prst="rect">
            <a:avLst/>
          </a:prstGeom>
          <a:solidFill>
            <a:srgbClr val="0A2647"/>
          </a:solidFill>
          <a:ln w="12700">
            <a:solidFill>
              <a:srgbClr val="FFFFFF">
                <a:alpha val="0"/>
              </a:srgbClr>
            </a:solidFill>
            <a:prstDash val="solid"/>
          </a:ln>
        </p:spPr>
        <p:txBody>
          <a:bodyPr/>
          <a:lstStyle/>
          <a:p>
            <a:endParaRPr lang="ja-JP" altLang="en-US"/>
          </a:p>
        </p:txBody>
      </p:sp>
      <p:sp>
        <p:nvSpPr>
          <p:cNvPr id="6" name="Shape 1">
            <a:extLst>
              <a:ext uri="{FF2B5EF4-FFF2-40B4-BE49-F238E27FC236}">
                <a16:creationId xmlns:a16="http://schemas.microsoft.com/office/drawing/2014/main" id="{DAA2E395-E09C-D0CD-F738-DCFC33C6573B}"/>
              </a:ext>
            </a:extLst>
          </p:cNvPr>
          <p:cNvSpPr/>
          <p:nvPr userDrawn="1"/>
        </p:nvSpPr>
        <p:spPr>
          <a:xfrm>
            <a:off x="9334195" y="0"/>
            <a:ext cx="2857500" cy="6858000"/>
          </a:xfrm>
          <a:prstGeom prst="rect">
            <a:avLst/>
          </a:prstGeom>
          <a:solidFill>
            <a:srgbClr val="3CAEA3"/>
          </a:solidFill>
          <a:ln w="12700">
            <a:solidFill>
              <a:srgbClr val="FFFFFF">
                <a:alpha val="0"/>
              </a:srgbClr>
            </a:solidFill>
            <a:prstDash val="solid"/>
          </a:ln>
        </p:spPr>
        <p:txBody>
          <a:bodyPr/>
          <a:lstStyle/>
          <a:p>
            <a:endParaRPr lang="ja-JP" altLang="en-US"/>
          </a:p>
        </p:txBody>
      </p:sp>
    </p:spTree>
    <p:extLst>
      <p:ext uri="{BB962C8B-B14F-4D97-AF65-F5344CB8AC3E}">
        <p14:creationId xmlns:p14="http://schemas.microsoft.com/office/powerpoint/2010/main" val="249060402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表紙">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DEEB365A-37BC-F7AD-479B-D8844E886FEA}"/>
              </a:ext>
            </a:extLst>
          </p:cNvPr>
          <p:cNvSpPr/>
          <p:nvPr userDrawn="1"/>
        </p:nvSpPr>
        <p:spPr>
          <a:xfrm>
            <a:off x="0" y="0"/>
            <a:ext cx="12192000" cy="6858000"/>
          </a:xfrm>
          <a:prstGeom prst="rect">
            <a:avLst/>
          </a:prstGeom>
          <a:solidFill>
            <a:srgbClr val="0A2647"/>
          </a:solidFill>
          <a:ln w="12700">
            <a:solidFill>
              <a:srgbClr val="FFFFFF">
                <a:alpha val="0"/>
              </a:srgbClr>
            </a:solidFill>
            <a:prstDash val="solid"/>
          </a:ln>
        </p:spPr>
        <p:txBody>
          <a:bodyPr/>
          <a:lstStyle/>
          <a:p>
            <a:endParaRPr lang="ja-JP" altLang="en-US"/>
          </a:p>
        </p:txBody>
      </p:sp>
    </p:spTree>
    <p:extLst>
      <p:ext uri="{BB962C8B-B14F-4D97-AF65-F5344CB8AC3E}">
        <p14:creationId xmlns:p14="http://schemas.microsoft.com/office/powerpoint/2010/main" val="267774932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BFAF7"/>
        </a:solidFill>
        <a:effectLst/>
      </p:bgPr>
    </p:bg>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78EAF927-A2CE-DCA1-C074-AA36249B56FD}"/>
              </a:ext>
            </a:extLst>
          </p:cNvPr>
          <p:cNvSpPr txBox="1">
            <a:spLocks noChangeArrowheads="1"/>
          </p:cNvSpPr>
          <p:nvPr userDrawn="1"/>
        </p:nvSpPr>
        <p:spPr bwMode="auto">
          <a:xfrm>
            <a:off x="11461262" y="6618279"/>
            <a:ext cx="500185" cy="215444"/>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r" eaLnBrk="1" hangingPunct="1">
              <a:defRPr sz="900" b="0">
                <a:latin typeface="Times New Roman" pitchFamily="18" charset="0"/>
                <a:ea typeface="ＭＳ Ｐゴシック" pitchFamily="50" charset="-128"/>
              </a:defRPr>
            </a:lvl1pPr>
          </a:lstStyle>
          <a:p>
            <a:pPr marL="0" marR="0" lvl="0" indent="0" algn="r" defTabSz="914446" rtl="0" eaLnBrk="1" fontAlgn="base" latinLnBrk="0" hangingPunct="1">
              <a:lnSpc>
                <a:spcPct val="100000"/>
              </a:lnSpc>
              <a:spcBef>
                <a:spcPct val="50000"/>
              </a:spcBef>
              <a:spcAft>
                <a:spcPct val="0"/>
              </a:spcAft>
              <a:buClrTx/>
              <a:buSzTx/>
              <a:buFontTx/>
              <a:buNone/>
              <a:tabLst/>
              <a:defRPr/>
            </a:pPr>
            <a:fld id="{BDE7CA0D-AB1A-4C44-916F-B14BAEBD27E7}" type="slidenum">
              <a:rPr kumimoji="1" lang="en-US" altLang="ja-JP" sz="1400" b="0" i="0" u="none" strike="noStrike" kern="1200" cap="none" spc="0" normalizeH="0" baseline="0" noProof="0" smtClean="0">
                <a:ln>
                  <a:noFill/>
                </a:ln>
                <a:solidFill>
                  <a:schemeClr val="bg1">
                    <a:lumMod val="50000"/>
                  </a:schemeClr>
                </a:solidFill>
                <a:effectLst/>
                <a:uLnTx/>
                <a:uFillTx/>
                <a:latin typeface="Arial" panose="020B0604020202020204" pitchFamily="34" charset="0"/>
                <a:ea typeface="メイリオ" panose="020B0604030504040204" pitchFamily="50" charset="-128"/>
                <a:cs typeface="Arial" panose="020B0604020202020204" pitchFamily="34" charset="0"/>
              </a:rPr>
              <a:pPr marL="0" marR="0" lvl="0" indent="0" algn="r" defTabSz="914446" rtl="0" eaLnBrk="1" fontAlgn="base" latinLnBrk="0" hangingPunct="1">
                <a:lnSpc>
                  <a:spcPct val="100000"/>
                </a:lnSpc>
                <a:spcBef>
                  <a:spcPct val="50000"/>
                </a:spcBef>
                <a:spcAft>
                  <a:spcPct val="0"/>
                </a:spcAft>
                <a:buClrTx/>
                <a:buSzTx/>
                <a:buFontTx/>
                <a:buNone/>
                <a:tabLst/>
                <a:defRPr/>
              </a:pPr>
              <a:t>‹#›</a:t>
            </a:fld>
            <a:endParaRPr kumimoji="1" lang="en-US" altLang="ja-JP" sz="1400" b="0" i="0" u="none" strike="noStrike" kern="1200" cap="none" spc="0" normalizeH="0" baseline="0" noProof="0" dirty="0">
              <a:ln>
                <a:noFill/>
              </a:ln>
              <a:solidFill>
                <a:schemeClr val="bg1">
                  <a:lumMod val="50000"/>
                </a:schemeClr>
              </a:solidFill>
              <a:effectLst/>
              <a:uLnTx/>
              <a:uFillTx/>
              <a:latin typeface="Arial" panose="020B0604020202020204" pitchFamily="34" charset="0"/>
              <a:ea typeface="メイリオ" panose="020B0604030504040204" pitchFamily="50" charset="-128"/>
              <a:cs typeface="Arial" panose="020B0604020202020204" pitchFamily="34" charset="0"/>
            </a:endParaRPr>
          </a:p>
        </p:txBody>
      </p:sp>
      <p:sp>
        <p:nvSpPr>
          <p:cNvPr id="5" name="Google Shape;14;p17">
            <a:extLst>
              <a:ext uri="{FF2B5EF4-FFF2-40B4-BE49-F238E27FC236}">
                <a16:creationId xmlns:a16="http://schemas.microsoft.com/office/drawing/2014/main" id="{A13148F5-E285-8F63-C92F-621143289E1F}"/>
              </a:ext>
            </a:extLst>
          </p:cNvPr>
          <p:cNvSpPr txBox="1"/>
          <p:nvPr userDrawn="1"/>
        </p:nvSpPr>
        <p:spPr>
          <a:xfrm>
            <a:off x="8772526" y="6612705"/>
            <a:ext cx="2688736" cy="226591"/>
          </a:xfrm>
          <a:prstGeom prst="rect">
            <a:avLst/>
          </a:prstGeom>
          <a:noFill/>
          <a:ln>
            <a:noFill/>
          </a:ln>
        </p:spPr>
        <p:txBody>
          <a:bodyPr spcFirstLastPara="1" wrap="square" lIns="72000" tIns="36000" rIns="72000" bIns="36000" anchor="t" anchorCtr="0">
            <a:spAutoFit/>
          </a:bodyPr>
          <a:lstStyle/>
          <a:p>
            <a:pPr marL="0" marR="0" lvl="0" indent="0" algn="l" rtl="0">
              <a:spcBef>
                <a:spcPts val="0"/>
              </a:spcBef>
              <a:spcAft>
                <a:spcPts val="0"/>
              </a:spcAft>
              <a:buClr>
                <a:srgbClr val="000000"/>
              </a:buClr>
              <a:buSzPts val="900"/>
              <a:buFont typeface="Arial"/>
              <a:buNone/>
            </a:pPr>
            <a:r>
              <a:rPr lang="en-US" altLang="ja-JP" sz="1000" b="0" i="0" u="none" strike="noStrike" cap="none" dirty="0">
                <a:solidFill>
                  <a:schemeClr val="bg1">
                    <a:lumMod val="50000"/>
                  </a:schemeClr>
                </a:solidFill>
                <a:latin typeface="Arial" panose="020B0604020202020204" pitchFamily="34" charset="0"/>
                <a:ea typeface="Arial"/>
                <a:cs typeface="Arial" panose="020B0604020202020204" pitchFamily="34" charset="0"/>
                <a:sym typeface="Arial"/>
              </a:rPr>
              <a:t>©2026 DEXTER, LLC.  All Rights Reserved.</a:t>
            </a:r>
            <a:endParaRPr sz="1000" b="0" i="0" u="none" strike="noStrike" cap="none" dirty="0">
              <a:solidFill>
                <a:schemeClr val="bg1">
                  <a:lumMod val="50000"/>
                </a:schemeClr>
              </a:solidFill>
              <a:latin typeface="Arial" panose="020B0604020202020204" pitchFamily="34" charset="0"/>
              <a:ea typeface="Arial"/>
              <a:cs typeface="Arial" panose="020B0604020202020204" pitchFamily="34" charset="0"/>
              <a:sym typeface="Arial"/>
            </a:endParaRPr>
          </a:p>
        </p:txBody>
      </p:sp>
      <p:pic>
        <p:nvPicPr>
          <p:cNvPr id="9" name="Image 0" descr="https://page.gensparksite.com/v1/base64_upload/2cb4a57ed1c6c88f0729af1fa56cd440">
            <a:extLst>
              <a:ext uri="{FF2B5EF4-FFF2-40B4-BE49-F238E27FC236}">
                <a16:creationId xmlns:a16="http://schemas.microsoft.com/office/drawing/2014/main" id="{5D639ADA-A266-F528-6C00-69408345C38E}"/>
              </a:ext>
            </a:extLst>
          </p:cNvPr>
          <p:cNvPicPr>
            <a:picLocks noChangeAspect="1"/>
          </p:cNvPicPr>
          <p:nvPr userDrawn="1"/>
        </p:nvPicPr>
        <p:blipFill>
          <a:blip r:embed="rId5" cstate="screen">
            <a:extLst>
              <a:ext uri="{28A0092B-C50C-407E-A947-70E740481C1C}">
                <a14:useLocalDpi xmlns:a14="http://schemas.microsoft.com/office/drawing/2010/main"/>
              </a:ext>
            </a:extLst>
          </a:blip>
          <a:srcRect/>
          <a:stretch/>
        </p:blipFill>
        <p:spPr>
          <a:xfrm>
            <a:off x="10889761" y="152704"/>
            <a:ext cx="1143000" cy="267005"/>
          </a:xfrm>
          <a:prstGeom prst="rect">
            <a:avLst/>
          </a:prstGeom>
        </p:spPr>
      </p:pic>
    </p:spTree>
    <p:extLst>
      <p:ext uri="{BB962C8B-B14F-4D97-AF65-F5344CB8AC3E}">
        <p14:creationId xmlns:p14="http://schemas.microsoft.com/office/powerpoint/2010/main" val="2389338046"/>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hf sldNum="0" hdr="0" ftr="0" dt="0"/>
  <p:txStyles>
    <p:titleStyle>
      <a:lvl1pPr algn="ctr" defTabSz="914446" rtl="0" eaLnBrk="1" latinLnBrk="0" hangingPunct="1">
        <a:spcBef>
          <a:spcPct val="0"/>
        </a:spcBef>
        <a:buNone/>
        <a:defRPr sz="4400" kern="1200">
          <a:solidFill>
            <a:schemeClr val="tx1"/>
          </a:solidFill>
          <a:latin typeface="+mj-lt"/>
          <a:ea typeface="+mj-ea"/>
          <a:cs typeface="+mj-cs"/>
        </a:defRPr>
      </a:lvl1pPr>
    </p:titleStyle>
    <p:bodyStyle>
      <a:lvl1pPr marL="342917" indent="-342917" algn="l" defTabSz="914446"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87" indent="-285764" algn="l" defTabSz="914446"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57" indent="-228611" algn="l" defTabSz="914446"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80"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503"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726"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49"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171"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394" indent="-228611" algn="l" defTabSz="91444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image" Target="../media/image7.jpg"/><Relationship Id="rId7"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jpeg"/><Relationship Id="rId11" Type="http://schemas.openxmlformats.org/officeDocument/2006/relationships/image" Target="../media/image14.jpeg"/><Relationship Id="rId5" Type="http://schemas.openxmlformats.org/officeDocument/2006/relationships/image" Target="../media/image8.png"/><Relationship Id="rId10" Type="http://schemas.openxmlformats.org/officeDocument/2006/relationships/image" Target="../media/image13.jpeg"/><Relationship Id="rId4" Type="http://schemas.openxmlformats.org/officeDocument/2006/relationships/image" Target="../media/image4.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8.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7.jpeg"/><Relationship Id="rId4" Type="http://schemas.openxmlformats.org/officeDocument/2006/relationships/image" Target="../media/image16.png"/><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png"/><Relationship Id="rId7" Type="http://schemas.openxmlformats.org/officeDocument/2006/relationships/image" Target="../media/image26.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jpeg"/><Relationship Id="rId9"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2" name="Shape 0"/>
          <p:cNvSpPr/>
          <p:nvPr/>
        </p:nvSpPr>
        <p:spPr>
          <a:xfrm>
            <a:off x="0" y="0"/>
            <a:ext cx="9334195" cy="6858000"/>
          </a:xfrm>
          <a:prstGeom prst="rect">
            <a:avLst/>
          </a:prstGeom>
          <a:solidFill>
            <a:srgbClr val="0A2647"/>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3" name="Shape 1"/>
          <p:cNvSpPr/>
          <p:nvPr/>
        </p:nvSpPr>
        <p:spPr>
          <a:xfrm>
            <a:off x="9334195" y="0"/>
            <a:ext cx="2857500" cy="6858000"/>
          </a:xfrm>
          <a:prstGeom prst="rect">
            <a:avLst/>
          </a:prstGeom>
          <a:solidFill>
            <a:srgbClr val="3CAEA3"/>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4" name="Image 0" descr="gen-dedup-509280229576fae5ddb4d2f52f63d0c6.png"/>
          <p:cNvPicPr>
            <a:picLocks noChangeAspect="1"/>
          </p:cNvPicPr>
          <p:nvPr/>
        </p:nvPicPr>
        <p:blipFill>
          <a:blip r:embed="rId3">
            <a:alphaModFix amt="85000"/>
          </a:blip>
          <a:srcRect t="15122" b="15122"/>
          <a:stretch/>
        </p:blipFill>
        <p:spPr>
          <a:xfrm>
            <a:off x="9334195" y="0"/>
            <a:ext cx="19202" cy="6858000"/>
          </a:xfrm>
          <a:prstGeom prst="rect">
            <a:avLst/>
          </a:prstGeom>
        </p:spPr>
      </p:pic>
      <p:pic>
        <p:nvPicPr>
          <p:cNvPr id="5" name="Image 1" descr="gen-dedup-57b904bccf98371bde297672e6e3ec88.png"/>
          <p:cNvPicPr>
            <a:picLocks noChangeAspect="1"/>
          </p:cNvPicPr>
          <p:nvPr/>
        </p:nvPicPr>
        <p:blipFill>
          <a:blip r:embed="rId4"/>
          <a:srcRect l="-422" r="-422"/>
          <a:stretch/>
        </p:blipFill>
        <p:spPr>
          <a:xfrm>
            <a:off x="571500" y="3952951"/>
            <a:ext cx="838505" cy="28346"/>
          </a:xfrm>
          <a:prstGeom prst="rect">
            <a:avLst/>
          </a:prstGeom>
        </p:spPr>
      </p:pic>
      <p:sp>
        <p:nvSpPr>
          <p:cNvPr id="6" name="Text 2"/>
          <p:cNvSpPr txBox="1"/>
          <p:nvPr/>
        </p:nvSpPr>
        <p:spPr>
          <a:xfrm>
            <a:off x="486888" y="2099802"/>
            <a:ext cx="8591798" cy="1126774"/>
          </a:xfrm>
          <a:prstGeom prst="rect">
            <a:avLst/>
          </a:prstGeom>
          <a:noFill/>
          <a:ln/>
        </p:spPr>
        <p:txBody>
          <a:bodyPr wrap="square" lIns="36000" tIns="36000" rIns="36000" bIns="36000" rtlCol="0" anchor="ctr">
            <a:spAutoFit/>
          </a:bodyPr>
          <a:lstStyle/>
          <a:p>
            <a:pPr>
              <a:lnSpc>
                <a:spcPct val="110000"/>
              </a:lnSpc>
            </a:pPr>
            <a:r>
              <a:rPr lang="ja-JP" altLang="en-US" sz="3200" b="1" kern="0" spc="144" dirty="0">
                <a:solidFill>
                  <a:srgbClr val="FBFAF7"/>
                </a:solidFill>
                <a:latin typeface="Noto Sans JP" panose="020B0200000000000000" pitchFamily="50" charset="-128"/>
                <a:ea typeface="Noto Sans JP" panose="020B0200000000000000" pitchFamily="50" charset="-128"/>
                <a:cs typeface="Noto Sans JP" pitchFamily="34" charset="-120"/>
              </a:rPr>
              <a:t>ゲストへの「もう一歩踏み込んだご提案」</a:t>
            </a:r>
            <a:br>
              <a:rPr lang="en-US" altLang="ja-JP" sz="3200" b="1" kern="0" spc="144" dirty="0">
                <a:solidFill>
                  <a:srgbClr val="FBFAF7"/>
                </a:solidFill>
                <a:latin typeface="Noto Sans JP" panose="020B0200000000000000" pitchFamily="50" charset="-128"/>
                <a:ea typeface="Noto Sans JP" panose="020B0200000000000000" pitchFamily="50" charset="-128"/>
                <a:cs typeface="Noto Sans JP" pitchFamily="34" charset="-120"/>
              </a:rPr>
            </a:br>
            <a:r>
              <a:rPr lang="ja-JP" altLang="en-US" sz="3200" b="1" kern="0" spc="144" dirty="0">
                <a:solidFill>
                  <a:srgbClr val="FBFAF7"/>
                </a:solidFill>
                <a:latin typeface="Noto Sans JP" panose="020B0200000000000000" pitchFamily="50" charset="-128"/>
                <a:ea typeface="Noto Sans JP" panose="020B0200000000000000" pitchFamily="50" charset="-128"/>
                <a:cs typeface="Noto Sans JP" pitchFamily="34" charset="-120"/>
              </a:rPr>
              <a:t>に向けて</a:t>
            </a:r>
            <a:endParaRPr lang="ja-JP" altLang="ja-JP" sz="3200" b="1" dirty="0">
              <a:latin typeface="Noto Sans JP" panose="020B0200000000000000" pitchFamily="50" charset="-128"/>
              <a:ea typeface="Noto Sans JP" panose="020B0200000000000000" pitchFamily="50" charset="-128"/>
            </a:endParaRPr>
          </a:p>
        </p:txBody>
      </p:sp>
      <p:sp>
        <p:nvSpPr>
          <p:cNvPr id="7" name="Text 3"/>
          <p:cNvSpPr txBox="1"/>
          <p:nvPr/>
        </p:nvSpPr>
        <p:spPr>
          <a:xfrm>
            <a:off x="571500" y="4141718"/>
            <a:ext cx="8382305" cy="645680"/>
          </a:xfrm>
          <a:prstGeom prst="rect">
            <a:avLst/>
          </a:prstGeom>
          <a:noFill/>
          <a:ln/>
        </p:spPr>
        <p:txBody>
          <a:bodyPr wrap="square" lIns="36000" tIns="36000" rIns="36000" bIns="36000" rtlCol="0" anchor="ctr">
            <a:spAutoFit/>
          </a:bodyPr>
          <a:lstStyle/>
          <a:p>
            <a:pPr marL="0" indent="0" algn="l">
              <a:lnSpc>
                <a:spcPct val="120000"/>
              </a:lnSpc>
              <a:spcBef>
                <a:spcPts val="300"/>
              </a:spcBef>
              <a:buNone/>
            </a:pPr>
            <a:r>
              <a:rPr lang="ja-JP" altLang="en-US" sz="1500" b="1" noProof="0" dirty="0">
                <a:solidFill>
                  <a:srgbClr val="FBFAF7"/>
                </a:solidFill>
                <a:latin typeface="Noto Sans JP" panose="020B0200000000000000" pitchFamily="50" charset="-128"/>
                <a:ea typeface="Noto Sans JP" panose="020B0200000000000000" pitchFamily="50" charset="-128"/>
                <a:cs typeface="Noto Sans JP" pitchFamily="34" charset="-120"/>
              </a:rPr>
              <a:t>現地で確かめた知見と地域ネットワークを活用し、</a:t>
            </a:r>
            <a:endParaRPr lang="en-US" altLang="ja-JP" sz="1500" b="1" noProof="0" dirty="0">
              <a:solidFill>
                <a:srgbClr val="FBFAF7"/>
              </a:solidFill>
              <a:latin typeface="Noto Sans JP" panose="020B0200000000000000" pitchFamily="50" charset="-128"/>
              <a:ea typeface="Noto Sans JP" panose="020B0200000000000000" pitchFamily="50" charset="-128"/>
              <a:cs typeface="Noto Sans JP" pitchFamily="34" charset="-120"/>
            </a:endParaRPr>
          </a:p>
          <a:p>
            <a:pPr marL="0" indent="0" algn="l">
              <a:lnSpc>
                <a:spcPct val="120000"/>
              </a:lnSpc>
              <a:spcBef>
                <a:spcPts val="300"/>
              </a:spcBef>
              <a:buNone/>
            </a:pPr>
            <a:r>
              <a:rPr lang="ja-JP" altLang="en-US" sz="1500" b="1" noProof="0" dirty="0">
                <a:solidFill>
                  <a:srgbClr val="FBFAF7"/>
                </a:solidFill>
                <a:latin typeface="Noto Sans JP" panose="020B0200000000000000" pitchFamily="50" charset="-128"/>
                <a:ea typeface="Noto Sans JP" panose="020B0200000000000000" pitchFamily="50" charset="-128"/>
                <a:cs typeface="Noto Sans JP" pitchFamily="34" charset="-120"/>
              </a:rPr>
              <a:t>コンシェルジュの提案力を広げるパートナーシップ</a:t>
            </a:r>
            <a:endParaRPr lang="ja-JP" sz="1500" noProof="0" dirty="0">
              <a:latin typeface="Noto Sans JP" panose="020B0200000000000000" pitchFamily="50" charset="-128"/>
              <a:ea typeface="Noto Sans JP" panose="020B0200000000000000" pitchFamily="50" charset="-128"/>
            </a:endParaRPr>
          </a:p>
        </p:txBody>
      </p:sp>
      <p:sp>
        <p:nvSpPr>
          <p:cNvPr id="8" name="Text 4"/>
          <p:cNvSpPr txBox="1"/>
          <p:nvPr/>
        </p:nvSpPr>
        <p:spPr>
          <a:xfrm>
            <a:off x="571500" y="5622153"/>
            <a:ext cx="2895592" cy="313025"/>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400" b="1" noProof="0" dirty="0">
                <a:solidFill>
                  <a:srgbClr val="3CAEA3"/>
                </a:solidFill>
                <a:latin typeface="Noto Sans JP" panose="020B0200000000000000" pitchFamily="50" charset="-128"/>
                <a:ea typeface="Noto Sans JP" panose="020B0200000000000000" pitchFamily="50" charset="-128"/>
                <a:cs typeface="Noto Sans JP" pitchFamily="34" charset="-120"/>
              </a:rPr>
              <a:t>デクスター合同会社／ Dexter LLC.</a:t>
            </a:r>
            <a:endParaRPr lang="ja-JP" sz="1400" noProof="0" dirty="0">
              <a:latin typeface="Noto Sans JP" panose="020B0200000000000000" pitchFamily="50" charset="-128"/>
              <a:ea typeface="Noto Sans JP" panose="020B0200000000000000" pitchFamily="50" charset="-128"/>
            </a:endParaRPr>
          </a:p>
        </p:txBody>
      </p:sp>
      <p:sp>
        <p:nvSpPr>
          <p:cNvPr id="9" name="Text 5"/>
          <p:cNvSpPr txBox="1"/>
          <p:nvPr/>
        </p:nvSpPr>
        <p:spPr>
          <a:xfrm>
            <a:off x="571500" y="6083563"/>
            <a:ext cx="1228469" cy="313025"/>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400" noProof="0" dirty="0">
                <a:solidFill>
                  <a:srgbClr val="FBFAF7">
                    <a:alpha val="70000"/>
                  </a:srgbClr>
                </a:solidFill>
                <a:latin typeface="Noto Sans JP" panose="020B0200000000000000" pitchFamily="50" charset="-128"/>
                <a:ea typeface="Noto Sans JP" panose="020B0200000000000000" pitchFamily="50" charset="-128"/>
                <a:cs typeface="Noto Sans JP" pitchFamily="34" charset="-120"/>
              </a:rPr>
              <a:t>2026 年 7 月版</a:t>
            </a:r>
            <a:endParaRPr lang="ja-JP" sz="1400" noProof="0" dirty="0">
              <a:latin typeface="Noto Sans JP" panose="020B0200000000000000" pitchFamily="50" charset="-128"/>
              <a:ea typeface="Noto Sans JP" panose="020B0200000000000000" pitchFamily="50"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Shape 0"/>
          <p:cNvSpPr/>
          <p:nvPr/>
        </p:nvSpPr>
        <p:spPr>
          <a:xfrm>
            <a:off x="571500" y="2682494"/>
            <a:ext cx="3402000" cy="1548000"/>
          </a:xfrm>
          <a:prstGeom prst="rect">
            <a:avLst/>
          </a:prstGeom>
          <a:solidFill>
            <a:schemeClr val="bg1"/>
          </a:solidFill>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3" name="Shape 1"/>
          <p:cNvSpPr/>
          <p:nvPr/>
        </p:nvSpPr>
        <p:spPr>
          <a:xfrm>
            <a:off x="571500" y="2682494"/>
            <a:ext cx="3402000" cy="28346"/>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4" name="Shape 2"/>
          <p:cNvSpPr/>
          <p:nvPr/>
        </p:nvSpPr>
        <p:spPr>
          <a:xfrm>
            <a:off x="4105656" y="2682494"/>
            <a:ext cx="3402000" cy="1548000"/>
          </a:xfrm>
          <a:prstGeom prst="rect">
            <a:avLst/>
          </a:prstGeom>
          <a:solidFill>
            <a:schemeClr val="bg1"/>
          </a:solidFill>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5" name="Shape 3"/>
          <p:cNvSpPr/>
          <p:nvPr/>
        </p:nvSpPr>
        <p:spPr>
          <a:xfrm>
            <a:off x="4105656" y="2682494"/>
            <a:ext cx="3402000" cy="28346"/>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6" name="Shape 4"/>
          <p:cNvSpPr/>
          <p:nvPr/>
        </p:nvSpPr>
        <p:spPr>
          <a:xfrm>
            <a:off x="7638898" y="2682494"/>
            <a:ext cx="3402000" cy="1548000"/>
          </a:xfrm>
          <a:prstGeom prst="rect">
            <a:avLst/>
          </a:prstGeom>
          <a:solidFill>
            <a:schemeClr val="bg1"/>
          </a:solidFill>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8" name="Shape 6"/>
          <p:cNvSpPr/>
          <p:nvPr/>
        </p:nvSpPr>
        <p:spPr>
          <a:xfrm>
            <a:off x="571500" y="4835848"/>
            <a:ext cx="11048695" cy="1548000"/>
          </a:xfrm>
          <a:prstGeom prst="rect">
            <a:avLst/>
          </a:prstGeom>
          <a:solidFill>
            <a:schemeClr val="bg1"/>
          </a:solidFill>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9" name="Shape 7"/>
          <p:cNvSpPr/>
          <p:nvPr/>
        </p:nvSpPr>
        <p:spPr>
          <a:xfrm>
            <a:off x="571500" y="4835848"/>
            <a:ext cx="38405" cy="1548000"/>
          </a:xfrm>
          <a:prstGeom prst="rect">
            <a:avLst/>
          </a:prstGeom>
          <a:solidFill>
            <a:srgbClr val="ED8B3C"/>
          </a:solidFill>
          <a:ln w="12700">
            <a:solidFill>
              <a:srgbClr val="ED8B3C">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11" name="Image 1" descr="gen-dedup-468f209c8b765fcabfd32ae0c933e113.png"/>
          <p:cNvPicPr>
            <a:picLocks noChangeAspect="1"/>
          </p:cNvPicPr>
          <p:nvPr/>
        </p:nvPicPr>
        <p:blipFill>
          <a:blip r:embed="rId3"/>
          <a:srcRect l="-404" r="-404"/>
          <a:stretch/>
        </p:blipFill>
        <p:spPr>
          <a:xfrm>
            <a:off x="571500" y="1196975"/>
            <a:ext cx="571500" cy="28346"/>
          </a:xfrm>
          <a:prstGeom prst="rect">
            <a:avLst/>
          </a:prstGeom>
        </p:spPr>
      </p:pic>
      <p:sp>
        <p:nvSpPr>
          <p:cNvPr id="12" name="Text 8"/>
          <p:cNvSpPr txBox="1"/>
          <p:nvPr/>
        </p:nvSpPr>
        <p:spPr>
          <a:xfrm>
            <a:off x="571500" y="292961"/>
            <a:ext cx="2054015" cy="24435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3CAEA3"/>
                </a:solidFill>
                <a:latin typeface="Noto Sans JP" panose="020B0200000000000000" pitchFamily="50" charset="-128"/>
                <a:ea typeface="Noto Sans JP" panose="020B0200000000000000" pitchFamily="50" charset="-128"/>
                <a:cs typeface="Noto Sans JP" pitchFamily="34" charset="-120"/>
              </a:rPr>
              <a:t>ゲストのニーズ ／ ホテル側の課題</a:t>
            </a:r>
            <a:endParaRPr lang="ja-JP" sz="1000" noProof="0" dirty="0">
              <a:latin typeface="Noto Sans JP" panose="020B0200000000000000" pitchFamily="50" charset="-128"/>
              <a:ea typeface="Noto Sans JP" panose="020B0200000000000000" pitchFamily="50" charset="-128"/>
            </a:endParaRPr>
          </a:p>
        </p:txBody>
      </p:sp>
      <p:sp>
        <p:nvSpPr>
          <p:cNvPr id="13" name="Text 9"/>
          <p:cNvSpPr txBox="1"/>
          <p:nvPr/>
        </p:nvSpPr>
        <p:spPr>
          <a:xfrm>
            <a:off x="571500" y="711893"/>
            <a:ext cx="11049610" cy="395869"/>
          </a:xfrm>
          <a:prstGeom prst="rect">
            <a:avLst/>
          </a:prstGeom>
          <a:noFill/>
          <a:ln/>
        </p:spPr>
        <p:txBody>
          <a:bodyPr wrap="square" lIns="36000" tIns="36000" rIns="36000" bIns="36000" rtlCol="0" anchor="ctr">
            <a:spAutoFit/>
          </a:bodyPr>
          <a:lstStyle/>
          <a:p>
            <a:pPr marL="0" indent="0" algn="l">
              <a:spcBef>
                <a:spcPts val="300"/>
              </a:spcBef>
              <a:buNone/>
            </a:pPr>
            <a:r>
              <a:rPr lang="ja-JP" altLang="en-US" sz="2100" b="1" noProof="0" dirty="0">
                <a:solidFill>
                  <a:srgbClr val="081F3A"/>
                </a:solidFill>
                <a:latin typeface="Noto Sans JP" panose="020B0200000000000000" pitchFamily="50" charset="-128"/>
                <a:ea typeface="Noto Sans JP" panose="020B0200000000000000" pitchFamily="50" charset="-128"/>
                <a:cs typeface="Noto Sans JP" pitchFamily="34" charset="-120"/>
              </a:rPr>
              <a:t>多様化するゲストの要望に応える「提案力」が、ホテルの新たな差別化要素に</a:t>
            </a:r>
            <a:endParaRPr lang="ja-JP" sz="2100" noProof="0" dirty="0">
              <a:latin typeface="Noto Sans JP" panose="020B0200000000000000" pitchFamily="50" charset="-128"/>
              <a:ea typeface="Noto Sans JP" panose="020B0200000000000000" pitchFamily="50" charset="-128"/>
            </a:endParaRPr>
          </a:p>
        </p:txBody>
      </p:sp>
      <p:sp>
        <p:nvSpPr>
          <p:cNvPr id="14" name="Text 10"/>
          <p:cNvSpPr txBox="1"/>
          <p:nvPr/>
        </p:nvSpPr>
        <p:spPr>
          <a:xfrm>
            <a:off x="571500" y="1377009"/>
            <a:ext cx="11049610" cy="497243"/>
          </a:xfrm>
          <a:prstGeom prst="rect">
            <a:avLst/>
          </a:prstGeom>
          <a:noFill/>
          <a:ln/>
        </p:spPr>
        <p:txBody>
          <a:bodyPr wrap="square" lIns="36000" tIns="36000" rIns="36000" bIns="36000" rtlCol="0" anchor="ctr">
            <a:spAutoFit/>
          </a:bodyPr>
          <a:lstStyle/>
          <a:p>
            <a:pPr marL="0" indent="0" algn="l">
              <a:lnSpc>
                <a:spcPct val="120000"/>
              </a:lnSpc>
              <a:spcBef>
                <a:spcPts val="300"/>
              </a:spcBef>
              <a:buNone/>
            </a:pP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ゲストはホテルに対し、</a:t>
            </a: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"こんな体験はできないか"</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など、漠然とした要望を寄せるようになりました。客室やホテルサービスの優劣だけでなく、</a:t>
            </a: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多様な要望にも応えられるか</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が、選ばれる理由の主軸に近づいています</a:t>
            </a:r>
            <a:endParaRPr lang="ja-JP" sz="1200" noProof="0" dirty="0">
              <a:latin typeface="Noto Sans JP" panose="020B0200000000000000" pitchFamily="50" charset="-128"/>
              <a:ea typeface="Noto Sans JP" panose="020B0200000000000000" pitchFamily="50" charset="-128"/>
            </a:endParaRPr>
          </a:p>
        </p:txBody>
      </p:sp>
      <p:sp>
        <p:nvSpPr>
          <p:cNvPr id="16" name="Text 12"/>
          <p:cNvSpPr txBox="1"/>
          <p:nvPr/>
        </p:nvSpPr>
        <p:spPr>
          <a:xfrm>
            <a:off x="571500" y="2307440"/>
            <a:ext cx="5524500" cy="313025"/>
          </a:xfrm>
          <a:prstGeom prst="rect">
            <a:avLst/>
          </a:prstGeom>
          <a:solidFill>
            <a:srgbClr val="FFFFFF">
              <a:alpha val="0"/>
            </a:srgbClr>
          </a:solidFill>
          <a:ln>
            <a:solidFill>
              <a:srgbClr val="FFFFFF">
                <a:alpha val="0"/>
              </a:srgbClr>
            </a:solidFill>
          </a:ln>
        </p:spPr>
        <p:txBody>
          <a:bodyPr wrap="square" lIns="36000" tIns="36000" rIns="36000" bIns="36000" rtlCol="0" anchor="ctr">
            <a:spAutoFit/>
          </a:bodyPr>
          <a:lstStyle/>
          <a:p>
            <a:pPr marL="0" indent="0" algn="l">
              <a:lnSpc>
                <a:spcPct val="120000"/>
              </a:lnSpc>
              <a:spcBef>
                <a:spcPts val="300"/>
              </a:spcBef>
              <a:buNone/>
            </a:pPr>
            <a:r>
              <a:rPr lang="ja-JP" sz="1400" b="1" noProof="0" dirty="0">
                <a:solidFill>
                  <a:srgbClr val="081F3A"/>
                </a:solidFill>
                <a:latin typeface="Noto Sans JP" panose="020B0200000000000000" pitchFamily="50" charset="-128"/>
                <a:ea typeface="Noto Sans JP" panose="020B0200000000000000" pitchFamily="50" charset="-128"/>
                <a:cs typeface="Noto Sans JP" pitchFamily="34" charset="-120"/>
              </a:rPr>
              <a:t>■ ゲスト側の変化 ― </a:t>
            </a:r>
            <a:r>
              <a:rPr lang="ja-JP" sz="1400" b="1" noProof="0" dirty="0">
                <a:solidFill>
                  <a:srgbClr val="3CAEA3"/>
                </a:solidFill>
                <a:latin typeface="Noto Sans JP" panose="020B0200000000000000" pitchFamily="50" charset="-128"/>
                <a:ea typeface="Noto Sans JP" panose="020B0200000000000000" pitchFamily="50" charset="-128"/>
                <a:cs typeface="Noto Sans JP" pitchFamily="34" charset="-120"/>
              </a:rPr>
              <a:t>「手配」より「提案」を求めるように</a:t>
            </a:r>
            <a:endParaRPr lang="ja-JP" sz="1400" noProof="0" dirty="0">
              <a:latin typeface="Noto Sans JP" panose="020B0200000000000000" pitchFamily="50" charset="-128"/>
              <a:ea typeface="Noto Sans JP" panose="020B0200000000000000" pitchFamily="50" charset="-128"/>
            </a:endParaRPr>
          </a:p>
        </p:txBody>
      </p:sp>
      <p:sp>
        <p:nvSpPr>
          <p:cNvPr id="17" name="Text 13"/>
          <p:cNvSpPr txBox="1"/>
          <p:nvPr/>
        </p:nvSpPr>
        <p:spPr>
          <a:xfrm>
            <a:off x="800100" y="2890167"/>
            <a:ext cx="2953512" cy="535715"/>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「普通の観光地ではなく、</a:t>
            </a:r>
            <a:endParaRPr lang="ja-JP" sz="1200" noProof="0" dirty="0">
              <a:latin typeface="Noto Sans JP" panose="020B0200000000000000" pitchFamily="50" charset="-128"/>
              <a:ea typeface="Noto Sans JP" panose="020B0200000000000000" pitchFamily="50" charset="-128"/>
            </a:endParaRPr>
          </a:p>
          <a:p>
            <a:pPr marL="0" indent="0" algn="l">
              <a:lnSpc>
                <a:spcPct val="120000"/>
              </a:lnSpc>
              <a:spcBef>
                <a:spcPts val="300"/>
              </a:spcBef>
              <a:buNone/>
            </a:pPr>
            <a:r>
              <a:rPr lang="ja-JP" sz="1200" b="1" noProof="0" dirty="0">
                <a:solidFill>
                  <a:srgbClr val="3CAEA3"/>
                </a:solidFill>
                <a:latin typeface="Noto Sans JP" panose="020B0200000000000000" pitchFamily="50" charset="-128"/>
                <a:ea typeface="Noto Sans JP" panose="020B0200000000000000" pitchFamily="50" charset="-128"/>
                <a:cs typeface="Noto Sans JP" pitchFamily="34" charset="-120"/>
              </a:rPr>
              <a:t>地元の人しか知らない場所</a:t>
            </a: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へ」</a:t>
            </a:r>
            <a:endParaRPr lang="ja-JP" sz="1200" noProof="0" dirty="0">
              <a:latin typeface="Noto Sans JP" panose="020B0200000000000000" pitchFamily="50" charset="-128"/>
              <a:ea typeface="Noto Sans JP" panose="020B0200000000000000" pitchFamily="50" charset="-128"/>
            </a:endParaRPr>
          </a:p>
        </p:txBody>
      </p:sp>
      <p:sp>
        <p:nvSpPr>
          <p:cNvPr id="18" name="Text 14"/>
          <p:cNvSpPr txBox="1"/>
          <p:nvPr/>
        </p:nvSpPr>
        <p:spPr>
          <a:xfrm>
            <a:off x="800100" y="3594262"/>
            <a:ext cx="1640440" cy="226591"/>
          </a:xfrm>
          <a:prstGeom prst="rect">
            <a:avLst/>
          </a:prstGeom>
          <a:noFill/>
          <a:ln/>
        </p:spPr>
        <p:txBody>
          <a:bodyPr wrap="none" lIns="36000" tIns="36000" rIns="36000" bIns="36000" rtlCol="0" anchor="ctr">
            <a:spAutoFit/>
          </a:bodyPr>
          <a:lstStyle/>
          <a:p>
            <a:pPr marL="0" indent="0" algn="l">
              <a:buNone/>
            </a:pPr>
            <a:r>
              <a:rPr lang="ja-JP" sz="1000" noProof="0" dirty="0">
                <a:solidFill>
                  <a:schemeClr val="tx1">
                    <a:lumMod val="50000"/>
                    <a:lumOff val="50000"/>
                  </a:schemeClr>
                </a:solidFill>
                <a:latin typeface="Noto Sans JP" panose="020B0200000000000000" pitchFamily="50" charset="-128"/>
                <a:ea typeface="Noto Sans JP" panose="020B0200000000000000" pitchFamily="50" charset="-128"/>
                <a:cs typeface="Noto Sans JP" pitchFamily="34" charset="-120"/>
              </a:rPr>
              <a:t>― 米国・富裕層ファミリー</a:t>
            </a:r>
            <a:endParaRPr lang="ja-JP" sz="1000" noProof="0" dirty="0">
              <a:solidFill>
                <a:schemeClr val="tx1">
                  <a:lumMod val="50000"/>
                  <a:lumOff val="50000"/>
                </a:schemeClr>
              </a:solidFill>
              <a:latin typeface="Noto Sans JP" panose="020B0200000000000000" pitchFamily="50" charset="-128"/>
              <a:ea typeface="Noto Sans JP" panose="020B0200000000000000" pitchFamily="50" charset="-128"/>
            </a:endParaRPr>
          </a:p>
        </p:txBody>
      </p:sp>
      <p:sp>
        <p:nvSpPr>
          <p:cNvPr id="19" name="Text 15"/>
          <p:cNvSpPr txBox="1"/>
          <p:nvPr/>
        </p:nvSpPr>
        <p:spPr>
          <a:xfrm>
            <a:off x="800100" y="3836490"/>
            <a:ext cx="2623081" cy="252945"/>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50" noProof="0" dirty="0">
                <a:solidFill>
                  <a:srgbClr val="404A57"/>
                </a:solidFill>
                <a:latin typeface="Noto Sans JP" panose="020B0200000000000000" pitchFamily="50" charset="-128"/>
                <a:ea typeface="Noto Sans JP" panose="020B0200000000000000" pitchFamily="50" charset="-128"/>
                <a:cs typeface="Noto Sans JP" pitchFamily="34" charset="-120"/>
              </a:rPr>
              <a:t>OTAにはない、</a:t>
            </a:r>
            <a:r>
              <a:rPr lang="ja-JP" sz="1050" b="1" noProof="0" dirty="0">
                <a:solidFill>
                  <a:srgbClr val="3CAEA3"/>
                </a:solidFill>
                <a:latin typeface="Noto Sans JP" panose="020B0200000000000000" pitchFamily="50" charset="-128"/>
                <a:ea typeface="Noto Sans JP" panose="020B0200000000000000" pitchFamily="50" charset="-128"/>
                <a:cs typeface="Noto Sans JP" pitchFamily="34" charset="-120"/>
              </a:rPr>
              <a:t>暮らしの温度感</a:t>
            </a:r>
            <a:r>
              <a:rPr lang="ja-JP" sz="1050" noProof="0" dirty="0">
                <a:solidFill>
                  <a:srgbClr val="404A57"/>
                </a:solidFill>
                <a:latin typeface="Noto Sans JP" panose="020B0200000000000000" pitchFamily="50" charset="-128"/>
                <a:ea typeface="Noto Sans JP" panose="020B0200000000000000" pitchFamily="50" charset="-128"/>
                <a:cs typeface="Noto Sans JP" pitchFamily="34" charset="-120"/>
              </a:rPr>
              <a:t>に触れたい</a:t>
            </a:r>
            <a:endParaRPr lang="ja-JP" sz="1050" noProof="0" dirty="0">
              <a:latin typeface="Noto Sans JP" panose="020B0200000000000000" pitchFamily="50" charset="-128"/>
              <a:ea typeface="Noto Sans JP" panose="020B0200000000000000" pitchFamily="50" charset="-128"/>
            </a:endParaRPr>
          </a:p>
        </p:txBody>
      </p:sp>
      <p:sp>
        <p:nvSpPr>
          <p:cNvPr id="20" name="Text 16"/>
          <p:cNvSpPr txBox="1"/>
          <p:nvPr/>
        </p:nvSpPr>
        <p:spPr>
          <a:xfrm>
            <a:off x="4334256" y="2890167"/>
            <a:ext cx="2953512" cy="278722"/>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a:t>
            </a:r>
            <a:r>
              <a:rPr lang="ja-JP" sz="1200" b="1" noProof="0" dirty="0">
                <a:solidFill>
                  <a:srgbClr val="3CAEA3"/>
                </a:solidFill>
                <a:latin typeface="Noto Sans JP" panose="020B0200000000000000" pitchFamily="50" charset="-128"/>
                <a:ea typeface="Noto Sans JP" panose="020B0200000000000000" pitchFamily="50" charset="-128"/>
                <a:cs typeface="Noto Sans JP" pitchFamily="34" charset="-120"/>
              </a:rPr>
              <a:t>相撲を見る</a:t>
            </a: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だけでなく、体験したい」</a:t>
            </a:r>
            <a:endParaRPr lang="ja-JP" sz="1200" noProof="0" dirty="0">
              <a:latin typeface="Noto Sans JP" panose="020B0200000000000000" pitchFamily="50" charset="-128"/>
              <a:ea typeface="Noto Sans JP" panose="020B0200000000000000" pitchFamily="50" charset="-128"/>
            </a:endParaRPr>
          </a:p>
        </p:txBody>
      </p:sp>
      <p:sp>
        <p:nvSpPr>
          <p:cNvPr id="21" name="Text 17"/>
          <p:cNvSpPr txBox="1"/>
          <p:nvPr/>
        </p:nvSpPr>
        <p:spPr>
          <a:xfrm>
            <a:off x="4334256" y="3594262"/>
            <a:ext cx="1255719" cy="226591"/>
          </a:xfrm>
          <a:prstGeom prst="rect">
            <a:avLst/>
          </a:prstGeom>
          <a:noFill/>
          <a:ln/>
        </p:spPr>
        <p:txBody>
          <a:bodyPr wrap="none" lIns="36000" tIns="36000" rIns="36000" bIns="36000" rtlCol="0" anchor="ctr">
            <a:spAutoFit/>
          </a:bodyPr>
          <a:lstStyle/>
          <a:p>
            <a:pPr marL="0" indent="0" algn="l">
              <a:buNone/>
            </a:pPr>
            <a:r>
              <a:rPr lang="ja-JP" sz="1000" noProof="0" dirty="0">
                <a:solidFill>
                  <a:schemeClr val="tx1">
                    <a:lumMod val="50000"/>
                    <a:lumOff val="50000"/>
                  </a:schemeClr>
                </a:solidFill>
                <a:latin typeface="Noto Sans JP" panose="020B0200000000000000" pitchFamily="50" charset="-128"/>
                <a:ea typeface="Noto Sans JP" panose="020B0200000000000000" pitchFamily="50" charset="-128"/>
                <a:cs typeface="Noto Sans JP" pitchFamily="34" charset="-120"/>
              </a:rPr>
              <a:t>― 欧米・文化関心層</a:t>
            </a:r>
            <a:endParaRPr lang="ja-JP" sz="1000" noProof="0" dirty="0">
              <a:solidFill>
                <a:schemeClr val="tx1">
                  <a:lumMod val="50000"/>
                  <a:lumOff val="50000"/>
                </a:schemeClr>
              </a:solidFill>
              <a:latin typeface="Noto Sans JP" panose="020B0200000000000000" pitchFamily="50" charset="-128"/>
              <a:ea typeface="Noto Sans JP" panose="020B0200000000000000" pitchFamily="50" charset="-128"/>
            </a:endParaRPr>
          </a:p>
        </p:txBody>
      </p:sp>
      <p:sp>
        <p:nvSpPr>
          <p:cNvPr id="22" name="Text 18"/>
          <p:cNvSpPr txBox="1"/>
          <p:nvPr/>
        </p:nvSpPr>
        <p:spPr>
          <a:xfrm>
            <a:off x="4334256" y="3836490"/>
            <a:ext cx="2227139" cy="252945"/>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50" noProof="0" dirty="0">
                <a:solidFill>
                  <a:srgbClr val="404A57"/>
                </a:solidFill>
                <a:latin typeface="Noto Sans JP" panose="020B0200000000000000" pitchFamily="50" charset="-128"/>
                <a:ea typeface="Noto Sans JP" panose="020B0200000000000000" pitchFamily="50" charset="-128"/>
                <a:cs typeface="Noto Sans JP" pitchFamily="34" charset="-120"/>
              </a:rPr>
              <a:t>伝統文化を</a:t>
            </a:r>
            <a:r>
              <a:rPr lang="ja-JP" sz="1050" b="1" noProof="0" dirty="0">
                <a:solidFill>
                  <a:srgbClr val="3CAEA3"/>
                </a:solidFill>
                <a:latin typeface="Noto Sans JP" panose="020B0200000000000000" pitchFamily="50" charset="-128"/>
                <a:ea typeface="Noto Sans JP" panose="020B0200000000000000" pitchFamily="50" charset="-128"/>
                <a:cs typeface="Noto Sans JP" pitchFamily="34" charset="-120"/>
              </a:rPr>
              <a:t>深く触れる</a:t>
            </a:r>
            <a:r>
              <a:rPr lang="ja-JP" sz="1050" noProof="0" dirty="0">
                <a:solidFill>
                  <a:srgbClr val="404A57"/>
                </a:solidFill>
                <a:latin typeface="Noto Sans JP" panose="020B0200000000000000" pitchFamily="50" charset="-128"/>
                <a:ea typeface="Noto Sans JP" panose="020B0200000000000000" pitchFamily="50" charset="-128"/>
                <a:cs typeface="Noto Sans JP" pitchFamily="34" charset="-120"/>
              </a:rPr>
              <a:t>体験への期待</a:t>
            </a:r>
            <a:endParaRPr lang="ja-JP" sz="1050" noProof="0" dirty="0">
              <a:latin typeface="Noto Sans JP" panose="020B0200000000000000" pitchFamily="50" charset="-128"/>
              <a:ea typeface="Noto Sans JP" panose="020B0200000000000000" pitchFamily="50" charset="-128"/>
            </a:endParaRPr>
          </a:p>
        </p:txBody>
      </p:sp>
      <p:sp>
        <p:nvSpPr>
          <p:cNvPr id="23" name="Text 19"/>
          <p:cNvSpPr txBox="1"/>
          <p:nvPr/>
        </p:nvSpPr>
        <p:spPr>
          <a:xfrm>
            <a:off x="7858354" y="2890167"/>
            <a:ext cx="3031896" cy="500321"/>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a:t>
            </a:r>
            <a:r>
              <a:rPr lang="ja-JP" sz="1200" b="1" noProof="0" dirty="0">
                <a:solidFill>
                  <a:srgbClr val="3CAEA3"/>
                </a:solidFill>
                <a:latin typeface="Noto Sans JP" panose="020B0200000000000000" pitchFamily="50" charset="-128"/>
                <a:ea typeface="Noto Sans JP" panose="020B0200000000000000" pitchFamily="50" charset="-128"/>
              </a:rPr>
              <a:t>●●エリア</a:t>
            </a:r>
            <a:r>
              <a:rPr lang="ja-JP" sz="1200" b="1" noProof="0" dirty="0">
                <a:latin typeface="Noto Sans JP" panose="020B0200000000000000" pitchFamily="50" charset="-128"/>
                <a:ea typeface="Noto Sans JP" panose="020B0200000000000000" pitchFamily="50" charset="-128"/>
              </a:rPr>
              <a:t>へ行きたいのだが、</a:t>
            </a:r>
            <a:r>
              <a:rPr lang="ja-JP" sz="1200" b="1" noProof="0" dirty="0">
                <a:latin typeface="Noto Sans JP" panose="020B0200000000000000" pitchFamily="50" charset="-128"/>
                <a:ea typeface="Noto Sans JP" panose="020B0200000000000000" pitchFamily="50" charset="-128"/>
                <a:cs typeface="Noto Sans JP" pitchFamily="34" charset="-120"/>
              </a:rPr>
              <a:t>テーマ性のある3日間を組み立てて！」</a:t>
            </a:r>
            <a:endParaRPr lang="ja-JP" sz="1200" noProof="0" dirty="0">
              <a:latin typeface="Noto Sans JP" panose="020B0200000000000000" pitchFamily="50" charset="-128"/>
              <a:ea typeface="Noto Sans JP" panose="020B0200000000000000" pitchFamily="50" charset="-128"/>
            </a:endParaRPr>
          </a:p>
        </p:txBody>
      </p:sp>
      <p:sp>
        <p:nvSpPr>
          <p:cNvPr id="24" name="Text 20"/>
          <p:cNvSpPr txBox="1"/>
          <p:nvPr/>
        </p:nvSpPr>
        <p:spPr>
          <a:xfrm>
            <a:off x="7858354" y="3594262"/>
            <a:ext cx="1896920" cy="226591"/>
          </a:xfrm>
          <a:prstGeom prst="rect">
            <a:avLst/>
          </a:prstGeom>
          <a:noFill/>
          <a:ln/>
        </p:spPr>
        <p:txBody>
          <a:bodyPr wrap="none" lIns="36000" tIns="36000" rIns="36000" bIns="36000" rtlCol="0" anchor="ctr">
            <a:spAutoFit/>
          </a:bodyPr>
          <a:lstStyle/>
          <a:p>
            <a:pPr marL="0" indent="0" algn="l">
              <a:buNone/>
            </a:pPr>
            <a:r>
              <a:rPr lang="ja-JP" sz="1000" noProof="0" dirty="0">
                <a:solidFill>
                  <a:schemeClr val="tx1">
                    <a:lumMod val="50000"/>
                    <a:lumOff val="50000"/>
                  </a:schemeClr>
                </a:solidFill>
                <a:latin typeface="Noto Sans JP" panose="020B0200000000000000" pitchFamily="50" charset="-128"/>
                <a:ea typeface="Noto Sans JP" panose="020B0200000000000000" pitchFamily="50" charset="-128"/>
                <a:cs typeface="Noto Sans JP" pitchFamily="34" charset="-120"/>
              </a:rPr>
              <a:t>― 長期滞在のナレッジワーカー</a:t>
            </a:r>
            <a:endParaRPr lang="ja-JP" sz="1000" noProof="0" dirty="0">
              <a:solidFill>
                <a:schemeClr val="tx1">
                  <a:lumMod val="50000"/>
                  <a:lumOff val="50000"/>
                </a:schemeClr>
              </a:solidFill>
              <a:latin typeface="Noto Sans JP" panose="020B0200000000000000" pitchFamily="50" charset="-128"/>
              <a:ea typeface="Noto Sans JP" panose="020B0200000000000000" pitchFamily="50" charset="-128"/>
            </a:endParaRPr>
          </a:p>
        </p:txBody>
      </p:sp>
      <p:sp>
        <p:nvSpPr>
          <p:cNvPr id="25" name="Text 21"/>
          <p:cNvSpPr txBox="1"/>
          <p:nvPr/>
        </p:nvSpPr>
        <p:spPr>
          <a:xfrm>
            <a:off x="7858354" y="3836490"/>
            <a:ext cx="2765748" cy="252945"/>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50" noProof="0" dirty="0">
                <a:solidFill>
                  <a:srgbClr val="404A57"/>
                </a:solidFill>
                <a:latin typeface="Noto Sans JP" panose="020B0200000000000000" pitchFamily="50" charset="-128"/>
                <a:ea typeface="Noto Sans JP" panose="020B0200000000000000" pitchFamily="50" charset="-128"/>
                <a:cs typeface="Noto Sans JP" pitchFamily="34" charset="-120"/>
              </a:rPr>
              <a:t>テーマを軸とした</a:t>
            </a:r>
            <a:r>
              <a:rPr lang="ja-JP" sz="1050" b="1" noProof="0" dirty="0">
                <a:solidFill>
                  <a:srgbClr val="3CAEA3"/>
                </a:solidFill>
                <a:latin typeface="Noto Sans JP" panose="020B0200000000000000" pitchFamily="50" charset="-128"/>
                <a:ea typeface="Noto Sans JP" panose="020B0200000000000000" pitchFamily="50" charset="-128"/>
                <a:cs typeface="Noto Sans JP" pitchFamily="34" charset="-120"/>
              </a:rPr>
              <a:t>滞在設計の「型」</a:t>
            </a:r>
            <a:r>
              <a:rPr lang="ja-JP" sz="1050" noProof="0" dirty="0">
                <a:solidFill>
                  <a:srgbClr val="404A57"/>
                </a:solidFill>
                <a:latin typeface="Noto Sans JP" panose="020B0200000000000000" pitchFamily="50" charset="-128"/>
                <a:ea typeface="Noto Sans JP" panose="020B0200000000000000" pitchFamily="50" charset="-128"/>
                <a:cs typeface="Noto Sans JP" pitchFamily="34" charset="-120"/>
              </a:rPr>
              <a:t>を求める</a:t>
            </a:r>
            <a:endParaRPr lang="ja-JP" sz="1050" noProof="0" dirty="0">
              <a:latin typeface="Noto Sans JP" panose="020B0200000000000000" pitchFamily="50" charset="-128"/>
              <a:ea typeface="Noto Sans JP" panose="020B0200000000000000" pitchFamily="50" charset="-128"/>
            </a:endParaRPr>
          </a:p>
        </p:txBody>
      </p:sp>
      <p:sp>
        <p:nvSpPr>
          <p:cNvPr id="27" name="Text 23"/>
          <p:cNvSpPr txBox="1"/>
          <p:nvPr/>
        </p:nvSpPr>
        <p:spPr>
          <a:xfrm>
            <a:off x="571500" y="4456069"/>
            <a:ext cx="3842530" cy="313025"/>
          </a:xfrm>
          <a:prstGeom prst="rect">
            <a:avLst/>
          </a:prstGeom>
          <a:solidFill>
            <a:srgbClr val="FFFFFF">
              <a:alpha val="0"/>
            </a:srgbClr>
          </a:solidFill>
          <a:ln>
            <a:solidFill>
              <a:srgbClr val="FFFFFF">
                <a:alpha val="0"/>
              </a:srgbClr>
            </a:solidFill>
          </a:ln>
        </p:spPr>
        <p:txBody>
          <a:bodyPr wrap="square" lIns="36000" tIns="36000" rIns="36000" bIns="36000" rtlCol="0" anchor="ctr">
            <a:spAutoFit/>
          </a:bodyPr>
          <a:lstStyle/>
          <a:p>
            <a:pPr marL="0" indent="0" algn="l">
              <a:lnSpc>
                <a:spcPct val="120000"/>
              </a:lnSpc>
              <a:spcBef>
                <a:spcPts val="300"/>
              </a:spcBef>
              <a:buNone/>
            </a:pPr>
            <a:r>
              <a:rPr lang="ja-JP" sz="1400" b="1" noProof="0" dirty="0">
                <a:solidFill>
                  <a:srgbClr val="081F3A"/>
                </a:solidFill>
                <a:latin typeface="Noto Sans JP" panose="020B0200000000000000" pitchFamily="50" charset="-128"/>
                <a:ea typeface="Noto Sans JP" panose="020B0200000000000000" pitchFamily="50" charset="-128"/>
                <a:cs typeface="Noto Sans JP" pitchFamily="34" charset="-120"/>
              </a:rPr>
              <a:t>■ ホテル側の現実 ― </a:t>
            </a:r>
            <a:r>
              <a:rPr lang="ja-JP" sz="1400" b="1" noProof="0" dirty="0">
                <a:solidFill>
                  <a:srgbClr val="ED8B3C"/>
                </a:solidFill>
                <a:latin typeface="Noto Sans JP" panose="020B0200000000000000" pitchFamily="50" charset="-128"/>
                <a:ea typeface="Noto Sans JP" panose="020B0200000000000000" pitchFamily="50" charset="-128"/>
                <a:cs typeface="Noto Sans JP" pitchFamily="34" charset="-120"/>
              </a:rPr>
              <a:t>4 つのボトルネック</a:t>
            </a:r>
            <a:endParaRPr lang="ja-JP" sz="1400" noProof="0" dirty="0">
              <a:latin typeface="Noto Sans JP" panose="020B0200000000000000" pitchFamily="50" charset="-128"/>
              <a:ea typeface="Noto Sans JP" panose="020B0200000000000000" pitchFamily="50" charset="-128"/>
            </a:endParaRPr>
          </a:p>
        </p:txBody>
      </p:sp>
      <p:sp>
        <p:nvSpPr>
          <p:cNvPr id="28" name="Text 24"/>
          <p:cNvSpPr txBox="1"/>
          <p:nvPr/>
        </p:nvSpPr>
        <p:spPr>
          <a:xfrm>
            <a:off x="800100" y="5003545"/>
            <a:ext cx="470248" cy="2248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現 実 ①</a:t>
            </a:r>
            <a:endParaRPr lang="ja-JP" sz="900" noProof="0" dirty="0">
              <a:latin typeface="Noto Sans JP" panose="020B0200000000000000" pitchFamily="50" charset="-128"/>
              <a:ea typeface="Noto Sans JP" panose="020B0200000000000000" pitchFamily="50" charset="-128"/>
            </a:endParaRPr>
          </a:p>
        </p:txBody>
      </p:sp>
      <p:sp>
        <p:nvSpPr>
          <p:cNvPr id="29" name="Text 25"/>
          <p:cNvSpPr txBox="1"/>
          <p:nvPr/>
        </p:nvSpPr>
        <p:spPr>
          <a:xfrm>
            <a:off x="800100" y="5212445"/>
            <a:ext cx="5143500" cy="261537"/>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altLang="en-US" sz="1100" b="1" dirty="0">
                <a:solidFill>
                  <a:srgbClr val="081F3A"/>
                </a:solidFill>
                <a:latin typeface="Noto Sans JP" panose="020B0200000000000000" pitchFamily="50" charset="-128"/>
                <a:ea typeface="Noto Sans JP" panose="020B0200000000000000" pitchFamily="50" charset="-128"/>
                <a:cs typeface="Noto Sans JP" pitchFamily="34" charset="-120"/>
              </a:rPr>
              <a:t>個別性の高い</a:t>
            </a: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依頼ほど、</a:t>
            </a:r>
            <a:r>
              <a:rPr lang="ja-JP" sz="1100" b="1" noProof="0" dirty="0">
                <a:solidFill>
                  <a:srgbClr val="ED8B3C"/>
                </a:solidFill>
                <a:latin typeface="Noto Sans JP" panose="020B0200000000000000" pitchFamily="50" charset="-128"/>
                <a:ea typeface="Noto Sans JP" panose="020B0200000000000000" pitchFamily="50" charset="-128"/>
                <a:cs typeface="Noto Sans JP" pitchFamily="34" charset="-120"/>
              </a:rPr>
              <a:t>信頼できる紹介先</a:t>
            </a: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を短時間で見つけられない</a:t>
            </a:r>
            <a:endParaRPr lang="ja-JP" sz="1100" noProof="0" dirty="0">
              <a:latin typeface="Noto Sans JP" panose="020B0200000000000000" pitchFamily="50" charset="-128"/>
              <a:ea typeface="Noto Sans JP" panose="020B0200000000000000" pitchFamily="50" charset="-128"/>
            </a:endParaRPr>
          </a:p>
        </p:txBody>
      </p:sp>
      <p:sp>
        <p:nvSpPr>
          <p:cNvPr id="30" name="Text 26"/>
          <p:cNvSpPr txBox="1"/>
          <p:nvPr/>
        </p:nvSpPr>
        <p:spPr>
          <a:xfrm>
            <a:off x="6229807" y="5003545"/>
            <a:ext cx="470248" cy="2248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現 実 ②</a:t>
            </a:r>
            <a:endParaRPr lang="ja-JP" sz="900" noProof="0" dirty="0">
              <a:latin typeface="Noto Sans JP" panose="020B0200000000000000" pitchFamily="50" charset="-128"/>
              <a:ea typeface="Noto Sans JP" panose="020B0200000000000000" pitchFamily="50" charset="-128"/>
            </a:endParaRPr>
          </a:p>
        </p:txBody>
      </p:sp>
      <p:sp>
        <p:nvSpPr>
          <p:cNvPr id="31" name="Text 27"/>
          <p:cNvSpPr txBox="1"/>
          <p:nvPr/>
        </p:nvSpPr>
        <p:spPr>
          <a:xfrm>
            <a:off x="6229807" y="5212445"/>
            <a:ext cx="5143500" cy="261537"/>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Webや口コミだけの情報では、</a:t>
            </a:r>
            <a:r>
              <a:rPr lang="ja-JP" sz="1100" b="1" noProof="0" dirty="0">
                <a:solidFill>
                  <a:srgbClr val="ED8B3C"/>
                </a:solidFill>
                <a:latin typeface="Noto Sans JP" panose="020B0200000000000000" pitchFamily="50" charset="-128"/>
                <a:ea typeface="Noto Sans JP" panose="020B0200000000000000" pitchFamily="50" charset="-128"/>
                <a:cs typeface="Noto Sans JP" pitchFamily="34" charset="-120"/>
              </a:rPr>
              <a:t>紹介できる品質</a:t>
            </a: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か判断できない</a:t>
            </a:r>
            <a:endParaRPr lang="ja-JP" sz="1100" noProof="0" dirty="0">
              <a:latin typeface="Noto Sans JP" panose="020B0200000000000000" pitchFamily="50" charset="-128"/>
              <a:ea typeface="Noto Sans JP" panose="020B0200000000000000" pitchFamily="50" charset="-128"/>
            </a:endParaRPr>
          </a:p>
        </p:txBody>
      </p:sp>
      <p:sp>
        <p:nvSpPr>
          <p:cNvPr id="32" name="Text 28"/>
          <p:cNvSpPr txBox="1"/>
          <p:nvPr/>
        </p:nvSpPr>
        <p:spPr>
          <a:xfrm>
            <a:off x="800100" y="5718229"/>
            <a:ext cx="470248" cy="2248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現 実 ③</a:t>
            </a:r>
            <a:endParaRPr lang="ja-JP" sz="900" noProof="0" dirty="0">
              <a:latin typeface="Noto Sans JP" panose="020B0200000000000000" pitchFamily="50" charset="-128"/>
              <a:ea typeface="Noto Sans JP" panose="020B0200000000000000" pitchFamily="50" charset="-128"/>
            </a:endParaRPr>
          </a:p>
        </p:txBody>
      </p:sp>
      <p:sp>
        <p:nvSpPr>
          <p:cNvPr id="33" name="Text 29"/>
          <p:cNvSpPr txBox="1"/>
          <p:nvPr/>
        </p:nvSpPr>
        <p:spPr>
          <a:xfrm>
            <a:off x="800100" y="5927129"/>
            <a:ext cx="5143500" cy="261537"/>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コンシェルジュ個人の経験や人脈に依存し、</a:t>
            </a:r>
            <a:r>
              <a:rPr lang="ja-JP" sz="1100" b="1" noProof="0" dirty="0">
                <a:solidFill>
                  <a:srgbClr val="ED8B3C"/>
                </a:solidFill>
                <a:latin typeface="Noto Sans JP" panose="020B0200000000000000" pitchFamily="50" charset="-128"/>
                <a:ea typeface="Noto Sans JP" panose="020B0200000000000000" pitchFamily="50" charset="-128"/>
                <a:cs typeface="Noto Sans JP" pitchFamily="34" charset="-120"/>
              </a:rPr>
              <a:t>知見を組織として蓄積</a:t>
            </a: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しにくい</a:t>
            </a:r>
            <a:endParaRPr lang="ja-JP" sz="1100" noProof="0" dirty="0">
              <a:latin typeface="Noto Sans JP" panose="020B0200000000000000" pitchFamily="50" charset="-128"/>
              <a:ea typeface="Noto Sans JP" panose="020B0200000000000000" pitchFamily="50" charset="-128"/>
            </a:endParaRPr>
          </a:p>
        </p:txBody>
      </p:sp>
      <p:sp>
        <p:nvSpPr>
          <p:cNvPr id="34" name="Text 30"/>
          <p:cNvSpPr txBox="1"/>
          <p:nvPr/>
        </p:nvSpPr>
        <p:spPr>
          <a:xfrm>
            <a:off x="6229807" y="5718229"/>
            <a:ext cx="470248" cy="2248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現 実 ④</a:t>
            </a:r>
            <a:endParaRPr lang="ja-JP" sz="900" noProof="0" dirty="0">
              <a:latin typeface="Noto Sans JP" panose="020B0200000000000000" pitchFamily="50" charset="-128"/>
              <a:ea typeface="Noto Sans JP" panose="020B0200000000000000" pitchFamily="50" charset="-128"/>
            </a:endParaRPr>
          </a:p>
        </p:txBody>
      </p:sp>
      <p:sp>
        <p:nvSpPr>
          <p:cNvPr id="35" name="Text 31"/>
          <p:cNvSpPr txBox="1"/>
          <p:nvPr/>
        </p:nvSpPr>
        <p:spPr>
          <a:xfrm>
            <a:off x="6229807" y="5927129"/>
            <a:ext cx="5143500" cy="464670"/>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情報の選別・精査・予約・変更対応に時間を取られ、</a:t>
            </a:r>
            <a:r>
              <a:rPr lang="ja-JP" sz="1100" b="1" noProof="0" dirty="0">
                <a:solidFill>
                  <a:srgbClr val="ED8B3C"/>
                </a:solidFill>
                <a:latin typeface="Noto Sans JP" panose="020B0200000000000000" pitchFamily="50" charset="-128"/>
                <a:ea typeface="Noto Sans JP" panose="020B0200000000000000" pitchFamily="50" charset="-128"/>
                <a:cs typeface="Noto Sans JP" pitchFamily="34" charset="-120"/>
              </a:rPr>
              <a:t>本来の接客時間</a:t>
            </a: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が圧迫される</a:t>
            </a:r>
            <a:endParaRPr lang="ja-JP" sz="1100" noProof="0" dirty="0">
              <a:latin typeface="Noto Sans JP" panose="020B0200000000000000" pitchFamily="50" charset="-128"/>
              <a:ea typeface="Noto Sans JP" panose="020B0200000000000000" pitchFamily="50" charset="-128"/>
            </a:endParaRPr>
          </a:p>
        </p:txBody>
      </p:sp>
      <p:sp>
        <p:nvSpPr>
          <p:cNvPr id="38" name="Shape 3">
            <a:extLst>
              <a:ext uri="{FF2B5EF4-FFF2-40B4-BE49-F238E27FC236}">
                <a16:creationId xmlns:a16="http://schemas.microsoft.com/office/drawing/2014/main" id="{06E0025B-A683-A223-EE07-49F5C9A38454}"/>
              </a:ext>
            </a:extLst>
          </p:cNvPr>
          <p:cNvSpPr/>
          <p:nvPr/>
        </p:nvSpPr>
        <p:spPr>
          <a:xfrm>
            <a:off x="7638898" y="2682494"/>
            <a:ext cx="3402000" cy="28346"/>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Shape 0"/>
          <p:cNvSpPr/>
          <p:nvPr/>
        </p:nvSpPr>
        <p:spPr>
          <a:xfrm>
            <a:off x="571501" y="2840024"/>
            <a:ext cx="4991710" cy="3619195"/>
          </a:xfrm>
          <a:prstGeom prst="rect">
            <a:avLst/>
          </a:prstGeom>
          <a:solidFill>
            <a:srgbClr val="0A2647"/>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3" name="Shape 1"/>
          <p:cNvSpPr/>
          <p:nvPr/>
        </p:nvSpPr>
        <p:spPr>
          <a:xfrm>
            <a:off x="6096305" y="3461011"/>
            <a:ext cx="5715000" cy="864000"/>
          </a:xfrm>
          <a:prstGeom prst="rect">
            <a:avLst/>
          </a:prstGeom>
          <a:solidFill>
            <a:schemeClr val="bg1"/>
          </a:solidFill>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4" name="Shape 2"/>
          <p:cNvSpPr/>
          <p:nvPr/>
        </p:nvSpPr>
        <p:spPr>
          <a:xfrm>
            <a:off x="6096305" y="3461011"/>
            <a:ext cx="47549" cy="864000"/>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5" name="Shape 3"/>
          <p:cNvSpPr/>
          <p:nvPr/>
        </p:nvSpPr>
        <p:spPr>
          <a:xfrm>
            <a:off x="6096305" y="4528115"/>
            <a:ext cx="5715000" cy="864000"/>
          </a:xfrm>
          <a:prstGeom prst="rect">
            <a:avLst/>
          </a:prstGeom>
          <a:solidFill>
            <a:schemeClr val="bg1"/>
          </a:solidFill>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6" name="Shape 4"/>
          <p:cNvSpPr/>
          <p:nvPr/>
        </p:nvSpPr>
        <p:spPr>
          <a:xfrm>
            <a:off x="6096305" y="4528115"/>
            <a:ext cx="47549" cy="864000"/>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7" name="Shape 5"/>
          <p:cNvSpPr/>
          <p:nvPr/>
        </p:nvSpPr>
        <p:spPr>
          <a:xfrm>
            <a:off x="6096305" y="5595219"/>
            <a:ext cx="5715000" cy="864000"/>
          </a:xfrm>
          <a:prstGeom prst="rect">
            <a:avLst/>
          </a:prstGeom>
          <a:solidFill>
            <a:schemeClr val="bg1"/>
          </a:solidFill>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9" name="Image 0" descr="gen-dedup-071934f9fbc17b2298a6d1d422d69d3f.png"/>
          <p:cNvPicPr>
            <a:picLocks noChangeAspect="1"/>
          </p:cNvPicPr>
          <p:nvPr/>
        </p:nvPicPr>
        <p:blipFill>
          <a:blip r:embed="rId3"/>
          <a:srcRect l="-404" r="-404"/>
          <a:stretch/>
        </p:blipFill>
        <p:spPr>
          <a:xfrm>
            <a:off x="800100" y="4623759"/>
            <a:ext cx="342900" cy="28346"/>
          </a:xfrm>
          <a:prstGeom prst="rect">
            <a:avLst/>
          </a:prstGeom>
        </p:spPr>
      </p:pic>
      <p:pic>
        <p:nvPicPr>
          <p:cNvPr id="10" name="Image 1" descr="gen-dedup-457eeeac1494f83c7db6f80f4109e068.png"/>
          <p:cNvPicPr>
            <a:picLocks noChangeAspect="1"/>
          </p:cNvPicPr>
          <p:nvPr/>
        </p:nvPicPr>
        <p:blipFill>
          <a:blip r:embed="rId4"/>
          <a:srcRect b="18080"/>
          <a:stretch/>
        </p:blipFill>
        <p:spPr>
          <a:xfrm>
            <a:off x="6096305" y="3236576"/>
            <a:ext cx="5715000" cy="9144"/>
          </a:xfrm>
          <a:prstGeom prst="rect">
            <a:avLst/>
          </a:prstGeom>
          <a:solidFill>
            <a:schemeClr val="tx1"/>
          </a:solidFill>
          <a:ln>
            <a:noFill/>
          </a:ln>
        </p:spPr>
      </p:pic>
      <p:pic>
        <p:nvPicPr>
          <p:cNvPr id="11" name="Image 2" descr="gen-dedup-468f209c8b765fcabfd32ae0c933e113.png"/>
          <p:cNvPicPr>
            <a:picLocks noChangeAspect="1"/>
          </p:cNvPicPr>
          <p:nvPr/>
        </p:nvPicPr>
        <p:blipFill>
          <a:blip r:embed="rId5"/>
          <a:srcRect l="-404" r="-404"/>
          <a:stretch/>
        </p:blipFill>
        <p:spPr>
          <a:xfrm>
            <a:off x="571500" y="1515618"/>
            <a:ext cx="571500" cy="28346"/>
          </a:xfrm>
          <a:prstGeom prst="rect">
            <a:avLst/>
          </a:prstGeom>
        </p:spPr>
      </p:pic>
      <p:sp>
        <p:nvSpPr>
          <p:cNvPr id="12" name="Text 7"/>
          <p:cNvSpPr txBox="1"/>
          <p:nvPr/>
        </p:nvSpPr>
        <p:spPr>
          <a:xfrm>
            <a:off x="571500" y="308417"/>
            <a:ext cx="923898" cy="241788"/>
          </a:xfrm>
          <a:prstGeom prst="rect">
            <a:avLst/>
          </a:prstGeom>
          <a:noFill/>
          <a:ln/>
        </p:spPr>
        <p:txBody>
          <a:bodyPr wrap="none" lIns="36000" tIns="36000" rIns="36000" bIns="36000" rtlCol="0" anchor="ctr">
            <a:spAutoFit/>
          </a:bodyPr>
          <a:lstStyle>
            <a:lvl1pPr indent="0">
              <a:lnSpc>
                <a:spcPct val="120000"/>
              </a:lnSpc>
              <a:spcBef>
                <a:spcPts val="300"/>
              </a:spcBef>
              <a:buNone/>
              <a:defRPr sz="1000" b="1">
                <a:solidFill>
                  <a:srgbClr val="3CAEA3"/>
                </a:solidFill>
                <a:latin typeface="Noto Sans JP" pitchFamily="34" charset="0"/>
                <a:ea typeface="Noto Sans JP" pitchFamily="34" charset="-122"/>
                <a:cs typeface="Noto Sans JP" pitchFamily="34" charset="-120"/>
              </a:defRPr>
            </a:lvl1pPr>
          </a:lstStyle>
          <a:p>
            <a:r>
              <a:rPr lang="ja-JP" noProof="0" dirty="0">
                <a:latin typeface="Noto Sans JP" panose="020B0200000000000000" pitchFamily="50" charset="-128"/>
                <a:ea typeface="Noto Sans JP" panose="020B0200000000000000" pitchFamily="50" charset="-128"/>
              </a:rPr>
              <a:t>D e x t e r とは</a:t>
            </a:r>
          </a:p>
        </p:txBody>
      </p:sp>
      <p:sp>
        <p:nvSpPr>
          <p:cNvPr id="13" name="Text 8"/>
          <p:cNvSpPr txBox="1"/>
          <p:nvPr/>
        </p:nvSpPr>
        <p:spPr>
          <a:xfrm>
            <a:off x="571500" y="557784"/>
            <a:ext cx="11049610" cy="814730"/>
          </a:xfrm>
          <a:prstGeom prst="rect">
            <a:avLst/>
          </a:prstGeom>
          <a:noFill/>
          <a:ln/>
        </p:spPr>
        <p:txBody>
          <a:bodyPr wrap="square" lIns="36000" tIns="36000" rIns="36000" bIns="36000" rtlCol="0" anchor="t">
            <a:spAutoFit/>
          </a:bodyPr>
          <a:lstStyle/>
          <a:p>
            <a:pPr marL="0" indent="0" algn="l">
              <a:spcBef>
                <a:spcPts val="300"/>
              </a:spcBef>
              <a:buNone/>
            </a:pPr>
            <a:r>
              <a:rPr lang="ja-JP" altLang="en-US"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デクスター</a:t>
            </a:r>
            <a:r>
              <a:rPr lang="ja-JP"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は、</a:t>
            </a:r>
            <a:r>
              <a:rPr lang="ja-JP" sz="2200" b="1" noProof="0" dirty="0">
                <a:solidFill>
                  <a:srgbClr val="ED8B3C"/>
                </a:solidFill>
                <a:latin typeface="Noto Sans JP" panose="020B0200000000000000" pitchFamily="50" charset="-128"/>
                <a:ea typeface="Noto Sans JP" panose="020B0200000000000000" pitchFamily="50" charset="-128"/>
                <a:cs typeface="Noto Sans JP" pitchFamily="34" charset="-120"/>
              </a:rPr>
              <a:t>コンシェルジュの目利きと提案力</a:t>
            </a:r>
            <a:r>
              <a:rPr lang="ja-JP"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を、</a:t>
            </a:r>
            <a:endParaRPr lang="ja-JP" sz="2200" noProof="0" dirty="0">
              <a:latin typeface="Noto Sans JP" panose="020B0200000000000000" pitchFamily="50" charset="-128"/>
              <a:ea typeface="Noto Sans JP" panose="020B0200000000000000" pitchFamily="50" charset="-128"/>
            </a:endParaRPr>
          </a:p>
          <a:p>
            <a:pPr marL="0" indent="0" algn="l">
              <a:spcBef>
                <a:spcPts val="300"/>
              </a:spcBef>
              <a:buNone/>
            </a:pPr>
            <a:r>
              <a:rPr lang="ja-JP"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地域の</a:t>
            </a:r>
            <a:r>
              <a:rPr lang="ja-JP" sz="2200" b="1" noProof="0" dirty="0">
                <a:solidFill>
                  <a:srgbClr val="ED8B3C"/>
                </a:solidFill>
                <a:latin typeface="Noto Sans JP" panose="020B0200000000000000" pitchFamily="50" charset="-128"/>
                <a:ea typeface="Noto Sans JP" panose="020B0200000000000000" pitchFamily="50" charset="-128"/>
                <a:cs typeface="Noto Sans JP" pitchFamily="34" charset="-120"/>
              </a:rPr>
              <a:t>一次情報</a:t>
            </a:r>
            <a:r>
              <a:rPr lang="ja-JP"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で</a:t>
            </a:r>
            <a:r>
              <a:rPr lang="ja-JP" sz="2200" b="1" noProof="0" dirty="0">
                <a:solidFill>
                  <a:srgbClr val="ED8B3C"/>
                </a:solidFill>
                <a:latin typeface="Noto Sans JP" panose="020B0200000000000000" pitchFamily="50" charset="-128"/>
                <a:ea typeface="Noto Sans JP" panose="020B0200000000000000" pitchFamily="50" charset="-128"/>
                <a:cs typeface="Noto Sans JP" pitchFamily="34" charset="-120"/>
              </a:rPr>
              <a:t>補完</a:t>
            </a:r>
            <a:r>
              <a:rPr lang="ja-JP"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するパートナー</a:t>
            </a:r>
            <a:endParaRPr lang="ja-JP" sz="2200" noProof="0" dirty="0">
              <a:latin typeface="Noto Sans JP" panose="020B0200000000000000" pitchFamily="50" charset="-128"/>
              <a:ea typeface="Noto Sans JP" panose="020B0200000000000000" pitchFamily="50" charset="-128"/>
            </a:endParaRPr>
          </a:p>
        </p:txBody>
      </p:sp>
      <p:sp>
        <p:nvSpPr>
          <p:cNvPr id="14" name="Text 9"/>
          <p:cNvSpPr txBox="1"/>
          <p:nvPr/>
        </p:nvSpPr>
        <p:spPr>
          <a:xfrm>
            <a:off x="571500" y="1715414"/>
            <a:ext cx="11049610" cy="538793"/>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Webや生成 AIで検索できる情報だけではなく</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、実際に地域を訪れ、体験し、地域の事業者と直接対話することで得られた</a:t>
            </a:r>
            <a:r>
              <a:rPr lang="ja-JP" sz="1200" b="1" noProof="0" dirty="0">
                <a:solidFill>
                  <a:srgbClr val="ED8B3C"/>
                </a:solidFill>
                <a:latin typeface="Noto Sans JP" panose="020B0200000000000000" pitchFamily="50" charset="-128"/>
                <a:ea typeface="Noto Sans JP" panose="020B0200000000000000" pitchFamily="50" charset="-128"/>
                <a:cs typeface="Noto Sans JP" pitchFamily="34" charset="-120"/>
              </a:rPr>
              <a:t>一次情報</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を蓄積</a:t>
            </a:r>
            <a:endParaRPr lang="ja-JP" sz="1200" noProof="0" dirty="0">
              <a:latin typeface="Noto Sans JP" panose="020B0200000000000000" pitchFamily="50" charset="-128"/>
              <a:ea typeface="Noto Sans JP" panose="020B0200000000000000" pitchFamily="50" charset="-128"/>
            </a:endParaRPr>
          </a:p>
          <a:p>
            <a:pPr marL="0" indent="0" algn="l">
              <a:lnSpc>
                <a:spcPct val="120000"/>
              </a:lnSpc>
              <a:spcBef>
                <a:spcPts val="300"/>
              </a:spcBef>
              <a:buNone/>
            </a:pP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公開情報だけでは分からない</a:t>
            </a:r>
            <a:r>
              <a:rPr lang="ja-JP" altLang="en-US" sz="1200" noProof="0" dirty="0">
                <a:solidFill>
                  <a:srgbClr val="404A57"/>
                </a:solidFill>
                <a:latin typeface="Noto Sans JP" panose="020B0200000000000000" pitchFamily="50" charset="-128"/>
                <a:ea typeface="Noto Sans JP" panose="020B0200000000000000" pitchFamily="50" charset="-128"/>
                <a:cs typeface="Noto Sans JP" pitchFamily="34" charset="-120"/>
              </a:rPr>
              <a:t>現地・</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体験の魅力や品質、受入体制まで見極め、</a:t>
            </a: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コンシェルジュが自信を持って</a:t>
            </a:r>
            <a:r>
              <a:rPr lang="ja-JP" altLang="en-US"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ゲストへ</a:t>
            </a: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提案できる選択肢</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をご提供します</a:t>
            </a:r>
            <a:endParaRPr lang="ja-JP" sz="1200" noProof="0" dirty="0">
              <a:latin typeface="Noto Sans JP" panose="020B0200000000000000" pitchFamily="50" charset="-128"/>
              <a:ea typeface="Noto Sans JP" panose="020B0200000000000000" pitchFamily="50" charset="-128"/>
            </a:endParaRPr>
          </a:p>
        </p:txBody>
      </p:sp>
      <p:sp>
        <p:nvSpPr>
          <p:cNvPr id="15" name="Text 10"/>
          <p:cNvSpPr txBox="1"/>
          <p:nvPr/>
        </p:nvSpPr>
        <p:spPr>
          <a:xfrm>
            <a:off x="800100" y="3027517"/>
            <a:ext cx="996033" cy="2248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デクスターの定義</a:t>
            </a:r>
            <a:endParaRPr lang="ja-JP" sz="900" noProof="0" dirty="0">
              <a:latin typeface="Noto Sans JP" panose="020B0200000000000000" pitchFamily="50" charset="-128"/>
              <a:ea typeface="Noto Sans JP" panose="020B0200000000000000" pitchFamily="50" charset="-128"/>
            </a:endParaRPr>
          </a:p>
        </p:txBody>
      </p:sp>
      <p:sp>
        <p:nvSpPr>
          <p:cNvPr id="16" name="Text 11"/>
          <p:cNvSpPr txBox="1"/>
          <p:nvPr/>
        </p:nvSpPr>
        <p:spPr>
          <a:xfrm>
            <a:off x="800101" y="3387972"/>
            <a:ext cx="4673600" cy="856636"/>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2200" b="1" noProof="0" dirty="0">
                <a:solidFill>
                  <a:srgbClr val="FBFAF7"/>
                </a:solidFill>
                <a:latin typeface="Noto Sans JP" panose="020B0200000000000000" pitchFamily="50" charset="-128"/>
                <a:ea typeface="Noto Sans JP" panose="020B0200000000000000" pitchFamily="50" charset="-128"/>
                <a:cs typeface="Noto Sans JP" pitchFamily="34" charset="-120"/>
              </a:rPr>
              <a:t>現場・現地の情報を</a:t>
            </a:r>
            <a:br>
              <a:rPr lang="ja-JP" sz="2200" b="1" noProof="0" dirty="0">
                <a:solidFill>
                  <a:srgbClr val="FBFAF7"/>
                </a:solidFill>
                <a:latin typeface="Noto Sans JP" panose="020B0200000000000000" pitchFamily="50" charset="-128"/>
                <a:ea typeface="Noto Sans JP" panose="020B0200000000000000" pitchFamily="50" charset="-128"/>
                <a:cs typeface="Noto Sans JP" pitchFamily="34" charset="-120"/>
              </a:rPr>
            </a:br>
            <a:r>
              <a:rPr lang="ja-JP" altLang="en-US" sz="2200" b="1" noProof="0" dirty="0">
                <a:solidFill>
                  <a:srgbClr val="ED8B3C"/>
                </a:solidFill>
                <a:latin typeface="Noto Sans JP" panose="020B0200000000000000" pitchFamily="50" charset="-128"/>
                <a:ea typeface="Noto Sans JP" panose="020B0200000000000000" pitchFamily="50" charset="-128"/>
                <a:cs typeface="Noto Sans JP" pitchFamily="34" charset="-120"/>
              </a:rPr>
              <a:t>ホテルの新たな提案力へ</a:t>
            </a:r>
            <a:endParaRPr lang="ja-JP" sz="2200" noProof="0" dirty="0">
              <a:latin typeface="Noto Sans JP" panose="020B0200000000000000" pitchFamily="50" charset="-128"/>
              <a:ea typeface="Noto Sans JP" panose="020B0200000000000000" pitchFamily="50" charset="-128"/>
            </a:endParaRPr>
          </a:p>
        </p:txBody>
      </p:sp>
      <p:sp>
        <p:nvSpPr>
          <p:cNvPr id="17" name="Text 12"/>
          <p:cNvSpPr txBox="1"/>
          <p:nvPr/>
        </p:nvSpPr>
        <p:spPr>
          <a:xfrm>
            <a:off x="800101" y="5031256"/>
            <a:ext cx="4546600" cy="1024823"/>
          </a:xfrm>
          <a:prstGeom prst="rect">
            <a:avLst/>
          </a:prstGeom>
          <a:noFill/>
          <a:ln/>
        </p:spPr>
        <p:txBody>
          <a:bodyPr wrap="square" lIns="36000" tIns="36000" rIns="36000" bIns="36000" rtlCol="0" anchor="t">
            <a:spAutoFit/>
          </a:bodyPr>
          <a:lstStyle/>
          <a:p>
            <a:pPr marL="0" indent="0" algn="l">
              <a:lnSpc>
                <a:spcPct val="120000"/>
              </a:lnSpc>
              <a:spcBef>
                <a:spcPts val="1200"/>
              </a:spcBef>
              <a:buNone/>
            </a:pPr>
            <a:r>
              <a:rPr lang="ja-JP" sz="1100" b="1" noProof="0" dirty="0">
                <a:solidFill>
                  <a:srgbClr val="FBFAF7"/>
                </a:solidFill>
                <a:latin typeface="Noto Sans JP" panose="020B0200000000000000" pitchFamily="50" charset="-128"/>
                <a:ea typeface="Noto Sans JP" panose="020B0200000000000000" pitchFamily="50" charset="-128"/>
                <a:cs typeface="Noto Sans JP" pitchFamily="34" charset="-120"/>
              </a:rPr>
              <a:t>「東京をはじめとする</a:t>
            </a:r>
            <a:r>
              <a:rPr lang="ja-JP" altLang="en-US" sz="1100" b="1" noProof="0" dirty="0">
                <a:solidFill>
                  <a:srgbClr val="FBFAF7"/>
                </a:solidFill>
                <a:latin typeface="Noto Sans JP" panose="020B0200000000000000" pitchFamily="50" charset="-128"/>
                <a:ea typeface="Noto Sans JP" panose="020B0200000000000000" pitchFamily="50" charset="-128"/>
                <a:cs typeface="Noto Sans JP" pitchFamily="34" charset="-120"/>
              </a:rPr>
              <a:t>現地</a:t>
            </a:r>
            <a:r>
              <a:rPr lang="ja-JP" sz="1100" b="1" noProof="0" dirty="0">
                <a:solidFill>
                  <a:srgbClr val="FBFAF7"/>
                </a:solidFill>
                <a:latin typeface="Noto Sans JP" panose="020B0200000000000000" pitchFamily="50" charset="-128"/>
                <a:ea typeface="Noto Sans JP" panose="020B0200000000000000" pitchFamily="50" charset="-128"/>
                <a:cs typeface="Noto Sans JP" pitchFamily="34" charset="-120"/>
              </a:rPr>
              <a:t>の知見のご提案デスク」</a:t>
            </a:r>
            <a:r>
              <a:rPr lang="ja-JP" sz="1100" noProof="0" dirty="0">
                <a:solidFill>
                  <a:srgbClr val="C5CAD2"/>
                </a:solidFill>
                <a:latin typeface="Noto Sans JP" panose="020B0200000000000000" pitchFamily="50" charset="-128"/>
                <a:ea typeface="Noto Sans JP" panose="020B0200000000000000" pitchFamily="50" charset="-128"/>
                <a:cs typeface="Noto Sans JP" pitchFamily="34" charset="-120"/>
              </a:rPr>
              <a:t>として、現地訪問や体験、事業者との直接対話を通じて得られた一次情報を蓄積</a:t>
            </a:r>
            <a:endParaRPr lang="ja-JP" sz="1100" noProof="0" dirty="0">
              <a:latin typeface="Noto Sans JP" panose="020B0200000000000000" pitchFamily="50" charset="-128"/>
              <a:ea typeface="Noto Sans JP" panose="020B0200000000000000" pitchFamily="50" charset="-128"/>
            </a:endParaRPr>
          </a:p>
          <a:p>
            <a:pPr marL="0" indent="0" algn="l">
              <a:lnSpc>
                <a:spcPct val="120000"/>
              </a:lnSpc>
              <a:spcBef>
                <a:spcPts val="1200"/>
              </a:spcBef>
              <a:buNone/>
            </a:pPr>
            <a:r>
              <a:rPr lang="ja-JP" sz="1100" noProof="0" dirty="0">
                <a:solidFill>
                  <a:srgbClr val="C5CAD2"/>
                </a:solidFill>
                <a:latin typeface="Noto Sans JP" panose="020B0200000000000000" pitchFamily="50" charset="-128"/>
                <a:ea typeface="Noto Sans JP" panose="020B0200000000000000" pitchFamily="50" charset="-128"/>
                <a:cs typeface="Noto Sans JP" pitchFamily="34" charset="-120"/>
              </a:rPr>
              <a:t>公開情報だけでは分からない体験の魅力や品質、受入体制まで確認し、</a:t>
            </a:r>
            <a:r>
              <a:rPr lang="ja-JP" sz="1100" b="1" noProof="0" dirty="0">
                <a:solidFill>
                  <a:srgbClr val="ED8B3C"/>
                </a:solidFill>
                <a:latin typeface="Noto Sans JP" panose="020B0200000000000000" pitchFamily="50" charset="-128"/>
                <a:ea typeface="Noto Sans JP" panose="020B0200000000000000" pitchFamily="50" charset="-128"/>
                <a:cs typeface="Noto Sans JP" pitchFamily="34" charset="-120"/>
              </a:rPr>
              <a:t>ゲスト一人ひとりに適した体験をご提案します</a:t>
            </a:r>
            <a:endParaRPr lang="ja-JP" sz="1100" noProof="0" dirty="0">
              <a:latin typeface="Noto Sans JP" panose="020B0200000000000000" pitchFamily="50" charset="-128"/>
              <a:ea typeface="Noto Sans JP" panose="020B0200000000000000" pitchFamily="50" charset="-128"/>
            </a:endParaRPr>
          </a:p>
        </p:txBody>
      </p:sp>
      <p:sp>
        <p:nvSpPr>
          <p:cNvPr id="18" name="Text 13"/>
          <p:cNvSpPr txBox="1"/>
          <p:nvPr/>
        </p:nvSpPr>
        <p:spPr>
          <a:xfrm>
            <a:off x="6096305" y="2607021"/>
            <a:ext cx="689860" cy="24178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3CAEA3"/>
                </a:solidFill>
                <a:latin typeface="Noto Sans JP" panose="020B0200000000000000" pitchFamily="50" charset="-128"/>
                <a:ea typeface="Noto Sans JP" panose="020B0200000000000000" pitchFamily="50" charset="-128"/>
                <a:cs typeface="Noto Sans JP" pitchFamily="34" charset="-120"/>
              </a:rPr>
              <a:t>3 つの強み</a:t>
            </a:r>
            <a:endParaRPr lang="ja-JP" sz="1000" noProof="0" dirty="0">
              <a:latin typeface="Noto Sans JP" panose="020B0200000000000000" pitchFamily="50" charset="-128"/>
              <a:ea typeface="Noto Sans JP" panose="020B0200000000000000" pitchFamily="50" charset="-128"/>
            </a:endParaRPr>
          </a:p>
        </p:txBody>
      </p:sp>
      <p:sp>
        <p:nvSpPr>
          <p:cNvPr id="19" name="Text 14"/>
          <p:cNvSpPr txBox="1"/>
          <p:nvPr/>
        </p:nvSpPr>
        <p:spPr>
          <a:xfrm>
            <a:off x="6096305" y="2854174"/>
            <a:ext cx="2164622" cy="347330"/>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altLang="en-US" sz="1600" b="1" noProof="0" dirty="0">
                <a:solidFill>
                  <a:srgbClr val="081F3A"/>
                </a:solidFill>
                <a:latin typeface="Noto Sans JP" panose="020B0200000000000000" pitchFamily="50" charset="-128"/>
                <a:ea typeface="Noto Sans JP" panose="020B0200000000000000" pitchFamily="50" charset="-128"/>
                <a:cs typeface="Noto Sans JP" pitchFamily="34" charset="-120"/>
              </a:rPr>
              <a:t>デクスター</a:t>
            </a:r>
            <a:r>
              <a:rPr lang="ja-JP" sz="1600" b="1" noProof="0" dirty="0">
                <a:solidFill>
                  <a:srgbClr val="081F3A"/>
                </a:solidFill>
                <a:latin typeface="Noto Sans JP" panose="020B0200000000000000" pitchFamily="50" charset="-128"/>
                <a:ea typeface="Noto Sans JP" panose="020B0200000000000000" pitchFamily="50" charset="-128"/>
                <a:cs typeface="Noto Sans JP" pitchFamily="34" charset="-120"/>
              </a:rPr>
              <a:t>のコア価値</a:t>
            </a:r>
            <a:endParaRPr lang="ja-JP" sz="1600" noProof="0" dirty="0">
              <a:latin typeface="Noto Sans JP" panose="020B0200000000000000" pitchFamily="50" charset="-128"/>
              <a:ea typeface="Noto Sans JP" panose="020B0200000000000000" pitchFamily="50" charset="-128"/>
            </a:endParaRPr>
          </a:p>
        </p:txBody>
      </p:sp>
      <p:sp>
        <p:nvSpPr>
          <p:cNvPr id="20" name="Text 15"/>
          <p:cNvSpPr txBox="1"/>
          <p:nvPr/>
        </p:nvSpPr>
        <p:spPr>
          <a:xfrm>
            <a:off x="6381598" y="3484258"/>
            <a:ext cx="515132" cy="24435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ED8B3C"/>
                </a:solidFill>
                <a:latin typeface="Noto Sans JP" panose="020B0200000000000000" pitchFamily="50" charset="-128"/>
                <a:ea typeface="Noto Sans JP" panose="020B0200000000000000" pitchFamily="50" charset="-128"/>
                <a:cs typeface="Noto Sans JP" pitchFamily="34" charset="-120"/>
              </a:rPr>
              <a:t>強 み ①</a:t>
            </a:r>
            <a:endParaRPr lang="ja-JP" sz="1000" noProof="0" dirty="0">
              <a:latin typeface="Noto Sans JP" panose="020B0200000000000000" pitchFamily="50" charset="-128"/>
              <a:ea typeface="Noto Sans JP" panose="020B0200000000000000" pitchFamily="50" charset="-128"/>
            </a:endParaRPr>
          </a:p>
        </p:txBody>
      </p:sp>
      <p:sp>
        <p:nvSpPr>
          <p:cNvPr id="21" name="Text 16"/>
          <p:cNvSpPr txBox="1"/>
          <p:nvPr/>
        </p:nvSpPr>
        <p:spPr>
          <a:xfrm>
            <a:off x="6381598" y="3713522"/>
            <a:ext cx="2405073" cy="313025"/>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400" b="1" noProof="0" dirty="0">
                <a:solidFill>
                  <a:srgbClr val="081F3A"/>
                </a:solidFill>
                <a:latin typeface="Noto Sans JP" panose="020B0200000000000000" pitchFamily="50" charset="-128"/>
                <a:ea typeface="Noto Sans JP" panose="020B0200000000000000" pitchFamily="50" charset="-128"/>
                <a:cs typeface="Noto Sans JP" pitchFamily="34" charset="-120"/>
              </a:rPr>
              <a:t>地域との強力なネットワーク</a:t>
            </a:r>
            <a:endParaRPr lang="ja-JP" sz="1400" noProof="0" dirty="0">
              <a:latin typeface="Noto Sans JP" panose="020B0200000000000000" pitchFamily="50" charset="-128"/>
              <a:ea typeface="Noto Sans JP" panose="020B0200000000000000" pitchFamily="50" charset="-128"/>
            </a:endParaRPr>
          </a:p>
        </p:txBody>
      </p:sp>
      <p:sp>
        <p:nvSpPr>
          <p:cNvPr id="22" name="Text 17"/>
          <p:cNvSpPr txBox="1"/>
          <p:nvPr/>
        </p:nvSpPr>
        <p:spPr>
          <a:xfrm>
            <a:off x="6381598" y="4551363"/>
            <a:ext cx="515132" cy="24435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ED8B3C"/>
                </a:solidFill>
                <a:latin typeface="Noto Sans JP" panose="020B0200000000000000" pitchFamily="50" charset="-128"/>
                <a:ea typeface="Noto Sans JP" panose="020B0200000000000000" pitchFamily="50" charset="-128"/>
                <a:cs typeface="Noto Sans JP" pitchFamily="34" charset="-120"/>
              </a:rPr>
              <a:t>強 み ②</a:t>
            </a:r>
            <a:endParaRPr lang="ja-JP" sz="1000" noProof="0" dirty="0">
              <a:latin typeface="Noto Sans JP" panose="020B0200000000000000" pitchFamily="50" charset="-128"/>
              <a:ea typeface="Noto Sans JP" panose="020B0200000000000000" pitchFamily="50" charset="-128"/>
            </a:endParaRPr>
          </a:p>
        </p:txBody>
      </p:sp>
      <p:sp>
        <p:nvSpPr>
          <p:cNvPr id="23" name="Text 18"/>
          <p:cNvSpPr txBox="1"/>
          <p:nvPr/>
        </p:nvSpPr>
        <p:spPr>
          <a:xfrm>
            <a:off x="6381598" y="4780627"/>
            <a:ext cx="2041191" cy="313025"/>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400" b="1" noProof="0" dirty="0">
                <a:solidFill>
                  <a:srgbClr val="081F3A"/>
                </a:solidFill>
                <a:latin typeface="Noto Sans JP" panose="020B0200000000000000" pitchFamily="50" charset="-128"/>
                <a:ea typeface="Noto Sans JP" panose="020B0200000000000000" pitchFamily="50" charset="-128"/>
                <a:cs typeface="Noto Sans JP" pitchFamily="34" charset="-120"/>
              </a:rPr>
              <a:t>テーマ別キュレーション</a:t>
            </a:r>
            <a:endParaRPr lang="ja-JP" sz="1400" noProof="0" dirty="0">
              <a:latin typeface="Noto Sans JP" panose="020B0200000000000000" pitchFamily="50" charset="-128"/>
              <a:ea typeface="Noto Sans JP" panose="020B0200000000000000" pitchFamily="50" charset="-128"/>
            </a:endParaRPr>
          </a:p>
        </p:txBody>
      </p:sp>
      <p:sp>
        <p:nvSpPr>
          <p:cNvPr id="24" name="Text 19"/>
          <p:cNvSpPr txBox="1"/>
          <p:nvPr/>
        </p:nvSpPr>
        <p:spPr>
          <a:xfrm>
            <a:off x="6381598" y="5580063"/>
            <a:ext cx="515132" cy="24435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ED8B3C"/>
                </a:solidFill>
                <a:latin typeface="Noto Sans JP" panose="020B0200000000000000" pitchFamily="50" charset="-128"/>
                <a:ea typeface="Noto Sans JP" panose="020B0200000000000000" pitchFamily="50" charset="-128"/>
                <a:cs typeface="Noto Sans JP" pitchFamily="34" charset="-120"/>
              </a:rPr>
              <a:t>強 み ③</a:t>
            </a:r>
            <a:endParaRPr lang="ja-JP" sz="1000" noProof="0" dirty="0">
              <a:latin typeface="Noto Sans JP" panose="020B0200000000000000" pitchFamily="50" charset="-128"/>
              <a:ea typeface="Noto Sans JP" panose="020B0200000000000000" pitchFamily="50" charset="-128"/>
            </a:endParaRPr>
          </a:p>
        </p:txBody>
      </p:sp>
      <p:sp>
        <p:nvSpPr>
          <p:cNvPr id="25" name="Text 20"/>
          <p:cNvSpPr txBox="1"/>
          <p:nvPr/>
        </p:nvSpPr>
        <p:spPr>
          <a:xfrm>
            <a:off x="6381598" y="5790125"/>
            <a:ext cx="1688530" cy="313025"/>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400" b="1" noProof="0" dirty="0">
                <a:solidFill>
                  <a:srgbClr val="081F3A"/>
                </a:solidFill>
                <a:latin typeface="Noto Sans JP" panose="020B0200000000000000" pitchFamily="50" charset="-128"/>
                <a:ea typeface="Noto Sans JP" panose="020B0200000000000000" pitchFamily="50" charset="-128"/>
                <a:cs typeface="Noto Sans JP" pitchFamily="34" charset="-120"/>
              </a:rPr>
              <a:t>一次情報と現場知見</a:t>
            </a:r>
            <a:endParaRPr lang="ja-JP" sz="1400" noProof="0" dirty="0">
              <a:latin typeface="Noto Sans JP" panose="020B0200000000000000" pitchFamily="50" charset="-128"/>
              <a:ea typeface="Noto Sans JP" panose="020B0200000000000000" pitchFamily="50" charset="-128"/>
            </a:endParaRPr>
          </a:p>
        </p:txBody>
      </p:sp>
      <p:sp>
        <p:nvSpPr>
          <p:cNvPr id="28" name="Text 18">
            <a:extLst>
              <a:ext uri="{FF2B5EF4-FFF2-40B4-BE49-F238E27FC236}">
                <a16:creationId xmlns:a16="http://schemas.microsoft.com/office/drawing/2014/main" id="{8518CD11-7910-FF7F-E9FF-6F21382F941C}"/>
              </a:ext>
            </a:extLst>
          </p:cNvPr>
          <p:cNvSpPr txBox="1"/>
          <p:nvPr/>
        </p:nvSpPr>
        <p:spPr>
          <a:xfrm>
            <a:off x="6381598" y="4091015"/>
            <a:ext cx="5130952" cy="200664"/>
          </a:xfrm>
          <a:prstGeom prst="rect">
            <a:avLst/>
          </a:prstGeom>
          <a:noFill/>
          <a:ln/>
        </p:spPr>
        <p:txBody>
          <a:bodyPr wrap="square" lIns="36000" tIns="36000" rIns="36000" bIns="3600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1402"/>
              </a:lnSpc>
              <a:buNone/>
            </a:pPr>
            <a:r>
              <a:rPr lang="ja-JP" altLang="en-US" sz="1050" noProof="0" dirty="0">
                <a:solidFill>
                  <a:srgbClr val="4F5B6B"/>
                </a:solidFill>
                <a:latin typeface="Noto Sans JP" panose="020B0200000000000000" pitchFamily="50" charset="-128"/>
                <a:ea typeface="Noto Sans JP" panose="020B0200000000000000" pitchFamily="50" charset="-128"/>
                <a:cs typeface="Noto Sans JP" pitchFamily="34" charset="-120"/>
              </a:rPr>
              <a:t>現地訪問や直接対話を通じて関係を築いた、信頼できる事業者・地域関係者と連携</a:t>
            </a:r>
            <a:endParaRPr lang="ja-JP" sz="1050" noProof="0" dirty="0">
              <a:latin typeface="Noto Sans JP" panose="020B0200000000000000" pitchFamily="50" charset="-128"/>
              <a:ea typeface="Noto Sans JP" panose="020B0200000000000000" pitchFamily="50" charset="-128"/>
            </a:endParaRPr>
          </a:p>
        </p:txBody>
      </p:sp>
      <p:sp>
        <p:nvSpPr>
          <p:cNvPr id="31" name="Shape 4">
            <a:extLst>
              <a:ext uri="{FF2B5EF4-FFF2-40B4-BE49-F238E27FC236}">
                <a16:creationId xmlns:a16="http://schemas.microsoft.com/office/drawing/2014/main" id="{681BE06F-184C-1FF1-2973-35C1C80D57BE}"/>
              </a:ext>
            </a:extLst>
          </p:cNvPr>
          <p:cNvSpPr/>
          <p:nvPr/>
        </p:nvSpPr>
        <p:spPr>
          <a:xfrm>
            <a:off x="6096305" y="5577236"/>
            <a:ext cx="47549" cy="864000"/>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32" name="Text 18">
            <a:extLst>
              <a:ext uri="{FF2B5EF4-FFF2-40B4-BE49-F238E27FC236}">
                <a16:creationId xmlns:a16="http://schemas.microsoft.com/office/drawing/2014/main" id="{B4BFCECD-F131-DBDE-90A9-37DF48E32CE1}"/>
              </a:ext>
            </a:extLst>
          </p:cNvPr>
          <p:cNvSpPr txBox="1"/>
          <p:nvPr/>
        </p:nvSpPr>
        <p:spPr>
          <a:xfrm>
            <a:off x="6381598" y="5157863"/>
            <a:ext cx="5130952" cy="200664"/>
          </a:xfrm>
          <a:prstGeom prst="rect">
            <a:avLst/>
          </a:prstGeom>
          <a:noFill/>
          <a:ln/>
        </p:spPr>
        <p:txBody>
          <a:bodyPr wrap="square" lIns="36000" tIns="36000" rIns="36000" bIns="3600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402"/>
              </a:lnSpc>
            </a:pPr>
            <a:r>
              <a:rPr lang="ja-JP" altLang="en-US" sz="1100" noProof="0" dirty="0">
                <a:solidFill>
                  <a:srgbClr val="4F5B6B"/>
                </a:solidFill>
                <a:latin typeface="Noto Sans JP" panose="020B0200000000000000" pitchFamily="50" charset="-128"/>
                <a:ea typeface="Noto Sans JP" panose="020B0200000000000000" pitchFamily="50" charset="-128"/>
                <a:cs typeface="Noto Sans JP" pitchFamily="34" charset="-120"/>
              </a:rPr>
              <a:t>文化・食・工芸・エンタメなど、ゲストの関心や滞在目的に応じて選定</a:t>
            </a:r>
            <a:endParaRPr lang="ja-JP" sz="1100" noProof="0" dirty="0">
              <a:latin typeface="Noto Sans JP" panose="020B0200000000000000" pitchFamily="50" charset="-128"/>
              <a:ea typeface="Noto Sans JP" panose="020B0200000000000000" pitchFamily="50" charset="-128"/>
            </a:endParaRPr>
          </a:p>
        </p:txBody>
      </p:sp>
      <p:sp>
        <p:nvSpPr>
          <p:cNvPr id="33" name="Text 18">
            <a:extLst>
              <a:ext uri="{FF2B5EF4-FFF2-40B4-BE49-F238E27FC236}">
                <a16:creationId xmlns:a16="http://schemas.microsoft.com/office/drawing/2014/main" id="{0C2DF010-3A6B-6C15-86CB-FFC1FB1F9C47}"/>
              </a:ext>
            </a:extLst>
          </p:cNvPr>
          <p:cNvSpPr txBox="1"/>
          <p:nvPr/>
        </p:nvSpPr>
        <p:spPr>
          <a:xfrm>
            <a:off x="6381598" y="6141094"/>
            <a:ext cx="5130952" cy="200664"/>
          </a:xfrm>
          <a:prstGeom prst="rect">
            <a:avLst/>
          </a:prstGeom>
          <a:noFill/>
          <a:ln/>
        </p:spPr>
        <p:txBody>
          <a:bodyPr wrap="square" lIns="36000" tIns="36000" rIns="36000" bIns="3600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402"/>
              </a:lnSpc>
            </a:pPr>
            <a:r>
              <a:rPr lang="ja-JP" altLang="en-US" sz="1100" noProof="0" dirty="0">
                <a:solidFill>
                  <a:srgbClr val="4F5B6B"/>
                </a:solidFill>
                <a:latin typeface="Noto Sans JP" panose="020B0200000000000000" pitchFamily="50" charset="-128"/>
                <a:ea typeface="Noto Sans JP" panose="020B0200000000000000" pitchFamily="50" charset="-128"/>
                <a:cs typeface="Noto Sans JP" pitchFamily="34" charset="-120"/>
              </a:rPr>
              <a:t>実際に現地を訪れ、自ら体験し、事業者と直接対話して得た一次情報を蓄積</a:t>
            </a:r>
            <a:endParaRPr lang="ja-JP" sz="1100" noProof="0" dirty="0">
              <a:latin typeface="Noto Sans JP" panose="020B0200000000000000" pitchFamily="50" charset="-128"/>
              <a:ea typeface="Noto Sans JP" panose="020B0200000000000000" pitchFamily="50"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Shape 0"/>
          <p:cNvSpPr/>
          <p:nvPr/>
        </p:nvSpPr>
        <p:spPr>
          <a:xfrm>
            <a:off x="571500" y="1996326"/>
            <a:ext cx="11048695" cy="4012588"/>
          </a:xfrm>
          <a:prstGeom prst="rect">
            <a:avLst/>
          </a:prstGeom>
          <a:solidFill>
            <a:srgbClr val="F2EFE6"/>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15" name="Shape 12"/>
          <p:cNvSpPr/>
          <p:nvPr/>
        </p:nvSpPr>
        <p:spPr>
          <a:xfrm>
            <a:off x="3332987" y="2763317"/>
            <a:ext cx="1904695" cy="2572207"/>
          </a:xfrm>
          <a:prstGeom prst="rect">
            <a:avLst/>
          </a:prstGeom>
          <a:solidFill>
            <a:srgbClr val="ED8B3C"/>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16" name="Shape 13"/>
          <p:cNvSpPr/>
          <p:nvPr/>
        </p:nvSpPr>
        <p:spPr>
          <a:xfrm>
            <a:off x="3475634" y="3315615"/>
            <a:ext cx="1619402" cy="323698"/>
          </a:xfrm>
          <a:prstGeom prst="rect">
            <a:avLst/>
          </a:prstGeom>
          <a:solidFill>
            <a:srgbClr val="FBFAF7"/>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17" name="Shape 14"/>
          <p:cNvSpPr/>
          <p:nvPr/>
        </p:nvSpPr>
        <p:spPr>
          <a:xfrm>
            <a:off x="3475634" y="3829508"/>
            <a:ext cx="1619402" cy="323698"/>
          </a:xfrm>
          <a:prstGeom prst="rect">
            <a:avLst/>
          </a:prstGeom>
          <a:solidFill>
            <a:srgbClr val="FBFAF7"/>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18" name="Shape 15"/>
          <p:cNvSpPr/>
          <p:nvPr/>
        </p:nvSpPr>
        <p:spPr>
          <a:xfrm>
            <a:off x="3475634" y="4344315"/>
            <a:ext cx="1619402" cy="323698"/>
          </a:xfrm>
          <a:prstGeom prst="rect">
            <a:avLst/>
          </a:prstGeom>
          <a:solidFill>
            <a:srgbClr val="FBFAF7"/>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19" name="Shape 16"/>
          <p:cNvSpPr/>
          <p:nvPr/>
        </p:nvSpPr>
        <p:spPr>
          <a:xfrm>
            <a:off x="3475634" y="4858208"/>
            <a:ext cx="1619402" cy="323698"/>
          </a:xfrm>
          <a:prstGeom prst="rect">
            <a:avLst/>
          </a:prstGeom>
          <a:solidFill>
            <a:srgbClr val="FBFAF7"/>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20" name="Image 1" descr="gen-dedup-468f209c8b765fcabfd32ae0c933e113.png"/>
          <p:cNvPicPr>
            <a:picLocks noChangeAspect="1"/>
          </p:cNvPicPr>
          <p:nvPr/>
        </p:nvPicPr>
        <p:blipFill>
          <a:blip r:embed="rId3"/>
          <a:srcRect l="-404" r="-404"/>
          <a:stretch/>
        </p:blipFill>
        <p:spPr>
          <a:xfrm>
            <a:off x="571500" y="1185812"/>
            <a:ext cx="571500" cy="28346"/>
          </a:xfrm>
          <a:prstGeom prst="rect">
            <a:avLst/>
          </a:prstGeom>
        </p:spPr>
      </p:pic>
      <p:sp>
        <p:nvSpPr>
          <p:cNvPr id="21" name="Text 17"/>
          <p:cNvSpPr txBox="1"/>
          <p:nvPr/>
        </p:nvSpPr>
        <p:spPr>
          <a:xfrm>
            <a:off x="571500" y="308417"/>
            <a:ext cx="923898" cy="241788"/>
          </a:xfrm>
          <a:prstGeom prst="rect">
            <a:avLst/>
          </a:prstGeom>
          <a:noFill/>
          <a:ln/>
        </p:spPr>
        <p:txBody>
          <a:bodyPr wrap="none" lIns="36000" tIns="36000" rIns="36000" bIns="36000" rtlCol="0" anchor="ctr">
            <a:spAutoFit/>
          </a:bodyPr>
          <a:lstStyle>
            <a:lvl1pPr indent="0">
              <a:lnSpc>
                <a:spcPct val="120000"/>
              </a:lnSpc>
              <a:spcBef>
                <a:spcPts val="300"/>
              </a:spcBef>
              <a:buNone/>
              <a:defRPr sz="1000" b="1">
                <a:solidFill>
                  <a:srgbClr val="3CAEA3"/>
                </a:solidFill>
                <a:latin typeface="Noto Sans JP" pitchFamily="34" charset="0"/>
                <a:ea typeface="Noto Sans JP" pitchFamily="34" charset="-122"/>
                <a:cs typeface="Noto Sans JP" pitchFamily="34" charset="-120"/>
              </a:defRPr>
            </a:lvl1pPr>
          </a:lstStyle>
          <a:p>
            <a:r>
              <a:rPr lang="ja-JP" noProof="0" dirty="0">
                <a:latin typeface="Noto Sans JP" panose="020B0200000000000000" pitchFamily="50" charset="-128"/>
                <a:ea typeface="Noto Sans JP" panose="020B0200000000000000" pitchFamily="50" charset="-128"/>
              </a:rPr>
              <a:t>D e x t e r とは</a:t>
            </a:r>
          </a:p>
        </p:txBody>
      </p:sp>
      <p:sp>
        <p:nvSpPr>
          <p:cNvPr id="22" name="Text 18"/>
          <p:cNvSpPr txBox="1"/>
          <p:nvPr/>
        </p:nvSpPr>
        <p:spPr>
          <a:xfrm>
            <a:off x="571500" y="719743"/>
            <a:ext cx="9929569" cy="411257"/>
          </a:xfrm>
          <a:prstGeom prst="rect">
            <a:avLst/>
          </a:prstGeom>
          <a:noFill/>
          <a:ln/>
        </p:spPr>
        <p:txBody>
          <a:bodyPr wrap="none" lIns="36000" tIns="36000" rIns="36000" bIns="36000" rtlCol="0" anchor="ctr">
            <a:spAutoFit/>
          </a:bodyPr>
          <a:lstStyle/>
          <a:p>
            <a:pPr marL="0" indent="0" algn="l">
              <a:spcBef>
                <a:spcPts val="300"/>
              </a:spcBef>
              <a:buNone/>
            </a:pPr>
            <a:r>
              <a:rPr lang="ja-JP" altLang="en-US"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地域・現場とのネットワークを通じ</a:t>
            </a:r>
            <a:r>
              <a:rPr lang="ja-JP"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a:t>
            </a:r>
            <a:r>
              <a:rPr lang="ja-JP" sz="2200" b="1" noProof="0" dirty="0">
                <a:solidFill>
                  <a:srgbClr val="ED8B3C"/>
                </a:solidFill>
                <a:latin typeface="Noto Sans JP" panose="020B0200000000000000" pitchFamily="50" charset="-128"/>
                <a:ea typeface="Noto Sans JP" panose="020B0200000000000000" pitchFamily="50" charset="-128"/>
                <a:cs typeface="Noto Sans JP" pitchFamily="34" charset="-120"/>
              </a:rPr>
              <a:t>ホテルが安心して提案できる体験を</a:t>
            </a:r>
            <a:r>
              <a:rPr lang="ja-JP" altLang="en-US" sz="2200" b="1" noProof="0" dirty="0">
                <a:solidFill>
                  <a:srgbClr val="ED8B3C"/>
                </a:solidFill>
                <a:latin typeface="Noto Sans JP" panose="020B0200000000000000" pitchFamily="50" charset="-128"/>
                <a:ea typeface="Noto Sans JP" panose="020B0200000000000000" pitchFamily="50" charset="-128"/>
                <a:cs typeface="Noto Sans JP" pitchFamily="34" charset="-120"/>
              </a:rPr>
              <a:t>選定</a:t>
            </a:r>
            <a:endParaRPr lang="ja-JP" sz="2200" noProof="0" dirty="0">
              <a:latin typeface="Noto Sans JP" panose="020B0200000000000000" pitchFamily="50" charset="-128"/>
              <a:ea typeface="Noto Sans JP" panose="020B0200000000000000" pitchFamily="50" charset="-128"/>
            </a:endParaRPr>
          </a:p>
        </p:txBody>
      </p:sp>
      <p:sp>
        <p:nvSpPr>
          <p:cNvPr id="23" name="Text 19"/>
          <p:cNvSpPr txBox="1"/>
          <p:nvPr/>
        </p:nvSpPr>
        <p:spPr>
          <a:xfrm>
            <a:off x="571500" y="1278014"/>
            <a:ext cx="11049610" cy="538793"/>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altLang="en-US" sz="1200" noProof="0" dirty="0">
                <a:solidFill>
                  <a:srgbClr val="404A57"/>
                </a:solidFill>
                <a:latin typeface="Noto Sans JP" panose="020B0200000000000000" pitchFamily="50" charset="-128"/>
                <a:ea typeface="Noto Sans JP" panose="020B0200000000000000" pitchFamily="50" charset="-128"/>
                <a:cs typeface="Noto Sans JP" pitchFamily="34" charset="-120"/>
              </a:rPr>
              <a:t>デクスター</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は、</a:t>
            </a: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全国の地域ネットワークをハブのように束ね</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、直接アクセスしにくい体験価値をご提案します</a:t>
            </a:r>
            <a:endParaRPr lang="ja-JP" sz="1200" noProof="0" dirty="0">
              <a:latin typeface="Noto Sans JP" panose="020B0200000000000000" pitchFamily="50" charset="-128"/>
              <a:ea typeface="Noto Sans JP" panose="020B0200000000000000" pitchFamily="50" charset="-128"/>
            </a:endParaRPr>
          </a:p>
          <a:p>
            <a:pPr marL="0" indent="0" algn="l">
              <a:lnSpc>
                <a:spcPct val="120000"/>
              </a:lnSpc>
              <a:spcBef>
                <a:spcPts val="300"/>
              </a:spcBef>
              <a:buNone/>
            </a:pPr>
            <a:r>
              <a:rPr lang="ja-JP" sz="1200" b="1" noProof="0" dirty="0">
                <a:solidFill>
                  <a:srgbClr val="ED8B3C"/>
                </a:solidFill>
                <a:latin typeface="Noto Sans JP" panose="020B0200000000000000" pitchFamily="50" charset="-128"/>
                <a:ea typeface="Noto Sans JP" panose="020B0200000000000000" pitchFamily="50" charset="-128"/>
                <a:cs typeface="Noto Sans JP" pitchFamily="34" charset="-120"/>
              </a:rPr>
              <a:t>ホテルからはデクスターの窓口だけで完結</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する、シンプルな関係で動きます</a:t>
            </a:r>
            <a:endParaRPr lang="ja-JP" sz="1200" noProof="0" dirty="0">
              <a:latin typeface="Noto Sans JP" panose="020B0200000000000000" pitchFamily="50" charset="-128"/>
              <a:ea typeface="Noto Sans JP" panose="020B0200000000000000" pitchFamily="50" charset="-128"/>
            </a:endParaRPr>
          </a:p>
        </p:txBody>
      </p:sp>
      <p:grpSp>
        <p:nvGrpSpPr>
          <p:cNvPr id="60" name="グループ化 59">
            <a:extLst>
              <a:ext uri="{FF2B5EF4-FFF2-40B4-BE49-F238E27FC236}">
                <a16:creationId xmlns:a16="http://schemas.microsoft.com/office/drawing/2014/main" id="{65B64C50-F428-FBD7-D68D-ECFC1329BC69}"/>
              </a:ext>
            </a:extLst>
          </p:cNvPr>
          <p:cNvGrpSpPr/>
          <p:nvPr/>
        </p:nvGrpSpPr>
        <p:grpSpPr>
          <a:xfrm>
            <a:off x="1047902" y="3310387"/>
            <a:ext cx="1428292" cy="1143000"/>
            <a:chOff x="1047902" y="3238805"/>
            <a:chExt cx="1619402" cy="1143000"/>
          </a:xfrm>
        </p:grpSpPr>
        <p:sp>
          <p:nvSpPr>
            <p:cNvPr id="3" name="Shape 1"/>
            <p:cNvSpPr/>
            <p:nvPr/>
          </p:nvSpPr>
          <p:spPr>
            <a:xfrm>
              <a:off x="1047902" y="3238805"/>
              <a:ext cx="1619402" cy="1143000"/>
            </a:xfrm>
            <a:prstGeom prst="rect">
              <a:avLst/>
            </a:prstGeom>
            <a:solidFill>
              <a:srgbClr val="0A2647"/>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25" name="Text 21"/>
            <p:cNvSpPr txBox="1"/>
            <p:nvPr/>
          </p:nvSpPr>
          <p:spPr>
            <a:xfrm>
              <a:off x="1559242" y="3561841"/>
              <a:ext cx="605869" cy="275644"/>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sz="1200" b="1" noProof="0" dirty="0">
                  <a:solidFill>
                    <a:srgbClr val="FBFAF7"/>
                  </a:solidFill>
                  <a:latin typeface="Noto Sans JP" panose="020B0200000000000000" pitchFamily="50" charset="-128"/>
                  <a:ea typeface="Noto Sans JP" panose="020B0200000000000000" pitchFamily="50" charset="-128"/>
                  <a:cs typeface="Noto Sans JP" pitchFamily="34" charset="-120"/>
                </a:rPr>
                <a:t>ホテル</a:t>
              </a:r>
              <a:endParaRPr lang="ja-JP" sz="1200" noProof="0" dirty="0">
                <a:latin typeface="Noto Sans JP" panose="020B0200000000000000" pitchFamily="50" charset="-128"/>
                <a:ea typeface="Noto Sans JP" panose="020B0200000000000000" pitchFamily="50" charset="-128"/>
              </a:endParaRPr>
            </a:p>
          </p:txBody>
        </p:sp>
        <p:sp>
          <p:nvSpPr>
            <p:cNvPr id="26" name="Text 22"/>
            <p:cNvSpPr txBox="1"/>
            <p:nvPr/>
          </p:nvSpPr>
          <p:spPr>
            <a:xfrm>
              <a:off x="1362953" y="3841654"/>
              <a:ext cx="998446" cy="227169"/>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altLang="en-US" sz="900" dirty="0">
                  <a:solidFill>
                    <a:schemeClr val="bg1"/>
                  </a:solidFill>
                  <a:latin typeface="Noto Sans JP" panose="020B0200000000000000" pitchFamily="50" charset="-128"/>
                  <a:ea typeface="Noto Sans JP" panose="020B0200000000000000" pitchFamily="50" charset="-128"/>
                </a:rPr>
                <a:t>コンシェルジュ</a:t>
              </a:r>
              <a:endParaRPr lang="ja-JP" sz="900" noProof="0" dirty="0">
                <a:solidFill>
                  <a:schemeClr val="bg1"/>
                </a:solidFill>
                <a:latin typeface="Noto Sans JP" panose="020B0200000000000000" pitchFamily="50" charset="-128"/>
                <a:ea typeface="Noto Sans JP" panose="020B0200000000000000" pitchFamily="50" charset="-128"/>
              </a:endParaRPr>
            </a:p>
          </p:txBody>
        </p:sp>
      </p:grpSp>
      <p:sp>
        <p:nvSpPr>
          <p:cNvPr id="27" name="Text 23"/>
          <p:cNvSpPr txBox="1"/>
          <p:nvPr/>
        </p:nvSpPr>
        <p:spPr>
          <a:xfrm>
            <a:off x="2644322" y="3322514"/>
            <a:ext cx="418952" cy="224861"/>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ご相談</a:t>
            </a:r>
            <a:endParaRPr lang="ja-JP" sz="900" noProof="0" dirty="0">
              <a:latin typeface="Noto Sans JP" panose="020B0200000000000000" pitchFamily="50" charset="-128"/>
              <a:ea typeface="Noto Sans JP" panose="020B0200000000000000" pitchFamily="50" charset="-128"/>
            </a:endParaRPr>
          </a:p>
        </p:txBody>
      </p:sp>
      <p:sp>
        <p:nvSpPr>
          <p:cNvPr id="28" name="Text 24"/>
          <p:cNvSpPr txBox="1"/>
          <p:nvPr/>
        </p:nvSpPr>
        <p:spPr>
          <a:xfrm>
            <a:off x="2689206" y="3435094"/>
            <a:ext cx="329184" cy="416002"/>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sz="2000" b="1" noProof="0" dirty="0">
                <a:solidFill>
                  <a:srgbClr val="3CAEA3"/>
                </a:solidFill>
                <a:latin typeface="Noto Sans JP" panose="020B0200000000000000" pitchFamily="50" charset="-128"/>
                <a:ea typeface="Noto Sans JP" panose="020B0200000000000000" pitchFamily="50" charset="-128"/>
                <a:cs typeface="Noto Sans JP" pitchFamily="34" charset="-120"/>
              </a:rPr>
              <a:t>→</a:t>
            </a:r>
            <a:endParaRPr lang="ja-JP" sz="2000" noProof="0" dirty="0">
              <a:latin typeface="Noto Sans JP" panose="020B0200000000000000" pitchFamily="50" charset="-128"/>
              <a:ea typeface="Noto Sans JP" panose="020B0200000000000000" pitchFamily="50" charset="-128"/>
            </a:endParaRPr>
          </a:p>
        </p:txBody>
      </p:sp>
      <p:sp>
        <p:nvSpPr>
          <p:cNvPr id="30" name="Text 26"/>
          <p:cNvSpPr txBox="1"/>
          <p:nvPr/>
        </p:nvSpPr>
        <p:spPr>
          <a:xfrm>
            <a:off x="3867124" y="2910973"/>
            <a:ext cx="837335" cy="278722"/>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altLang="en-US" sz="1200" b="1" noProof="0" dirty="0">
                <a:solidFill>
                  <a:srgbClr val="FBFAF7"/>
                </a:solidFill>
                <a:latin typeface="Noto Sans JP" panose="020B0200000000000000" pitchFamily="50" charset="-128"/>
                <a:ea typeface="Noto Sans JP" panose="020B0200000000000000" pitchFamily="50" charset="-128"/>
                <a:cs typeface="Noto Sans JP" pitchFamily="34" charset="-120"/>
              </a:rPr>
              <a:t>デクスター</a:t>
            </a:r>
            <a:endParaRPr lang="ja-JP" sz="1200" noProof="0" dirty="0">
              <a:latin typeface="Noto Sans JP" panose="020B0200000000000000" pitchFamily="50" charset="-128"/>
              <a:ea typeface="Noto Sans JP" panose="020B0200000000000000" pitchFamily="50" charset="-128"/>
            </a:endParaRPr>
          </a:p>
        </p:txBody>
      </p:sp>
      <p:grpSp>
        <p:nvGrpSpPr>
          <p:cNvPr id="9" name="グループ化 8">
            <a:extLst>
              <a:ext uri="{FF2B5EF4-FFF2-40B4-BE49-F238E27FC236}">
                <a16:creationId xmlns:a16="http://schemas.microsoft.com/office/drawing/2014/main" id="{48F3DD10-1173-E22D-1007-833A1DECF2B4}"/>
              </a:ext>
            </a:extLst>
          </p:cNvPr>
          <p:cNvGrpSpPr/>
          <p:nvPr/>
        </p:nvGrpSpPr>
        <p:grpSpPr>
          <a:xfrm>
            <a:off x="6118027" y="2142290"/>
            <a:ext cx="5292000" cy="684000"/>
            <a:chOff x="6118027" y="2340768"/>
            <a:chExt cx="5292000" cy="684000"/>
          </a:xfrm>
        </p:grpSpPr>
        <p:sp>
          <p:nvSpPr>
            <p:cNvPr id="4" name="Shape 2"/>
            <p:cNvSpPr/>
            <p:nvPr/>
          </p:nvSpPr>
          <p:spPr>
            <a:xfrm>
              <a:off x="6118027" y="2340768"/>
              <a:ext cx="5292000" cy="684000"/>
            </a:xfrm>
            <a:prstGeom prst="rect">
              <a:avLst/>
            </a:prstGeom>
            <a:solidFill>
              <a:srgbClr val="FFFFFF"/>
            </a:solidFill>
            <a:ln/>
          </p:spPr>
          <p:txBody>
            <a:bodyPr/>
            <a:lstStyle/>
            <a:p>
              <a:endParaRPr lang="ja-JP" sz="2000" noProof="0" dirty="0">
                <a:latin typeface="Noto Sans JP" panose="020B0200000000000000" pitchFamily="50" charset="-128"/>
                <a:ea typeface="Noto Sans JP" panose="020B0200000000000000" pitchFamily="50" charset="-128"/>
              </a:endParaRPr>
            </a:p>
          </p:txBody>
        </p:sp>
        <p:sp>
          <p:nvSpPr>
            <p:cNvPr id="5" name="Shape 3"/>
            <p:cNvSpPr/>
            <p:nvPr/>
          </p:nvSpPr>
          <p:spPr>
            <a:xfrm>
              <a:off x="6118029" y="2340768"/>
              <a:ext cx="45719" cy="684000"/>
            </a:xfrm>
            <a:prstGeom prst="rect">
              <a:avLst/>
            </a:prstGeom>
            <a:solidFill>
              <a:srgbClr val="3CAEA3"/>
            </a:solidFill>
            <a:ln w="12700">
              <a:solidFill>
                <a:srgbClr val="3CAEA3">
                  <a:alpha val="0"/>
                </a:srgbClr>
              </a:solidFill>
              <a:prstDash val="solid"/>
            </a:ln>
          </p:spPr>
          <p:txBody>
            <a:bodyPr/>
            <a:lstStyle/>
            <a:p>
              <a:endParaRPr lang="ja-JP" sz="2000" noProof="0" dirty="0">
                <a:latin typeface="Noto Sans JP" panose="020B0200000000000000" pitchFamily="50" charset="-128"/>
                <a:ea typeface="Noto Sans JP" panose="020B0200000000000000" pitchFamily="50" charset="-128"/>
              </a:endParaRPr>
            </a:p>
          </p:txBody>
        </p:sp>
        <p:sp>
          <p:nvSpPr>
            <p:cNvPr id="33" name="Text 29"/>
            <p:cNvSpPr txBox="1"/>
            <p:nvPr/>
          </p:nvSpPr>
          <p:spPr>
            <a:xfrm>
              <a:off x="6308224" y="2509773"/>
              <a:ext cx="255445" cy="257369"/>
            </a:xfrm>
            <a:prstGeom prst="rect">
              <a:avLst/>
            </a:prstGeom>
            <a:noFill/>
            <a:ln/>
          </p:spPr>
          <p:txBody>
            <a:bodyPr wrap="none" lIns="36000" tIns="36000" rIns="36000" bIns="36000" rtlCol="0" anchor="ctr">
              <a:spAutoFit/>
            </a:bodyPr>
            <a:lstStyle/>
            <a:p>
              <a:pPr marL="0" indent="0" algn="l">
                <a:buNone/>
              </a:pPr>
              <a:r>
                <a:rPr lang="ja-JP" sz="1200" b="1" noProof="0" dirty="0">
                  <a:solidFill>
                    <a:srgbClr val="3CAEA3"/>
                  </a:solidFill>
                  <a:latin typeface="Noto Sans JP" panose="020B0200000000000000" pitchFamily="50" charset="-128"/>
                  <a:ea typeface="Noto Sans JP" panose="020B0200000000000000" pitchFamily="50" charset="-128"/>
                  <a:cs typeface="Noto Sans JP" pitchFamily="34" charset="-120"/>
                </a:rPr>
                <a:t>01</a:t>
              </a:r>
              <a:endParaRPr lang="ja-JP" sz="1200" noProof="0" dirty="0">
                <a:solidFill>
                  <a:srgbClr val="3CAEA3"/>
                </a:solidFill>
                <a:latin typeface="Noto Sans JP" panose="020B0200000000000000" pitchFamily="50" charset="-128"/>
                <a:ea typeface="Noto Sans JP" panose="020B0200000000000000" pitchFamily="50" charset="-128"/>
              </a:endParaRPr>
            </a:p>
          </p:txBody>
        </p:sp>
        <p:sp>
          <p:nvSpPr>
            <p:cNvPr id="34" name="Text 30"/>
            <p:cNvSpPr txBox="1"/>
            <p:nvPr/>
          </p:nvSpPr>
          <p:spPr>
            <a:xfrm>
              <a:off x="6594431" y="2441236"/>
              <a:ext cx="1092213" cy="241980"/>
            </a:xfrm>
            <a:prstGeom prst="rect">
              <a:avLst/>
            </a:prstGeom>
            <a:noFill/>
            <a:ln/>
          </p:spPr>
          <p:txBody>
            <a:bodyPr wrap="none" lIns="36000" tIns="36000" rIns="36000" bIns="36000" rtlCol="0" anchor="ctr">
              <a:spAutoFit/>
            </a:bodyPr>
            <a:lstStyle/>
            <a:p>
              <a:pPr marL="0" indent="0" algn="l">
                <a:buNone/>
              </a:pP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旅行会社・DMC</a:t>
              </a:r>
              <a:endParaRPr lang="ja-JP" sz="1100" noProof="0" dirty="0">
                <a:latin typeface="Noto Sans JP" panose="020B0200000000000000" pitchFamily="50" charset="-128"/>
                <a:ea typeface="Noto Sans JP" panose="020B0200000000000000" pitchFamily="50" charset="-128"/>
              </a:endParaRPr>
            </a:p>
          </p:txBody>
        </p:sp>
        <p:sp>
          <p:nvSpPr>
            <p:cNvPr id="35" name="Text 31"/>
            <p:cNvSpPr txBox="1"/>
            <p:nvPr/>
          </p:nvSpPr>
          <p:spPr>
            <a:xfrm>
              <a:off x="6594431" y="2748813"/>
              <a:ext cx="4464000" cy="226591"/>
            </a:xfrm>
            <a:prstGeom prst="rect">
              <a:avLst/>
            </a:prstGeom>
            <a:noFill/>
            <a:ln/>
          </p:spPr>
          <p:txBody>
            <a:bodyPr wrap="square" lIns="36000" tIns="36000" rIns="36000" bIns="36000" rtlCol="0" anchor="ctr">
              <a:spAutoFit/>
            </a:bodyPr>
            <a:lstStyle/>
            <a:p>
              <a:pPr marL="0" indent="0" algn="l">
                <a:buNone/>
              </a:pPr>
              <a:r>
                <a:rPr lang="ja-JP" sz="1000" noProof="0" dirty="0">
                  <a:solidFill>
                    <a:srgbClr val="404A57"/>
                  </a:solidFill>
                  <a:latin typeface="Noto Sans JP" panose="020B0200000000000000" pitchFamily="50" charset="-128"/>
                  <a:ea typeface="Noto Sans JP" panose="020B0200000000000000" pitchFamily="50" charset="-128"/>
                  <a:cs typeface="Noto Sans JP" pitchFamily="34" charset="-120"/>
                </a:rPr>
                <a:t>地域に精通した旅行会社・DMCと連携し、非公開・少人数向け体験をご紹介</a:t>
              </a:r>
              <a:endParaRPr lang="ja-JP" sz="1000" noProof="0" dirty="0">
                <a:latin typeface="Noto Sans JP" panose="020B0200000000000000" pitchFamily="50" charset="-128"/>
                <a:ea typeface="Noto Sans JP" panose="020B0200000000000000" pitchFamily="50" charset="-128"/>
              </a:endParaRPr>
            </a:p>
          </p:txBody>
        </p:sp>
      </p:grpSp>
      <p:grpSp>
        <p:nvGrpSpPr>
          <p:cNvPr id="11" name="グループ化 10">
            <a:extLst>
              <a:ext uri="{FF2B5EF4-FFF2-40B4-BE49-F238E27FC236}">
                <a16:creationId xmlns:a16="http://schemas.microsoft.com/office/drawing/2014/main" id="{95BEAADC-A511-19F8-B6B0-768BC82FA95F}"/>
              </a:ext>
            </a:extLst>
          </p:cNvPr>
          <p:cNvGrpSpPr/>
          <p:nvPr/>
        </p:nvGrpSpPr>
        <p:grpSpPr>
          <a:xfrm>
            <a:off x="6118027" y="2896432"/>
            <a:ext cx="5292000" cy="684000"/>
            <a:chOff x="6118027" y="3077673"/>
            <a:chExt cx="5292000" cy="684000"/>
          </a:xfrm>
        </p:grpSpPr>
        <p:sp>
          <p:nvSpPr>
            <p:cNvPr id="6" name="Shape 4"/>
            <p:cNvSpPr/>
            <p:nvPr/>
          </p:nvSpPr>
          <p:spPr>
            <a:xfrm>
              <a:off x="6118027" y="3077673"/>
              <a:ext cx="5292000" cy="684000"/>
            </a:xfrm>
            <a:prstGeom prst="rect">
              <a:avLst/>
            </a:prstGeom>
            <a:solidFill>
              <a:srgbClr val="FFFFFF"/>
            </a:solidFill>
            <a:ln/>
          </p:spPr>
          <p:txBody>
            <a:bodyPr/>
            <a:lstStyle/>
            <a:p>
              <a:endParaRPr lang="ja-JP" sz="2000" noProof="0" dirty="0">
                <a:latin typeface="Noto Sans JP" panose="020B0200000000000000" pitchFamily="50" charset="-128"/>
                <a:ea typeface="Noto Sans JP" panose="020B0200000000000000" pitchFamily="50" charset="-128"/>
              </a:endParaRPr>
            </a:p>
          </p:txBody>
        </p:sp>
        <p:sp>
          <p:nvSpPr>
            <p:cNvPr id="7" name="Shape 5"/>
            <p:cNvSpPr/>
            <p:nvPr/>
          </p:nvSpPr>
          <p:spPr>
            <a:xfrm>
              <a:off x="6118029" y="3077673"/>
              <a:ext cx="45719" cy="684000"/>
            </a:xfrm>
            <a:prstGeom prst="rect">
              <a:avLst/>
            </a:prstGeom>
            <a:solidFill>
              <a:srgbClr val="3CAEA3"/>
            </a:solidFill>
            <a:ln w="12700">
              <a:solidFill>
                <a:srgbClr val="3CAEA3">
                  <a:alpha val="0"/>
                </a:srgbClr>
              </a:solidFill>
              <a:prstDash val="solid"/>
            </a:ln>
          </p:spPr>
          <p:txBody>
            <a:bodyPr/>
            <a:lstStyle/>
            <a:p>
              <a:endParaRPr lang="ja-JP" sz="2000" noProof="0" dirty="0">
                <a:latin typeface="Noto Sans JP" panose="020B0200000000000000" pitchFamily="50" charset="-128"/>
                <a:ea typeface="Noto Sans JP" panose="020B0200000000000000" pitchFamily="50" charset="-128"/>
              </a:endParaRPr>
            </a:p>
          </p:txBody>
        </p:sp>
        <p:sp>
          <p:nvSpPr>
            <p:cNvPr id="36" name="Text 32"/>
            <p:cNvSpPr txBox="1"/>
            <p:nvPr/>
          </p:nvSpPr>
          <p:spPr>
            <a:xfrm>
              <a:off x="6308224" y="3165297"/>
              <a:ext cx="255445" cy="257369"/>
            </a:xfrm>
            <a:prstGeom prst="rect">
              <a:avLst/>
            </a:prstGeom>
            <a:noFill/>
            <a:ln/>
          </p:spPr>
          <p:txBody>
            <a:bodyPr wrap="none" lIns="36000" tIns="36000" rIns="36000" bIns="36000" rtlCol="0" anchor="ctr">
              <a:spAutoFit/>
            </a:bodyPr>
            <a:lstStyle/>
            <a:p>
              <a:pPr marL="0" indent="0" algn="l">
                <a:buNone/>
              </a:pPr>
              <a:r>
                <a:rPr lang="ja-JP" sz="1200" b="1" noProof="0" dirty="0">
                  <a:solidFill>
                    <a:srgbClr val="3CAEA3"/>
                  </a:solidFill>
                  <a:latin typeface="Noto Sans JP" panose="020B0200000000000000" pitchFamily="50" charset="-128"/>
                  <a:ea typeface="Noto Sans JP" panose="020B0200000000000000" pitchFamily="50" charset="-128"/>
                  <a:cs typeface="Noto Sans JP" pitchFamily="34" charset="-120"/>
                </a:rPr>
                <a:t>02</a:t>
              </a:r>
              <a:endParaRPr lang="ja-JP" sz="1200" noProof="0" dirty="0">
                <a:solidFill>
                  <a:srgbClr val="3CAEA3"/>
                </a:solidFill>
                <a:latin typeface="Noto Sans JP" panose="020B0200000000000000" pitchFamily="50" charset="-128"/>
                <a:ea typeface="Noto Sans JP" panose="020B0200000000000000" pitchFamily="50" charset="-128"/>
              </a:endParaRPr>
            </a:p>
          </p:txBody>
        </p:sp>
        <p:sp>
          <p:nvSpPr>
            <p:cNvPr id="37" name="Text 33"/>
            <p:cNvSpPr txBox="1"/>
            <p:nvPr/>
          </p:nvSpPr>
          <p:spPr>
            <a:xfrm>
              <a:off x="6594431" y="3178371"/>
              <a:ext cx="1108243" cy="241980"/>
            </a:xfrm>
            <a:prstGeom prst="rect">
              <a:avLst/>
            </a:prstGeom>
            <a:noFill/>
            <a:ln/>
          </p:spPr>
          <p:txBody>
            <a:bodyPr wrap="none" lIns="36000" tIns="36000" rIns="36000" bIns="36000" rtlCol="0" anchor="ctr">
              <a:spAutoFit/>
            </a:bodyPr>
            <a:lstStyle/>
            <a:p>
              <a:pPr marL="0" indent="0" algn="l">
                <a:buNone/>
              </a:pP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DMO・観光協会</a:t>
              </a:r>
              <a:endParaRPr lang="ja-JP" sz="1100" noProof="0" dirty="0">
                <a:latin typeface="Noto Sans JP" panose="020B0200000000000000" pitchFamily="50" charset="-128"/>
                <a:ea typeface="Noto Sans JP" panose="020B0200000000000000" pitchFamily="50" charset="-128"/>
              </a:endParaRPr>
            </a:p>
          </p:txBody>
        </p:sp>
        <p:sp>
          <p:nvSpPr>
            <p:cNvPr id="38" name="Text 34"/>
            <p:cNvSpPr txBox="1"/>
            <p:nvPr/>
          </p:nvSpPr>
          <p:spPr>
            <a:xfrm>
              <a:off x="6594431" y="3478862"/>
              <a:ext cx="4464000" cy="226591"/>
            </a:xfrm>
            <a:prstGeom prst="rect">
              <a:avLst/>
            </a:prstGeom>
            <a:noFill/>
            <a:ln/>
          </p:spPr>
          <p:txBody>
            <a:bodyPr wrap="square" lIns="36000" tIns="36000" rIns="36000" bIns="36000" rtlCol="0" anchor="ctr">
              <a:spAutoFit/>
            </a:bodyPr>
            <a:lstStyle/>
            <a:p>
              <a:pPr marL="0" indent="0" algn="l">
                <a:buNone/>
              </a:pPr>
              <a:r>
                <a:rPr lang="ja-JP" sz="1000" noProof="0" dirty="0">
                  <a:solidFill>
                    <a:srgbClr val="404A57"/>
                  </a:solidFill>
                  <a:latin typeface="Noto Sans JP" panose="020B0200000000000000" pitchFamily="50" charset="-128"/>
                  <a:ea typeface="Noto Sans JP" panose="020B0200000000000000" pitchFamily="50" charset="-128"/>
                  <a:cs typeface="Noto Sans JP" pitchFamily="34" charset="-120"/>
                </a:rPr>
                <a:t>地域最新観光情報を継続収集、季節・地域限定コンテンツをご紹介</a:t>
              </a:r>
              <a:endParaRPr lang="ja-JP" sz="1000" noProof="0" dirty="0">
                <a:latin typeface="Noto Sans JP" panose="020B0200000000000000" pitchFamily="50" charset="-128"/>
                <a:ea typeface="Noto Sans JP" panose="020B0200000000000000" pitchFamily="50" charset="-128"/>
              </a:endParaRPr>
            </a:p>
          </p:txBody>
        </p:sp>
      </p:grpSp>
      <p:sp>
        <p:nvSpPr>
          <p:cNvPr id="48" name="Text 44"/>
          <p:cNvSpPr txBox="1"/>
          <p:nvPr/>
        </p:nvSpPr>
        <p:spPr>
          <a:xfrm>
            <a:off x="571500" y="6171371"/>
            <a:ext cx="10152386" cy="278722"/>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Web 上の評価だけでは分からない </a:t>
            </a:r>
            <a:r>
              <a:rPr lang="ja-JP" sz="1200" b="1" noProof="0" dirty="0">
                <a:solidFill>
                  <a:srgbClr val="ED8B3C"/>
                </a:solidFill>
                <a:latin typeface="Noto Sans JP" panose="020B0200000000000000" pitchFamily="50" charset="-128"/>
                <a:ea typeface="Noto Sans JP" panose="020B0200000000000000" pitchFamily="50" charset="-128"/>
                <a:cs typeface="Noto Sans JP" pitchFamily="34" charset="-120"/>
              </a:rPr>
              <a:t>体験の品質</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a:t>
            </a:r>
            <a:r>
              <a:rPr lang="ja-JP" sz="1200" b="1" noProof="0" dirty="0">
                <a:solidFill>
                  <a:srgbClr val="ED8B3C"/>
                </a:solidFill>
                <a:latin typeface="Noto Sans JP" panose="020B0200000000000000" pitchFamily="50" charset="-128"/>
                <a:ea typeface="Noto Sans JP" panose="020B0200000000000000" pitchFamily="50" charset="-128"/>
                <a:cs typeface="Noto Sans JP" pitchFamily="34" charset="-120"/>
              </a:rPr>
              <a:t>事業者の人柄</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a:t>
            </a:r>
            <a:r>
              <a:rPr lang="ja-JP" sz="1200" b="1" noProof="0" dirty="0">
                <a:solidFill>
                  <a:srgbClr val="ED8B3C"/>
                </a:solidFill>
                <a:latin typeface="Noto Sans JP" panose="020B0200000000000000" pitchFamily="50" charset="-128"/>
                <a:ea typeface="Noto Sans JP" panose="020B0200000000000000" pitchFamily="50" charset="-128"/>
                <a:cs typeface="Noto Sans JP" pitchFamily="34" charset="-120"/>
              </a:rPr>
              <a:t>ゲストへの対応力</a:t>
            </a:r>
            <a:r>
              <a:rPr lang="ja-JP" sz="1200" noProof="0" dirty="0">
                <a:solidFill>
                  <a:srgbClr val="404A57"/>
                </a:solidFill>
                <a:latin typeface="Noto Sans JP" panose="020B0200000000000000" pitchFamily="50" charset="-128"/>
                <a:ea typeface="Noto Sans JP" panose="020B0200000000000000" pitchFamily="50" charset="-128"/>
                <a:cs typeface="Noto Sans JP" pitchFamily="34" charset="-120"/>
              </a:rPr>
              <a:t>まで確認し、ホテルのブランドにふさわしい体験をご提案します</a:t>
            </a:r>
            <a:endParaRPr lang="ja-JP" sz="1200" noProof="0" dirty="0">
              <a:latin typeface="Noto Sans JP" panose="020B0200000000000000" pitchFamily="50" charset="-128"/>
              <a:ea typeface="Noto Sans JP" panose="020B0200000000000000" pitchFamily="50" charset="-128"/>
            </a:endParaRPr>
          </a:p>
        </p:txBody>
      </p:sp>
      <p:sp>
        <p:nvSpPr>
          <p:cNvPr id="51" name="Text 47"/>
          <p:cNvSpPr txBox="1"/>
          <p:nvPr/>
        </p:nvSpPr>
        <p:spPr>
          <a:xfrm>
            <a:off x="3498779" y="3367080"/>
            <a:ext cx="1573114" cy="227169"/>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現地訪問・体験</a:t>
            </a:r>
            <a:r>
              <a:rPr lang="ja-JP" altLang="en-US"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による目利き</a:t>
            </a:r>
            <a:endParaRPr lang="ja-JP" sz="900" noProof="0" dirty="0">
              <a:latin typeface="Noto Sans JP" panose="020B0200000000000000" pitchFamily="50" charset="-128"/>
              <a:ea typeface="Noto Sans JP" panose="020B0200000000000000" pitchFamily="50" charset="-128"/>
            </a:endParaRPr>
          </a:p>
        </p:txBody>
      </p:sp>
      <p:sp>
        <p:nvSpPr>
          <p:cNvPr id="53" name="Text 49"/>
          <p:cNvSpPr txBox="1"/>
          <p:nvPr/>
        </p:nvSpPr>
        <p:spPr>
          <a:xfrm>
            <a:off x="3672360" y="3881887"/>
            <a:ext cx="1226865" cy="227169"/>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事業者・関係者と</a:t>
            </a:r>
            <a:r>
              <a:rPr lang="ja-JP" altLang="en-US"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調整</a:t>
            </a:r>
            <a:endParaRPr lang="ja-JP" sz="900" noProof="0" dirty="0">
              <a:latin typeface="Noto Sans JP" panose="020B0200000000000000" pitchFamily="50" charset="-128"/>
              <a:ea typeface="Noto Sans JP" panose="020B0200000000000000" pitchFamily="50" charset="-128"/>
            </a:endParaRPr>
          </a:p>
        </p:txBody>
      </p:sp>
      <p:sp>
        <p:nvSpPr>
          <p:cNvPr id="55" name="Text 51"/>
          <p:cNvSpPr txBox="1"/>
          <p:nvPr/>
        </p:nvSpPr>
        <p:spPr>
          <a:xfrm>
            <a:off x="3672360" y="4395780"/>
            <a:ext cx="1226865" cy="227169"/>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品質・受入体制</a:t>
            </a:r>
            <a:r>
              <a:rPr lang="ja-JP" altLang="en-US"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の確認</a:t>
            </a:r>
            <a:endParaRPr lang="ja-JP" sz="900" noProof="0" dirty="0">
              <a:latin typeface="Noto Sans JP" panose="020B0200000000000000" pitchFamily="50" charset="-128"/>
              <a:ea typeface="Noto Sans JP" panose="020B0200000000000000" pitchFamily="50" charset="-128"/>
            </a:endParaRPr>
          </a:p>
        </p:txBody>
      </p:sp>
      <p:sp>
        <p:nvSpPr>
          <p:cNvPr id="57" name="Text 53"/>
          <p:cNvSpPr txBox="1"/>
          <p:nvPr/>
        </p:nvSpPr>
        <p:spPr>
          <a:xfrm>
            <a:off x="3614195" y="4911741"/>
            <a:ext cx="1342281" cy="224861"/>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ゲストに合わせたご提案</a:t>
            </a:r>
            <a:endParaRPr lang="ja-JP" sz="900" noProof="0" dirty="0">
              <a:latin typeface="Noto Sans JP" panose="020B0200000000000000" pitchFamily="50" charset="-128"/>
              <a:ea typeface="Noto Sans JP" panose="020B0200000000000000" pitchFamily="50" charset="-128"/>
            </a:endParaRPr>
          </a:p>
        </p:txBody>
      </p:sp>
      <p:sp>
        <p:nvSpPr>
          <p:cNvPr id="58" name="Text 23">
            <a:extLst>
              <a:ext uri="{FF2B5EF4-FFF2-40B4-BE49-F238E27FC236}">
                <a16:creationId xmlns:a16="http://schemas.microsoft.com/office/drawing/2014/main" id="{E040049E-6742-CB92-271F-26EA4424166E}"/>
              </a:ext>
            </a:extLst>
          </p:cNvPr>
          <p:cNvSpPr txBox="1"/>
          <p:nvPr/>
        </p:nvSpPr>
        <p:spPr>
          <a:xfrm>
            <a:off x="2644322" y="3967842"/>
            <a:ext cx="418952" cy="227169"/>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altLang="en-US" sz="900" b="1" dirty="0">
                <a:solidFill>
                  <a:srgbClr val="3CAEA3"/>
                </a:solidFill>
                <a:latin typeface="Noto Sans JP" panose="020B0200000000000000" pitchFamily="50" charset="-128"/>
                <a:ea typeface="Noto Sans JP" panose="020B0200000000000000" pitchFamily="50" charset="-128"/>
              </a:rPr>
              <a:t>ご提案</a:t>
            </a:r>
            <a:endParaRPr lang="ja-JP" sz="900" noProof="0" dirty="0">
              <a:latin typeface="Noto Sans JP" panose="020B0200000000000000" pitchFamily="50" charset="-128"/>
              <a:ea typeface="Noto Sans JP" panose="020B0200000000000000" pitchFamily="50" charset="-128"/>
            </a:endParaRPr>
          </a:p>
        </p:txBody>
      </p:sp>
      <p:sp>
        <p:nvSpPr>
          <p:cNvPr id="59" name="Text 24">
            <a:extLst>
              <a:ext uri="{FF2B5EF4-FFF2-40B4-BE49-F238E27FC236}">
                <a16:creationId xmlns:a16="http://schemas.microsoft.com/office/drawing/2014/main" id="{F6B85E4A-E36A-7C48-15B7-534585E0F1E5}"/>
              </a:ext>
            </a:extLst>
          </p:cNvPr>
          <p:cNvSpPr txBox="1"/>
          <p:nvPr/>
        </p:nvSpPr>
        <p:spPr>
          <a:xfrm>
            <a:off x="2689206" y="4070085"/>
            <a:ext cx="329185" cy="416002"/>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altLang="en-US" sz="2000" b="1" noProof="0" dirty="0">
                <a:solidFill>
                  <a:srgbClr val="3CAEA3"/>
                </a:solidFill>
                <a:latin typeface="Noto Sans JP" panose="020B0200000000000000" pitchFamily="50" charset="-128"/>
                <a:ea typeface="Noto Sans JP" panose="020B0200000000000000" pitchFamily="50" charset="-128"/>
                <a:cs typeface="Noto Sans JP" pitchFamily="34" charset="-120"/>
              </a:rPr>
              <a:t>←</a:t>
            </a:r>
            <a:endParaRPr lang="ja-JP" sz="2000" noProof="0" dirty="0">
              <a:latin typeface="Noto Sans JP" panose="020B0200000000000000" pitchFamily="50" charset="-128"/>
              <a:ea typeface="Noto Sans JP" panose="020B0200000000000000" pitchFamily="50" charset="-128"/>
            </a:endParaRPr>
          </a:p>
        </p:txBody>
      </p:sp>
      <p:sp>
        <p:nvSpPr>
          <p:cNvPr id="67" name="Text 28">
            <a:extLst>
              <a:ext uri="{FF2B5EF4-FFF2-40B4-BE49-F238E27FC236}">
                <a16:creationId xmlns:a16="http://schemas.microsoft.com/office/drawing/2014/main" id="{8EF53B7B-16F8-A450-1F89-3B65D7C77CBA}"/>
              </a:ext>
            </a:extLst>
          </p:cNvPr>
          <p:cNvSpPr txBox="1"/>
          <p:nvPr/>
        </p:nvSpPr>
        <p:spPr>
          <a:xfrm>
            <a:off x="5515164" y="3791585"/>
            <a:ext cx="329184" cy="416002"/>
          </a:xfrm>
          <a:prstGeom prst="rect">
            <a:avLst/>
          </a:prstGeom>
          <a:noFill/>
          <a:ln/>
        </p:spPr>
        <p:txBody>
          <a:bodyPr wrap="none" lIns="36000" tIns="36000" rIns="36000" bIns="36000" rtlCol="0" anchor="ctr">
            <a:spAutoFit/>
          </a:bodyPr>
          <a:lstStyle/>
          <a:p>
            <a:pPr marL="0" indent="0" algn="ctr">
              <a:lnSpc>
                <a:spcPct val="120000"/>
              </a:lnSpc>
              <a:spcBef>
                <a:spcPts val="300"/>
              </a:spcBef>
              <a:buNone/>
            </a:pPr>
            <a:r>
              <a:rPr lang="ja-JP" sz="2000" b="1" noProof="0" dirty="0">
                <a:solidFill>
                  <a:srgbClr val="3CAEA3"/>
                </a:solidFill>
                <a:latin typeface="Noto Sans JP" panose="020B0200000000000000" pitchFamily="50" charset="-128"/>
                <a:ea typeface="Noto Sans JP" panose="020B0200000000000000" pitchFamily="50" charset="-128"/>
                <a:cs typeface="Noto Sans JP" pitchFamily="34" charset="-120"/>
              </a:rPr>
              <a:t>→</a:t>
            </a:r>
            <a:endParaRPr lang="ja-JP" sz="2000" noProof="0" dirty="0">
              <a:latin typeface="Noto Sans JP" panose="020B0200000000000000" pitchFamily="50" charset="-128"/>
              <a:ea typeface="Noto Sans JP" panose="020B0200000000000000" pitchFamily="50" charset="-128"/>
            </a:endParaRPr>
          </a:p>
        </p:txBody>
      </p:sp>
      <p:grpSp>
        <p:nvGrpSpPr>
          <p:cNvPr id="13" name="グループ化 12">
            <a:extLst>
              <a:ext uri="{FF2B5EF4-FFF2-40B4-BE49-F238E27FC236}">
                <a16:creationId xmlns:a16="http://schemas.microsoft.com/office/drawing/2014/main" id="{C5A6902B-CF61-14D9-7014-DA666AE3A6B5}"/>
              </a:ext>
            </a:extLst>
          </p:cNvPr>
          <p:cNvGrpSpPr/>
          <p:nvPr/>
        </p:nvGrpSpPr>
        <p:grpSpPr>
          <a:xfrm>
            <a:off x="6118027" y="3650574"/>
            <a:ext cx="5292000" cy="684000"/>
            <a:chOff x="6118027" y="3812434"/>
            <a:chExt cx="5292000" cy="684000"/>
          </a:xfrm>
        </p:grpSpPr>
        <p:sp>
          <p:nvSpPr>
            <p:cNvPr id="8" name="Shape 6"/>
            <p:cNvSpPr/>
            <p:nvPr/>
          </p:nvSpPr>
          <p:spPr>
            <a:xfrm>
              <a:off x="6118027" y="3812434"/>
              <a:ext cx="5292000" cy="684000"/>
            </a:xfrm>
            <a:prstGeom prst="rect">
              <a:avLst/>
            </a:prstGeom>
            <a:solidFill>
              <a:srgbClr val="FFFFFF"/>
            </a:solidFill>
            <a:ln/>
          </p:spPr>
          <p:txBody>
            <a:bodyPr/>
            <a:lstStyle/>
            <a:p>
              <a:endParaRPr lang="ja-JP" sz="2000" noProof="0" dirty="0">
                <a:latin typeface="Noto Sans JP" panose="020B0200000000000000" pitchFamily="50" charset="-128"/>
                <a:ea typeface="Noto Sans JP" panose="020B0200000000000000" pitchFamily="50" charset="-128"/>
              </a:endParaRPr>
            </a:p>
          </p:txBody>
        </p:sp>
        <p:sp>
          <p:nvSpPr>
            <p:cNvPr id="39" name="Text 35"/>
            <p:cNvSpPr txBox="1"/>
            <p:nvPr/>
          </p:nvSpPr>
          <p:spPr>
            <a:xfrm>
              <a:off x="6308224" y="3902201"/>
              <a:ext cx="255445" cy="257369"/>
            </a:xfrm>
            <a:prstGeom prst="rect">
              <a:avLst/>
            </a:prstGeom>
            <a:noFill/>
            <a:ln/>
          </p:spPr>
          <p:txBody>
            <a:bodyPr wrap="none" lIns="36000" tIns="36000" rIns="36000" bIns="36000" rtlCol="0" anchor="ctr">
              <a:spAutoFit/>
            </a:bodyPr>
            <a:lstStyle/>
            <a:p>
              <a:pPr marL="0" indent="0" algn="l">
                <a:buNone/>
              </a:pPr>
              <a:r>
                <a:rPr lang="ja-JP" sz="1200" b="1" noProof="0" dirty="0">
                  <a:solidFill>
                    <a:srgbClr val="3CAEA3"/>
                  </a:solidFill>
                  <a:latin typeface="Noto Sans JP" panose="020B0200000000000000" pitchFamily="50" charset="-128"/>
                  <a:ea typeface="Noto Sans JP" panose="020B0200000000000000" pitchFamily="50" charset="-128"/>
                  <a:cs typeface="Noto Sans JP" pitchFamily="34" charset="-120"/>
                </a:rPr>
                <a:t>03</a:t>
              </a:r>
              <a:endParaRPr lang="ja-JP" sz="1200" noProof="0" dirty="0">
                <a:solidFill>
                  <a:srgbClr val="3CAEA3"/>
                </a:solidFill>
                <a:latin typeface="Noto Sans JP" panose="020B0200000000000000" pitchFamily="50" charset="-128"/>
                <a:ea typeface="Noto Sans JP" panose="020B0200000000000000" pitchFamily="50" charset="-128"/>
              </a:endParaRPr>
            </a:p>
          </p:txBody>
        </p:sp>
        <p:sp>
          <p:nvSpPr>
            <p:cNvPr id="40" name="Text 36"/>
            <p:cNvSpPr txBox="1"/>
            <p:nvPr/>
          </p:nvSpPr>
          <p:spPr>
            <a:xfrm>
              <a:off x="6594431" y="3915506"/>
              <a:ext cx="1483346" cy="241980"/>
            </a:xfrm>
            <a:prstGeom prst="rect">
              <a:avLst/>
            </a:prstGeom>
            <a:noFill/>
            <a:ln/>
          </p:spPr>
          <p:txBody>
            <a:bodyPr wrap="none" lIns="36000" tIns="36000" rIns="36000" bIns="36000" rtlCol="0" anchor="ctr">
              <a:spAutoFit/>
            </a:bodyPr>
            <a:lstStyle/>
            <a:p>
              <a:pPr marL="0" indent="0" algn="l">
                <a:buNone/>
              </a:pP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体験事業者・文化施設</a:t>
              </a:r>
              <a:endParaRPr lang="ja-JP" sz="1100" noProof="0" dirty="0">
                <a:latin typeface="Noto Sans JP" panose="020B0200000000000000" pitchFamily="50" charset="-128"/>
                <a:ea typeface="Noto Sans JP" panose="020B0200000000000000" pitchFamily="50" charset="-128"/>
              </a:endParaRPr>
            </a:p>
          </p:txBody>
        </p:sp>
        <p:sp>
          <p:nvSpPr>
            <p:cNvPr id="41" name="Text 37"/>
            <p:cNvSpPr txBox="1"/>
            <p:nvPr/>
          </p:nvSpPr>
          <p:spPr>
            <a:xfrm>
              <a:off x="6594431" y="4208911"/>
              <a:ext cx="4464000" cy="226591"/>
            </a:xfrm>
            <a:prstGeom prst="rect">
              <a:avLst/>
            </a:prstGeom>
            <a:noFill/>
            <a:ln/>
          </p:spPr>
          <p:txBody>
            <a:bodyPr wrap="square" lIns="36000" tIns="36000" rIns="36000" bIns="36000" rtlCol="0" anchor="ctr">
              <a:spAutoFit/>
            </a:bodyPr>
            <a:lstStyle/>
            <a:p>
              <a:pPr marL="0" indent="0" algn="l">
                <a:buNone/>
              </a:pPr>
              <a:r>
                <a:rPr lang="ja-JP" sz="1000" noProof="0" dirty="0">
                  <a:solidFill>
                    <a:srgbClr val="404A57"/>
                  </a:solidFill>
                  <a:latin typeface="Noto Sans JP" panose="020B0200000000000000" pitchFamily="50" charset="-128"/>
                  <a:ea typeface="Noto Sans JP" panose="020B0200000000000000" pitchFamily="50" charset="-128"/>
                  <a:cs typeface="Noto Sans JP" pitchFamily="34" charset="-120"/>
                </a:rPr>
                <a:t>工芸・文化・自然・食など、ローカルに根ざした体験コンテンツをご提案</a:t>
              </a:r>
              <a:endParaRPr lang="ja-JP" sz="1000" noProof="0" dirty="0">
                <a:latin typeface="Noto Sans JP" panose="020B0200000000000000" pitchFamily="50" charset="-128"/>
                <a:ea typeface="Noto Sans JP" panose="020B0200000000000000" pitchFamily="50" charset="-128"/>
              </a:endParaRPr>
            </a:p>
          </p:txBody>
        </p:sp>
        <p:sp>
          <p:nvSpPr>
            <p:cNvPr id="74" name="Shape 5">
              <a:extLst>
                <a:ext uri="{FF2B5EF4-FFF2-40B4-BE49-F238E27FC236}">
                  <a16:creationId xmlns:a16="http://schemas.microsoft.com/office/drawing/2014/main" id="{43E7E110-06DC-A55C-7905-6241091DABC8}"/>
                </a:ext>
              </a:extLst>
            </p:cNvPr>
            <p:cNvSpPr/>
            <p:nvPr/>
          </p:nvSpPr>
          <p:spPr>
            <a:xfrm>
              <a:off x="6118029" y="3812434"/>
              <a:ext cx="45719" cy="684000"/>
            </a:xfrm>
            <a:prstGeom prst="rect">
              <a:avLst/>
            </a:prstGeom>
            <a:solidFill>
              <a:srgbClr val="3CAEA3"/>
            </a:solidFill>
            <a:ln w="12700">
              <a:solidFill>
                <a:srgbClr val="3CAEA3">
                  <a:alpha val="0"/>
                </a:srgbClr>
              </a:solidFill>
              <a:prstDash val="solid"/>
            </a:ln>
          </p:spPr>
          <p:txBody>
            <a:bodyPr/>
            <a:lstStyle/>
            <a:p>
              <a:endParaRPr lang="ja-JP" sz="2000" noProof="0" dirty="0">
                <a:latin typeface="Noto Sans JP" panose="020B0200000000000000" pitchFamily="50" charset="-128"/>
                <a:ea typeface="Noto Sans JP" panose="020B0200000000000000" pitchFamily="50" charset="-128"/>
              </a:endParaRPr>
            </a:p>
          </p:txBody>
        </p:sp>
      </p:grpSp>
      <p:grpSp>
        <p:nvGrpSpPr>
          <p:cNvPr id="14" name="グループ化 13">
            <a:extLst>
              <a:ext uri="{FF2B5EF4-FFF2-40B4-BE49-F238E27FC236}">
                <a16:creationId xmlns:a16="http://schemas.microsoft.com/office/drawing/2014/main" id="{7BF7BB60-F832-541A-95A8-9580B403084A}"/>
              </a:ext>
            </a:extLst>
          </p:cNvPr>
          <p:cNvGrpSpPr/>
          <p:nvPr/>
        </p:nvGrpSpPr>
        <p:grpSpPr>
          <a:xfrm>
            <a:off x="6118027" y="4404716"/>
            <a:ext cx="5292000" cy="684000"/>
            <a:chOff x="6118027" y="4551483"/>
            <a:chExt cx="5292000" cy="684000"/>
          </a:xfrm>
        </p:grpSpPr>
        <p:sp>
          <p:nvSpPr>
            <p:cNvPr id="10" name="Shape 8"/>
            <p:cNvSpPr/>
            <p:nvPr/>
          </p:nvSpPr>
          <p:spPr>
            <a:xfrm>
              <a:off x="6118027" y="4551483"/>
              <a:ext cx="5292000" cy="684000"/>
            </a:xfrm>
            <a:prstGeom prst="rect">
              <a:avLst/>
            </a:prstGeom>
            <a:solidFill>
              <a:srgbClr val="FFFFFF"/>
            </a:solidFill>
            <a:ln/>
          </p:spPr>
          <p:txBody>
            <a:bodyPr/>
            <a:lstStyle/>
            <a:p>
              <a:endParaRPr lang="ja-JP" sz="2000" noProof="0" dirty="0">
                <a:latin typeface="Noto Sans JP" panose="020B0200000000000000" pitchFamily="50" charset="-128"/>
                <a:ea typeface="Noto Sans JP" panose="020B0200000000000000" pitchFamily="50" charset="-128"/>
              </a:endParaRPr>
            </a:p>
          </p:txBody>
        </p:sp>
        <p:sp>
          <p:nvSpPr>
            <p:cNvPr id="42" name="Text 38"/>
            <p:cNvSpPr txBox="1"/>
            <p:nvPr/>
          </p:nvSpPr>
          <p:spPr>
            <a:xfrm>
              <a:off x="6308224" y="4639108"/>
              <a:ext cx="255445" cy="257369"/>
            </a:xfrm>
            <a:prstGeom prst="rect">
              <a:avLst/>
            </a:prstGeom>
            <a:noFill/>
            <a:ln/>
          </p:spPr>
          <p:txBody>
            <a:bodyPr wrap="none" lIns="36000" tIns="36000" rIns="36000" bIns="36000" rtlCol="0" anchor="ctr">
              <a:spAutoFit/>
            </a:bodyPr>
            <a:lstStyle/>
            <a:p>
              <a:pPr marL="0" indent="0" algn="l">
                <a:buNone/>
              </a:pPr>
              <a:r>
                <a:rPr lang="ja-JP" sz="1200" b="1" noProof="0" dirty="0">
                  <a:solidFill>
                    <a:srgbClr val="3CAEA3"/>
                  </a:solidFill>
                  <a:latin typeface="Noto Sans JP" panose="020B0200000000000000" pitchFamily="50" charset="-128"/>
                  <a:ea typeface="Noto Sans JP" panose="020B0200000000000000" pitchFamily="50" charset="-128"/>
                  <a:cs typeface="Noto Sans JP" pitchFamily="34" charset="-120"/>
                </a:rPr>
                <a:t>04</a:t>
              </a:r>
              <a:endParaRPr lang="ja-JP" sz="1200" noProof="0" dirty="0">
                <a:solidFill>
                  <a:srgbClr val="3CAEA3"/>
                </a:solidFill>
                <a:latin typeface="Noto Sans JP" panose="020B0200000000000000" pitchFamily="50" charset="-128"/>
                <a:ea typeface="Noto Sans JP" panose="020B0200000000000000" pitchFamily="50" charset="-128"/>
              </a:endParaRPr>
            </a:p>
          </p:txBody>
        </p:sp>
        <p:sp>
          <p:nvSpPr>
            <p:cNvPr id="43" name="Text 39"/>
            <p:cNvSpPr txBox="1"/>
            <p:nvPr/>
          </p:nvSpPr>
          <p:spPr>
            <a:xfrm>
              <a:off x="6594431" y="4652640"/>
              <a:ext cx="1201217" cy="241980"/>
            </a:xfrm>
            <a:prstGeom prst="rect">
              <a:avLst/>
            </a:prstGeom>
            <a:noFill/>
            <a:ln/>
          </p:spPr>
          <p:txBody>
            <a:bodyPr wrap="none" lIns="36000" tIns="36000" rIns="36000" bIns="36000" rtlCol="0" anchor="ctr">
              <a:spAutoFit/>
            </a:bodyPr>
            <a:lstStyle/>
            <a:p>
              <a:pPr marL="0" indent="0" algn="l">
                <a:buNone/>
              </a:pP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飲食・宿泊事業者</a:t>
              </a:r>
              <a:endParaRPr lang="ja-JP" sz="1100" noProof="0" dirty="0">
                <a:latin typeface="Noto Sans JP" panose="020B0200000000000000" pitchFamily="50" charset="-128"/>
                <a:ea typeface="Noto Sans JP" panose="020B0200000000000000" pitchFamily="50" charset="-128"/>
              </a:endParaRPr>
            </a:p>
          </p:txBody>
        </p:sp>
        <p:sp>
          <p:nvSpPr>
            <p:cNvPr id="44" name="Text 40"/>
            <p:cNvSpPr txBox="1"/>
            <p:nvPr/>
          </p:nvSpPr>
          <p:spPr>
            <a:xfrm>
              <a:off x="6594431" y="4938960"/>
              <a:ext cx="4464000" cy="226591"/>
            </a:xfrm>
            <a:prstGeom prst="rect">
              <a:avLst/>
            </a:prstGeom>
            <a:noFill/>
            <a:ln/>
          </p:spPr>
          <p:txBody>
            <a:bodyPr wrap="square" lIns="36000" tIns="36000" rIns="36000" bIns="36000" rtlCol="0" anchor="ctr">
              <a:spAutoFit/>
            </a:bodyPr>
            <a:lstStyle/>
            <a:p>
              <a:pPr marL="0" indent="0" algn="l">
                <a:buNone/>
              </a:pPr>
              <a:r>
                <a:rPr lang="ja-JP" sz="1000" noProof="0" dirty="0">
                  <a:solidFill>
                    <a:srgbClr val="404A57"/>
                  </a:solidFill>
                  <a:latin typeface="Noto Sans JP" panose="020B0200000000000000" pitchFamily="50" charset="-128"/>
                  <a:ea typeface="Noto Sans JP" panose="020B0200000000000000" pitchFamily="50" charset="-128"/>
                  <a:cs typeface="Noto Sans JP" pitchFamily="34" charset="-120"/>
                </a:rPr>
                <a:t>地元で評価の高い飲食店、会員制・紹介制レストランを個別にご紹介</a:t>
              </a:r>
              <a:endParaRPr lang="ja-JP" sz="1000" noProof="0" dirty="0">
                <a:latin typeface="Noto Sans JP" panose="020B0200000000000000" pitchFamily="50" charset="-128"/>
                <a:ea typeface="Noto Sans JP" panose="020B0200000000000000" pitchFamily="50" charset="-128"/>
              </a:endParaRPr>
            </a:p>
          </p:txBody>
        </p:sp>
        <p:sp>
          <p:nvSpPr>
            <p:cNvPr id="75" name="Shape 5">
              <a:extLst>
                <a:ext uri="{FF2B5EF4-FFF2-40B4-BE49-F238E27FC236}">
                  <a16:creationId xmlns:a16="http://schemas.microsoft.com/office/drawing/2014/main" id="{49C43792-52C3-E91D-BD22-0823091011B0}"/>
                </a:ext>
              </a:extLst>
            </p:cNvPr>
            <p:cNvSpPr/>
            <p:nvPr/>
          </p:nvSpPr>
          <p:spPr>
            <a:xfrm>
              <a:off x="6118029" y="4551483"/>
              <a:ext cx="45719" cy="684000"/>
            </a:xfrm>
            <a:prstGeom prst="rect">
              <a:avLst/>
            </a:prstGeom>
            <a:solidFill>
              <a:srgbClr val="3CAEA3"/>
            </a:solidFill>
            <a:ln w="12700">
              <a:solidFill>
                <a:srgbClr val="3CAEA3">
                  <a:alpha val="0"/>
                </a:srgbClr>
              </a:solidFill>
              <a:prstDash val="solid"/>
            </a:ln>
          </p:spPr>
          <p:txBody>
            <a:bodyPr/>
            <a:lstStyle/>
            <a:p>
              <a:endParaRPr lang="ja-JP" sz="2000" noProof="0" dirty="0">
                <a:latin typeface="Noto Sans JP" panose="020B0200000000000000" pitchFamily="50" charset="-128"/>
                <a:ea typeface="Noto Sans JP" panose="020B0200000000000000" pitchFamily="50" charset="-128"/>
              </a:endParaRPr>
            </a:p>
          </p:txBody>
        </p:sp>
      </p:grpSp>
      <p:grpSp>
        <p:nvGrpSpPr>
          <p:cNvPr id="24" name="グループ化 23">
            <a:extLst>
              <a:ext uri="{FF2B5EF4-FFF2-40B4-BE49-F238E27FC236}">
                <a16:creationId xmlns:a16="http://schemas.microsoft.com/office/drawing/2014/main" id="{5F672C28-F4BB-1627-6AE8-27781AAA1123}"/>
              </a:ext>
            </a:extLst>
          </p:cNvPr>
          <p:cNvGrpSpPr/>
          <p:nvPr/>
        </p:nvGrpSpPr>
        <p:grpSpPr>
          <a:xfrm>
            <a:off x="6118027" y="5158860"/>
            <a:ext cx="5292000" cy="703463"/>
            <a:chOff x="6118027" y="5288390"/>
            <a:chExt cx="5292000" cy="703463"/>
          </a:xfrm>
        </p:grpSpPr>
        <p:sp>
          <p:nvSpPr>
            <p:cNvPr id="12" name="Shape 10"/>
            <p:cNvSpPr/>
            <p:nvPr/>
          </p:nvSpPr>
          <p:spPr>
            <a:xfrm>
              <a:off x="6118027" y="5288390"/>
              <a:ext cx="5292000" cy="684000"/>
            </a:xfrm>
            <a:prstGeom prst="rect">
              <a:avLst/>
            </a:prstGeom>
            <a:solidFill>
              <a:srgbClr val="FFFFFF"/>
            </a:solidFill>
            <a:ln/>
          </p:spPr>
          <p:txBody>
            <a:bodyPr/>
            <a:lstStyle/>
            <a:p>
              <a:endParaRPr lang="ja-JP" sz="2000" noProof="0" dirty="0">
                <a:latin typeface="Noto Sans JP" panose="020B0200000000000000" pitchFamily="50" charset="-128"/>
                <a:ea typeface="Noto Sans JP" panose="020B0200000000000000" pitchFamily="50" charset="-128"/>
              </a:endParaRPr>
            </a:p>
          </p:txBody>
        </p:sp>
        <p:sp>
          <p:nvSpPr>
            <p:cNvPr id="45" name="Text 41"/>
            <p:cNvSpPr txBox="1"/>
            <p:nvPr/>
          </p:nvSpPr>
          <p:spPr>
            <a:xfrm>
              <a:off x="6308224" y="5376015"/>
              <a:ext cx="255445" cy="257369"/>
            </a:xfrm>
            <a:prstGeom prst="rect">
              <a:avLst/>
            </a:prstGeom>
            <a:noFill/>
            <a:ln/>
          </p:spPr>
          <p:txBody>
            <a:bodyPr wrap="none" lIns="36000" tIns="36000" rIns="36000" bIns="36000" rtlCol="0" anchor="ctr">
              <a:spAutoFit/>
            </a:bodyPr>
            <a:lstStyle/>
            <a:p>
              <a:pPr marL="0" indent="0" algn="l">
                <a:buNone/>
              </a:pPr>
              <a:r>
                <a:rPr lang="ja-JP" sz="1200" b="1" noProof="0" dirty="0">
                  <a:solidFill>
                    <a:srgbClr val="3CAEA3"/>
                  </a:solidFill>
                  <a:latin typeface="Noto Sans JP" panose="020B0200000000000000" pitchFamily="50" charset="-128"/>
                  <a:ea typeface="Noto Sans JP" panose="020B0200000000000000" pitchFamily="50" charset="-128"/>
                  <a:cs typeface="Noto Sans JP" pitchFamily="34" charset="-120"/>
                </a:rPr>
                <a:t>05</a:t>
              </a:r>
              <a:endParaRPr lang="ja-JP" sz="1200" noProof="0" dirty="0">
                <a:solidFill>
                  <a:srgbClr val="3CAEA3"/>
                </a:solidFill>
                <a:latin typeface="Noto Sans JP" panose="020B0200000000000000" pitchFamily="50" charset="-128"/>
                <a:ea typeface="Noto Sans JP" panose="020B0200000000000000" pitchFamily="50" charset="-128"/>
              </a:endParaRPr>
            </a:p>
          </p:txBody>
        </p:sp>
        <p:sp>
          <p:nvSpPr>
            <p:cNvPr id="46" name="Text 42"/>
            <p:cNvSpPr txBox="1"/>
            <p:nvPr/>
          </p:nvSpPr>
          <p:spPr>
            <a:xfrm>
              <a:off x="6594431" y="5389774"/>
              <a:ext cx="1342281" cy="241980"/>
            </a:xfrm>
            <a:prstGeom prst="rect">
              <a:avLst/>
            </a:prstGeom>
            <a:noFill/>
            <a:ln/>
          </p:spPr>
          <p:txBody>
            <a:bodyPr wrap="none" lIns="36000" tIns="36000" rIns="36000" bIns="36000" rtlCol="0" anchor="ctr">
              <a:spAutoFit/>
            </a:bodyPr>
            <a:lstStyle/>
            <a:p>
              <a:pPr marL="0" indent="0" algn="l">
                <a:buNone/>
              </a:pPr>
              <a:r>
                <a:rPr lang="ja-JP" sz="1100" b="1" noProof="0" dirty="0">
                  <a:solidFill>
                    <a:srgbClr val="081F3A"/>
                  </a:solidFill>
                  <a:latin typeface="Noto Sans JP" panose="020B0200000000000000" pitchFamily="50" charset="-128"/>
                  <a:ea typeface="Noto Sans JP" panose="020B0200000000000000" pitchFamily="50" charset="-128"/>
                  <a:cs typeface="Noto Sans JP" pitchFamily="34" charset="-120"/>
                </a:rPr>
                <a:t>地域ガイド・専門家</a:t>
              </a:r>
              <a:endParaRPr lang="ja-JP" sz="1100" noProof="0" dirty="0">
                <a:latin typeface="Noto Sans JP" panose="020B0200000000000000" pitchFamily="50" charset="-128"/>
                <a:ea typeface="Noto Sans JP" panose="020B0200000000000000" pitchFamily="50" charset="-128"/>
              </a:endParaRPr>
            </a:p>
          </p:txBody>
        </p:sp>
        <p:sp>
          <p:nvSpPr>
            <p:cNvPr id="47" name="Text 43"/>
            <p:cNvSpPr txBox="1"/>
            <p:nvPr/>
          </p:nvSpPr>
          <p:spPr>
            <a:xfrm>
              <a:off x="6594431" y="5669010"/>
              <a:ext cx="4464000" cy="226591"/>
            </a:xfrm>
            <a:prstGeom prst="rect">
              <a:avLst/>
            </a:prstGeom>
            <a:noFill/>
            <a:ln/>
          </p:spPr>
          <p:txBody>
            <a:bodyPr wrap="square" lIns="36000" tIns="36000" rIns="36000" bIns="36000" rtlCol="0" anchor="ctr">
              <a:spAutoFit/>
            </a:bodyPr>
            <a:lstStyle/>
            <a:p>
              <a:pPr marL="0" indent="0" algn="l">
                <a:buNone/>
              </a:pPr>
              <a:r>
                <a:rPr lang="ja-JP" sz="1000" noProof="0" dirty="0">
                  <a:solidFill>
                    <a:srgbClr val="404A57"/>
                  </a:solidFill>
                  <a:latin typeface="Noto Sans JP" panose="020B0200000000000000" pitchFamily="50" charset="-128"/>
                  <a:ea typeface="Noto Sans JP" panose="020B0200000000000000" pitchFamily="50" charset="-128"/>
                  <a:cs typeface="Noto Sans JP" pitchFamily="34" charset="-120"/>
                </a:rPr>
                <a:t>公認ガイド・通訳案内士、職人・文化人・生産者とつながる機会をご提案</a:t>
              </a:r>
              <a:endParaRPr lang="ja-JP" sz="1000" noProof="0" dirty="0">
                <a:latin typeface="Noto Sans JP" panose="020B0200000000000000" pitchFamily="50" charset="-128"/>
                <a:ea typeface="Noto Sans JP" panose="020B0200000000000000" pitchFamily="50" charset="-128"/>
              </a:endParaRPr>
            </a:p>
          </p:txBody>
        </p:sp>
        <p:sp>
          <p:nvSpPr>
            <p:cNvPr id="76" name="Shape 5">
              <a:extLst>
                <a:ext uri="{FF2B5EF4-FFF2-40B4-BE49-F238E27FC236}">
                  <a16:creationId xmlns:a16="http://schemas.microsoft.com/office/drawing/2014/main" id="{5F2F6348-DB92-84B7-7F02-AEDC9D1B6AA4}"/>
                </a:ext>
              </a:extLst>
            </p:cNvPr>
            <p:cNvSpPr/>
            <p:nvPr/>
          </p:nvSpPr>
          <p:spPr>
            <a:xfrm>
              <a:off x="6118029" y="5307853"/>
              <a:ext cx="45719" cy="684000"/>
            </a:xfrm>
            <a:prstGeom prst="rect">
              <a:avLst/>
            </a:prstGeom>
            <a:solidFill>
              <a:srgbClr val="3CAEA3"/>
            </a:solidFill>
            <a:ln w="12700">
              <a:solidFill>
                <a:srgbClr val="3CAEA3">
                  <a:alpha val="0"/>
                </a:srgbClr>
              </a:solidFill>
              <a:prstDash val="solid"/>
            </a:ln>
          </p:spPr>
          <p:txBody>
            <a:bodyPr/>
            <a:lstStyle/>
            <a:p>
              <a:endParaRPr lang="ja-JP" sz="2000" noProof="0" dirty="0">
                <a:latin typeface="Noto Sans JP" panose="020B0200000000000000" pitchFamily="50" charset="-128"/>
                <a:ea typeface="Noto Sans JP" panose="020B0200000000000000" pitchFamily="50" charset="-128"/>
              </a:endParaRPr>
            </a:p>
          </p:txBody>
        </p:sp>
      </p:grpSp>
      <p:sp>
        <p:nvSpPr>
          <p:cNvPr id="77" name="Text 23">
            <a:extLst>
              <a:ext uri="{FF2B5EF4-FFF2-40B4-BE49-F238E27FC236}">
                <a16:creationId xmlns:a16="http://schemas.microsoft.com/office/drawing/2014/main" id="{F6DA12B1-FBAB-50CA-3211-3B40A33CD292}"/>
              </a:ext>
            </a:extLst>
          </p:cNvPr>
          <p:cNvSpPr txBox="1"/>
          <p:nvPr/>
        </p:nvSpPr>
        <p:spPr>
          <a:xfrm>
            <a:off x="5412572" y="3532964"/>
            <a:ext cx="534368" cy="349702"/>
          </a:xfrm>
          <a:prstGeom prst="rect">
            <a:avLst/>
          </a:prstGeom>
          <a:noFill/>
          <a:ln/>
        </p:spPr>
        <p:txBody>
          <a:bodyPr wrap="none" lIns="36000" tIns="36000" rIns="36000" bIns="36000" rtlCol="0" anchor="ctr">
            <a:spAutoFit/>
          </a:bodyPr>
          <a:lstStyle/>
          <a:p>
            <a:pPr marL="0" indent="0" algn="ctr">
              <a:buNone/>
            </a:pPr>
            <a:r>
              <a:rPr lang="ja-JP" altLang="en-US" sz="900" b="1" noProof="0" dirty="0">
                <a:solidFill>
                  <a:srgbClr val="3CAEA3"/>
                </a:solidFill>
                <a:latin typeface="Noto Sans JP" panose="020B0200000000000000" pitchFamily="50" charset="-128"/>
                <a:ea typeface="Noto Sans JP" panose="020B0200000000000000" pitchFamily="50" charset="-128"/>
              </a:rPr>
              <a:t>現地との</a:t>
            </a:r>
            <a:endParaRPr lang="en-US" altLang="ja-JP" sz="900" b="1" noProof="0" dirty="0">
              <a:solidFill>
                <a:srgbClr val="3CAEA3"/>
              </a:solidFill>
              <a:latin typeface="Noto Sans JP" panose="020B0200000000000000" pitchFamily="50" charset="-128"/>
              <a:ea typeface="Noto Sans JP" panose="020B0200000000000000" pitchFamily="50" charset="-128"/>
            </a:endParaRPr>
          </a:p>
          <a:p>
            <a:pPr marL="0" indent="0" algn="ctr">
              <a:buNone/>
            </a:pPr>
            <a:r>
              <a:rPr lang="ja-JP" altLang="en-US" sz="900" b="1" dirty="0">
                <a:solidFill>
                  <a:srgbClr val="3CAEA3"/>
                </a:solidFill>
                <a:latin typeface="Noto Sans JP" panose="020B0200000000000000" pitchFamily="50" charset="-128"/>
                <a:ea typeface="Noto Sans JP" panose="020B0200000000000000" pitchFamily="50" charset="-128"/>
              </a:rPr>
              <a:t>調整</a:t>
            </a:r>
            <a:endParaRPr lang="ja-JP" sz="900" noProof="0" dirty="0">
              <a:latin typeface="Noto Sans JP" panose="020B0200000000000000" pitchFamily="50" charset="-128"/>
              <a:ea typeface="Noto Sans JP" panose="020B0200000000000000"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a:spLocks/>
          </p:cNvSpPr>
          <p:nvPr/>
        </p:nvSpPr>
        <p:spPr>
          <a:xfrm>
            <a:off x="571500" y="2060500"/>
            <a:ext cx="2664000" cy="4416638"/>
          </a:xfrm>
          <a:prstGeom prst="rect">
            <a:avLst/>
          </a:prstGeom>
          <a:solidFill>
            <a:schemeClr val="bg1"/>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51" name="Google Shape;69;g32f3a9a361b_0_4">
            <a:extLst>
              <a:ext uri="{FF2B5EF4-FFF2-40B4-BE49-F238E27FC236}">
                <a16:creationId xmlns:a16="http://schemas.microsoft.com/office/drawing/2014/main" id="{58A62CD7-F677-D8D6-BF23-0142125F2394}"/>
              </a:ext>
            </a:extLst>
          </p:cNvPr>
          <p:cNvPicPr preferRelativeResize="0">
            <a:picLocks/>
          </p:cNvPicPr>
          <p:nvPr/>
        </p:nvPicPr>
        <p:blipFill>
          <a:blip r:embed="rId3">
            <a:alphaModFix/>
          </a:blip>
          <a:srcRect t="3667" b="14458"/>
          <a:stretch>
            <a:fillRect/>
          </a:stretch>
        </p:blipFill>
        <p:spPr>
          <a:xfrm>
            <a:off x="561097" y="2037627"/>
            <a:ext cx="2674403" cy="1641600"/>
          </a:xfrm>
          <a:prstGeom prst="rect">
            <a:avLst/>
          </a:prstGeom>
          <a:noFill/>
          <a:ln>
            <a:noFill/>
          </a:ln>
        </p:spPr>
      </p:pic>
      <p:pic>
        <p:nvPicPr>
          <p:cNvPr id="23" name="Image 9" descr="gen-dedup-468f209c8b765fcabfd32ae0c933e113.png"/>
          <p:cNvPicPr>
            <a:picLocks noChangeAspect="1"/>
          </p:cNvPicPr>
          <p:nvPr/>
        </p:nvPicPr>
        <p:blipFill>
          <a:blip r:embed="rId4"/>
          <a:srcRect l="-404" r="-404"/>
          <a:stretch/>
        </p:blipFill>
        <p:spPr>
          <a:xfrm>
            <a:off x="571500" y="1202311"/>
            <a:ext cx="571500" cy="28346"/>
          </a:xfrm>
          <a:prstGeom prst="rect">
            <a:avLst/>
          </a:prstGeom>
        </p:spPr>
      </p:pic>
      <p:sp>
        <p:nvSpPr>
          <p:cNvPr id="24" name="Text 12"/>
          <p:cNvSpPr txBox="1"/>
          <p:nvPr/>
        </p:nvSpPr>
        <p:spPr>
          <a:xfrm>
            <a:off x="571500" y="308417"/>
            <a:ext cx="1483346" cy="241788"/>
          </a:xfrm>
          <a:prstGeom prst="rect">
            <a:avLst/>
          </a:prstGeom>
          <a:noFill/>
          <a:ln/>
        </p:spPr>
        <p:txBody>
          <a:bodyPr wrap="none" lIns="36000" tIns="36000" rIns="36000" bIns="36000" rtlCol="0" anchor="ctr">
            <a:spAutoFit/>
          </a:bodyPr>
          <a:lstStyle>
            <a:lvl1pPr indent="0">
              <a:lnSpc>
                <a:spcPct val="120000"/>
              </a:lnSpc>
              <a:spcBef>
                <a:spcPts val="300"/>
              </a:spcBef>
              <a:buNone/>
              <a:defRPr sz="1000" b="1">
                <a:solidFill>
                  <a:srgbClr val="3CAEA3"/>
                </a:solidFill>
                <a:latin typeface="Noto Sans JP" pitchFamily="34" charset="0"/>
                <a:ea typeface="Noto Sans JP" pitchFamily="34" charset="-122"/>
                <a:cs typeface="Noto Sans JP" pitchFamily="34" charset="-120"/>
              </a:defRPr>
            </a:lvl1pPr>
          </a:lstStyle>
          <a:p>
            <a:r>
              <a:rPr lang="ja-JP" noProof="0" dirty="0">
                <a:latin typeface="Noto Sans JP" panose="020B0200000000000000" pitchFamily="50" charset="-128"/>
                <a:ea typeface="Noto Sans JP" panose="020B0200000000000000" pitchFamily="50" charset="-128"/>
              </a:rPr>
              <a:t>ご案内可能コンテンツ例</a:t>
            </a:r>
          </a:p>
        </p:txBody>
      </p:sp>
      <p:sp>
        <p:nvSpPr>
          <p:cNvPr id="25" name="Text 13"/>
          <p:cNvSpPr txBox="1"/>
          <p:nvPr/>
        </p:nvSpPr>
        <p:spPr>
          <a:xfrm>
            <a:off x="571499" y="709896"/>
            <a:ext cx="11546159" cy="411257"/>
          </a:xfrm>
          <a:prstGeom prst="rect">
            <a:avLst/>
          </a:prstGeom>
          <a:noFill/>
          <a:ln/>
        </p:spPr>
        <p:txBody>
          <a:bodyPr wrap="square" lIns="36000" tIns="36000" rIns="36000" bIns="36000" rtlCol="0" anchor="t">
            <a:spAutoFit/>
          </a:bodyPr>
          <a:lstStyle/>
          <a:p>
            <a:pPr marL="0" indent="0" algn="l">
              <a:spcBef>
                <a:spcPts val="300"/>
              </a:spcBef>
              <a:buNone/>
            </a:pPr>
            <a:r>
              <a:rPr lang="ja-JP"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東京の</a:t>
            </a:r>
            <a:r>
              <a:rPr lang="ja-JP" sz="2200" b="1" noProof="0" dirty="0">
                <a:solidFill>
                  <a:srgbClr val="ED8B3C"/>
                </a:solidFill>
                <a:latin typeface="Noto Sans JP" panose="020B0200000000000000" pitchFamily="50" charset="-128"/>
                <a:ea typeface="Noto Sans JP" panose="020B0200000000000000" pitchFamily="50" charset="-128"/>
                <a:cs typeface="Noto Sans JP" pitchFamily="34" charset="-120"/>
              </a:rPr>
              <a:t>個別アクティビティ</a:t>
            </a:r>
            <a:r>
              <a:rPr lang="ja-JP"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 ― </a:t>
            </a:r>
            <a:r>
              <a:rPr lang="ja-JP" altLang="en-US"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デクスターが現地知見を基にご提案する個別アクティビティ</a:t>
            </a:r>
            <a:endParaRPr lang="ja-JP" sz="2200" noProof="0" dirty="0">
              <a:latin typeface="Noto Sans JP" panose="020B0200000000000000" pitchFamily="50" charset="-128"/>
              <a:ea typeface="Noto Sans JP" panose="020B0200000000000000" pitchFamily="50" charset="-128"/>
            </a:endParaRPr>
          </a:p>
        </p:txBody>
      </p:sp>
      <p:sp>
        <p:nvSpPr>
          <p:cNvPr id="26" name="Text 14"/>
          <p:cNvSpPr txBox="1"/>
          <p:nvPr/>
        </p:nvSpPr>
        <p:spPr>
          <a:xfrm>
            <a:off x="571500" y="1364160"/>
            <a:ext cx="11049610" cy="278722"/>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altLang="en-US" sz="1200" noProof="0" dirty="0">
                <a:solidFill>
                  <a:srgbClr val="081F3A"/>
                </a:solidFill>
                <a:latin typeface="Noto Sans JP" panose="020B0200000000000000" pitchFamily="50" charset="-128"/>
                <a:ea typeface="Noto Sans JP" panose="020B0200000000000000" pitchFamily="50" charset="-128"/>
                <a:cs typeface="Noto Sans JP" pitchFamily="34" charset="-120"/>
              </a:rPr>
              <a:t>デクスターが現地を訪れ、事業者との対話や実体験を通じて、その魅力や受入体制を確認した東京エリアの個別アクティビティ例です。</a:t>
            </a:r>
            <a:endParaRPr lang="ja-JP" sz="1200" noProof="0" dirty="0">
              <a:latin typeface="Noto Sans JP" panose="020B0200000000000000" pitchFamily="50" charset="-128"/>
              <a:ea typeface="Noto Sans JP" panose="020B0200000000000000" pitchFamily="50" charset="-128"/>
            </a:endParaRPr>
          </a:p>
        </p:txBody>
      </p:sp>
      <p:pic>
        <p:nvPicPr>
          <p:cNvPr id="7" name="Image 1" descr="gen-dedup-0466907e93d70cee6b7afe44fc6a3219.png"/>
          <p:cNvPicPr>
            <a:picLocks noChangeAspect="1"/>
          </p:cNvPicPr>
          <p:nvPr/>
        </p:nvPicPr>
        <p:blipFill>
          <a:blip r:embed="rId5"/>
          <a:srcRect t="1994" b="1994"/>
          <a:stretch/>
        </p:blipFill>
        <p:spPr>
          <a:xfrm>
            <a:off x="669469" y="5570961"/>
            <a:ext cx="2520000" cy="9750"/>
          </a:xfrm>
          <a:prstGeom prst="rect">
            <a:avLst/>
          </a:prstGeom>
        </p:spPr>
      </p:pic>
      <p:sp>
        <p:nvSpPr>
          <p:cNvPr id="27" name="Text 15"/>
          <p:cNvSpPr txBox="1"/>
          <p:nvPr/>
        </p:nvSpPr>
        <p:spPr>
          <a:xfrm>
            <a:off x="669469" y="3819320"/>
            <a:ext cx="765200" cy="2248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東京都江東区</a:t>
            </a:r>
            <a:endParaRPr lang="ja-JP" sz="900" noProof="0" dirty="0">
              <a:latin typeface="Noto Sans JP" panose="020B0200000000000000" pitchFamily="50" charset="-128"/>
              <a:ea typeface="Noto Sans JP" panose="020B0200000000000000" pitchFamily="50" charset="-128"/>
            </a:endParaRPr>
          </a:p>
        </p:txBody>
      </p:sp>
      <p:sp>
        <p:nvSpPr>
          <p:cNvPr id="28" name="Text 16"/>
          <p:cNvSpPr txBox="1"/>
          <p:nvPr/>
        </p:nvSpPr>
        <p:spPr>
          <a:xfrm>
            <a:off x="669469" y="4119093"/>
            <a:ext cx="2520000" cy="464926"/>
          </a:xfrm>
          <a:prstGeom prst="rect">
            <a:avLst/>
          </a:prstGeom>
          <a:noFill/>
          <a:ln/>
        </p:spPr>
        <p:txBody>
          <a:bodyPr wrap="square" lIns="36000" tIns="36000" rIns="36000" bIns="36000" rtlCol="0" anchor="t">
            <a:spAutoFit/>
          </a:bodyPr>
          <a:lstStyle>
            <a:lvl1pPr indent="0">
              <a:lnSpc>
                <a:spcPct val="120000"/>
              </a:lnSpc>
              <a:spcBef>
                <a:spcPts val="300"/>
              </a:spcBef>
              <a:buNone/>
              <a:defRPr sz="1000" b="1">
                <a:solidFill>
                  <a:srgbClr val="081F3A"/>
                </a:solidFill>
                <a:latin typeface="Noto Sans JP" panose="020B0200000000000000" pitchFamily="50" charset="-128"/>
                <a:ea typeface="Noto Sans JP" panose="020B0200000000000000" pitchFamily="50" charset="-128"/>
                <a:cs typeface="Noto Sans JP" pitchFamily="34" charset="-120"/>
              </a:defRPr>
            </a:lvl1pPr>
          </a:lstStyle>
          <a:p>
            <a:r>
              <a:rPr lang="ja-JP" altLang="en-US" dirty="0"/>
              <a:t>豊洲</a:t>
            </a:r>
            <a:r>
              <a:rPr lang="en-US" altLang="ja-JP" dirty="0"/>
              <a:t>&amp;</a:t>
            </a:r>
            <a:r>
              <a:rPr lang="ja-JP" altLang="en-US" dirty="0"/>
              <a:t>築地でマグロの仕入れ</a:t>
            </a:r>
          </a:p>
          <a:p>
            <a:r>
              <a:rPr lang="ja-JP" altLang="en-US" dirty="0"/>
              <a:t>＋寿司を握る体験</a:t>
            </a:r>
          </a:p>
        </p:txBody>
      </p:sp>
      <p:sp>
        <p:nvSpPr>
          <p:cNvPr id="29" name="Text 17"/>
          <p:cNvSpPr txBox="1"/>
          <p:nvPr/>
        </p:nvSpPr>
        <p:spPr>
          <a:xfrm>
            <a:off x="669469" y="4555502"/>
            <a:ext cx="2520000" cy="557259"/>
          </a:xfrm>
          <a:prstGeom prst="rect">
            <a:avLst/>
          </a:prstGeom>
          <a:noFill/>
          <a:ln/>
        </p:spPr>
        <p:txBody>
          <a:bodyPr wrap="square" lIns="36000" tIns="36000" rIns="36000" bIns="36000" rtlCol="0" anchor="t">
            <a:spAutoFit/>
          </a:bodyPr>
          <a:lstStyle/>
          <a:p>
            <a:pPr>
              <a:lnSpc>
                <a:spcPct val="120000"/>
              </a:lnSpc>
            </a:pPr>
            <a:r>
              <a:rPr lang="ja-JP" sz="900" noProof="0" dirty="0">
                <a:latin typeface="Noto Sans JP" panose="020B0200000000000000" pitchFamily="50" charset="-128"/>
                <a:ea typeface="Noto Sans JP" panose="020B0200000000000000" pitchFamily="50" charset="-128"/>
                <a:cs typeface="Noto Sans JP" pitchFamily="34" charset="-120"/>
              </a:rPr>
              <a:t>豊洲でブロックを購入し、旧築地に立ち寄り</a:t>
            </a:r>
            <a:r>
              <a:rPr lang="ja-JP" altLang="en-US" sz="900" noProof="0" dirty="0">
                <a:latin typeface="Noto Sans JP" panose="020B0200000000000000" pitchFamily="50" charset="-128"/>
                <a:ea typeface="Noto Sans JP" panose="020B0200000000000000" pitchFamily="50" charset="-128"/>
                <a:cs typeface="Noto Sans JP" pitchFamily="34" charset="-120"/>
              </a:rPr>
              <a:t>、</a:t>
            </a:r>
            <a:r>
              <a:rPr lang="ja-US" altLang="ja-JP" sz="900" dirty="0">
                <a:latin typeface="Noto Sans JP" panose="020B0200000000000000" pitchFamily="50" charset="-128"/>
                <a:ea typeface="Noto Sans JP" panose="020B0200000000000000" pitchFamily="50" charset="-128"/>
                <a:cs typeface="Noto Sans NKo" panose="020B0502040504020204" pitchFamily="34" charset="0"/>
              </a:rPr>
              <a:t> マグロを捌いて寿司を握る体験</a:t>
            </a:r>
            <a:r>
              <a:rPr lang="ja-JP" altLang="en-US" sz="900" dirty="0">
                <a:latin typeface="Noto Sans JP" panose="020B0200000000000000" pitchFamily="50" charset="-128"/>
                <a:ea typeface="Noto Sans JP" panose="020B0200000000000000" pitchFamily="50" charset="-128"/>
                <a:cs typeface="Noto Sans NKo" panose="020B0502040504020204" pitchFamily="34" charset="0"/>
              </a:rPr>
              <a:t>。</a:t>
            </a:r>
            <a:r>
              <a:rPr lang="ja-JP" altLang="en-US" sz="900" noProof="0" dirty="0">
                <a:latin typeface="Noto Sans JP" panose="020B0200000000000000" pitchFamily="50" charset="-128"/>
                <a:ea typeface="Noto Sans JP" panose="020B0200000000000000" pitchFamily="50" charset="-128"/>
                <a:cs typeface="Noto Sans JP" pitchFamily="34" charset="-120"/>
              </a:rPr>
              <a:t>生マグロを部位ごとに食べ比べ</a:t>
            </a:r>
            <a:endParaRPr lang="ja-JP" sz="900" noProof="0" dirty="0">
              <a:latin typeface="Noto Sans JP" panose="020B0200000000000000" pitchFamily="50" charset="-128"/>
              <a:ea typeface="Noto Sans JP" panose="020B0200000000000000" pitchFamily="50" charset="-128"/>
            </a:endParaRPr>
          </a:p>
        </p:txBody>
      </p:sp>
      <p:sp>
        <p:nvSpPr>
          <p:cNvPr id="30" name="Text 18"/>
          <p:cNvSpPr txBox="1"/>
          <p:nvPr/>
        </p:nvSpPr>
        <p:spPr>
          <a:xfrm>
            <a:off x="669468" y="5595459"/>
            <a:ext cx="2520000" cy="227169"/>
          </a:xfrm>
          <a:prstGeom prst="rect">
            <a:avLst/>
          </a:prstGeom>
          <a:noFill/>
          <a:ln/>
        </p:spPr>
        <p:txBody>
          <a:bodyPr wrap="square" lIns="36000" tIns="36000" rIns="36000" bIns="36000" rtlCol="0" anchor="ctr">
            <a:spAutoFit/>
          </a:bodyPr>
          <a:lstStyle/>
          <a:p>
            <a:pPr marL="266700" indent="-26670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31" name="Text 19"/>
          <p:cNvSpPr txBox="1"/>
          <p:nvPr/>
        </p:nvSpPr>
        <p:spPr>
          <a:xfrm>
            <a:off x="669469" y="5849371"/>
            <a:ext cx="2520000" cy="227169"/>
          </a:xfrm>
          <a:prstGeom prst="rect">
            <a:avLst/>
          </a:prstGeom>
          <a:noFill/>
          <a:ln/>
        </p:spPr>
        <p:txBody>
          <a:bodyPr wrap="square" lIns="36000" tIns="36000" rIns="36000" bIns="36000" rtlCol="0" anchor="t">
            <a:spAutoFit/>
          </a:bodyPr>
          <a:lstStyle/>
          <a:p>
            <a:pPr marL="266700" indent="-266700" algn="l">
              <a:lnSpc>
                <a:spcPct val="120000"/>
              </a:lnSpc>
              <a:buNone/>
              <a:tabLst>
                <a:tab pos="266700" algn="l"/>
              </a:tabLst>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en-US" altLang="ja-JP" sz="900" b="1" dirty="0">
                <a:solidFill>
                  <a:srgbClr val="081F3A"/>
                </a:solidFill>
                <a:latin typeface="Noto Sans JP" panose="020B0200000000000000" pitchFamily="50" charset="-128"/>
                <a:ea typeface="Noto Sans JP" panose="020B0200000000000000" pitchFamily="50" charset="-128"/>
                <a:cs typeface="Noto Sans JP" pitchFamily="34" charset="-120"/>
              </a:rPr>
              <a:t>	</a:t>
            </a: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食文化関心の高い欧米VIP・リピーター</a:t>
            </a:r>
            <a:endParaRPr lang="ja-JP" sz="900" noProof="0" dirty="0">
              <a:latin typeface="Noto Sans JP" panose="020B0200000000000000" pitchFamily="50" charset="-128"/>
              <a:ea typeface="Noto Sans JP" panose="020B0200000000000000" pitchFamily="50" charset="-128"/>
            </a:endParaRPr>
          </a:p>
        </p:txBody>
      </p:sp>
      <p:sp>
        <p:nvSpPr>
          <p:cNvPr id="32" name="Text 20"/>
          <p:cNvSpPr txBox="1"/>
          <p:nvPr/>
        </p:nvSpPr>
        <p:spPr>
          <a:xfrm>
            <a:off x="669469" y="6102592"/>
            <a:ext cx="2520000" cy="391060"/>
          </a:xfrm>
          <a:prstGeom prst="rect">
            <a:avLst/>
          </a:prstGeom>
          <a:noFill/>
          <a:ln/>
        </p:spPr>
        <p:txBody>
          <a:bodyPr wrap="square" lIns="36000" tIns="36000" rIns="36000" bIns="36000" rtlCol="0" anchor="t">
            <a:spAutoFit/>
          </a:bodyPr>
          <a:lstStyle/>
          <a:p>
            <a:pPr marL="266700" indent="-266700" algn="l">
              <a:lnSpc>
                <a:spcPct val="120000"/>
              </a:lnSpc>
              <a:spcBef>
                <a:spcPts val="300"/>
              </a:spcBef>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en-US" altLang="ja-JP" sz="900" b="1"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観光ではなく、日本の食文化の裏側を知りたい</a:t>
            </a:r>
            <a:endParaRPr lang="ja-JP" sz="900" noProof="0" dirty="0">
              <a:latin typeface="Noto Sans JP" panose="020B0200000000000000" pitchFamily="50" charset="-128"/>
              <a:ea typeface="Noto Sans JP" panose="020B0200000000000000" pitchFamily="50" charset="-128"/>
            </a:endParaRPr>
          </a:p>
        </p:txBody>
      </p:sp>
      <p:sp>
        <p:nvSpPr>
          <p:cNvPr id="3" name="Shape 1"/>
          <p:cNvSpPr>
            <a:spLocks/>
          </p:cNvSpPr>
          <p:nvPr/>
        </p:nvSpPr>
        <p:spPr>
          <a:xfrm>
            <a:off x="3471840" y="2060500"/>
            <a:ext cx="2664000" cy="4416638"/>
          </a:xfrm>
          <a:prstGeom prst="rect">
            <a:avLst/>
          </a:prstGeom>
          <a:solidFill>
            <a:schemeClr val="bg1"/>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8" name="Image 2" descr="gen-dedup-ff3ac9a347df654eedfd355bbfafe0db.jpg"/>
          <p:cNvPicPr preferRelativeResize="0">
            <a:picLocks/>
          </p:cNvPicPr>
          <p:nvPr/>
        </p:nvPicPr>
        <p:blipFill>
          <a:blip r:embed="rId6"/>
          <a:stretch>
            <a:fillRect/>
          </a:stretch>
        </p:blipFill>
        <p:spPr>
          <a:xfrm>
            <a:off x="3471840" y="2037627"/>
            <a:ext cx="2664000" cy="1641600"/>
          </a:xfrm>
          <a:prstGeom prst="rect">
            <a:avLst/>
          </a:prstGeom>
        </p:spPr>
      </p:pic>
      <p:pic>
        <p:nvPicPr>
          <p:cNvPr id="9" name="Image 3" descr="gen-dedup-0466907e93d70cee6b7afe44fc6a3219.png"/>
          <p:cNvPicPr>
            <a:picLocks noChangeAspect="1"/>
          </p:cNvPicPr>
          <p:nvPr/>
        </p:nvPicPr>
        <p:blipFill>
          <a:blip r:embed="rId5"/>
          <a:srcRect t="1994" b="1994"/>
          <a:stretch/>
        </p:blipFill>
        <p:spPr>
          <a:xfrm>
            <a:off x="3569809" y="5570961"/>
            <a:ext cx="2520000" cy="9750"/>
          </a:xfrm>
          <a:prstGeom prst="rect">
            <a:avLst/>
          </a:prstGeom>
        </p:spPr>
      </p:pic>
      <p:sp>
        <p:nvSpPr>
          <p:cNvPr id="33" name="Text 21"/>
          <p:cNvSpPr txBox="1"/>
          <p:nvPr/>
        </p:nvSpPr>
        <p:spPr>
          <a:xfrm>
            <a:off x="3569809" y="3819320"/>
            <a:ext cx="1226865" cy="2248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東京・新宿・夕方〜夜</a:t>
            </a:r>
            <a:endParaRPr lang="ja-JP" sz="900" noProof="0" dirty="0">
              <a:latin typeface="Noto Sans JP" panose="020B0200000000000000" pitchFamily="50" charset="-128"/>
              <a:ea typeface="Noto Sans JP" panose="020B0200000000000000" pitchFamily="50" charset="-128"/>
            </a:endParaRPr>
          </a:p>
        </p:txBody>
      </p:sp>
      <p:sp>
        <p:nvSpPr>
          <p:cNvPr id="34" name="Text 22"/>
          <p:cNvSpPr txBox="1"/>
          <p:nvPr/>
        </p:nvSpPr>
        <p:spPr>
          <a:xfrm>
            <a:off x="3569809" y="4119093"/>
            <a:ext cx="2520000" cy="241788"/>
          </a:xfrm>
          <a:prstGeom prst="rect">
            <a:avLst/>
          </a:prstGeom>
          <a:noFill/>
          <a:ln/>
        </p:spPr>
        <p:txBody>
          <a:bodyPr wrap="square" lIns="36000" tIns="36000" rIns="36000" bIns="36000" rtlCol="0" anchor="t">
            <a:spAutoFit/>
          </a:bodyPr>
          <a:lstStyle>
            <a:lvl1pPr indent="0">
              <a:lnSpc>
                <a:spcPct val="120000"/>
              </a:lnSpc>
              <a:spcBef>
                <a:spcPts val="300"/>
              </a:spcBef>
              <a:buNone/>
              <a:defRPr sz="1000" b="1">
                <a:solidFill>
                  <a:srgbClr val="081F3A"/>
                </a:solidFill>
                <a:latin typeface="Noto Sans JP" panose="020B0200000000000000" pitchFamily="50" charset="-128"/>
                <a:ea typeface="Noto Sans JP" panose="020B0200000000000000" pitchFamily="50" charset="-128"/>
                <a:cs typeface="Noto Sans JP" pitchFamily="34" charset="-120"/>
              </a:defRPr>
            </a:lvl1pPr>
          </a:lstStyle>
          <a:p>
            <a:r>
              <a:rPr lang="ja-JP" noProof="0" dirty="0"/>
              <a:t>盆踊り体験 ＋ 居酒屋巡り</a:t>
            </a:r>
          </a:p>
        </p:txBody>
      </p:sp>
      <p:sp>
        <p:nvSpPr>
          <p:cNvPr id="35" name="Text 23"/>
          <p:cNvSpPr txBox="1"/>
          <p:nvPr/>
        </p:nvSpPr>
        <p:spPr>
          <a:xfrm>
            <a:off x="3569809" y="4555502"/>
            <a:ext cx="2520000" cy="557259"/>
          </a:xfrm>
          <a:prstGeom prst="rect">
            <a:avLst/>
          </a:prstGeom>
          <a:noFill/>
          <a:ln/>
        </p:spPr>
        <p:txBody>
          <a:bodyPr wrap="square" lIns="36000" tIns="36000" rIns="36000" bIns="36000" rtlCol="0" anchor="t">
            <a:spAutoFit/>
          </a:bodyPr>
          <a:lstStyle/>
          <a:p>
            <a:pPr marL="0" indent="0" algn="l">
              <a:lnSpc>
                <a:spcPct val="120000"/>
              </a:lnSpc>
              <a:buNone/>
            </a:pPr>
            <a:r>
              <a:rPr lang="ja-JP" sz="900" noProof="0" dirty="0">
                <a:latin typeface="Noto Sans JP" panose="020B0200000000000000" pitchFamily="50" charset="-128"/>
                <a:ea typeface="Noto Sans JP" panose="020B0200000000000000" pitchFamily="50" charset="-128"/>
                <a:cs typeface="Noto Sans JP" pitchFamily="34" charset="-120"/>
              </a:rPr>
              <a:t>新宿の盆踊り居酒屋へご招待。盆踊りを見て、踊って、地元の人々と交流しながら、日本ならではの祭り文化と夜の賑わいを体験します</a:t>
            </a:r>
            <a:endParaRPr lang="ja-JP" sz="900" noProof="0" dirty="0">
              <a:latin typeface="Noto Sans JP" panose="020B0200000000000000" pitchFamily="50" charset="-128"/>
              <a:ea typeface="Noto Sans JP" panose="020B0200000000000000" pitchFamily="50" charset="-128"/>
            </a:endParaRPr>
          </a:p>
        </p:txBody>
      </p:sp>
      <p:sp>
        <p:nvSpPr>
          <p:cNvPr id="36" name="Text 24"/>
          <p:cNvSpPr txBox="1"/>
          <p:nvPr/>
        </p:nvSpPr>
        <p:spPr>
          <a:xfrm>
            <a:off x="3569808" y="5595459"/>
            <a:ext cx="2520000" cy="227169"/>
          </a:xfrm>
          <a:prstGeom prst="rect">
            <a:avLst/>
          </a:prstGeom>
          <a:noFill/>
          <a:ln/>
        </p:spPr>
        <p:txBody>
          <a:bodyPr wrap="square" lIns="36000" tIns="36000" rIns="36000" bIns="36000" rtlCol="0" anchor="ctr">
            <a:spAutoFit/>
          </a:bodyPr>
          <a:lstStyle/>
          <a:p>
            <a:pPr marL="266700" indent="-26670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37" name="Text 25"/>
          <p:cNvSpPr txBox="1"/>
          <p:nvPr/>
        </p:nvSpPr>
        <p:spPr>
          <a:xfrm>
            <a:off x="3569809" y="5849371"/>
            <a:ext cx="2520000" cy="227169"/>
          </a:xfrm>
          <a:prstGeom prst="rect">
            <a:avLst/>
          </a:prstGeom>
          <a:noFill/>
          <a:ln/>
        </p:spPr>
        <p:txBody>
          <a:bodyPr wrap="square" lIns="36000" tIns="36000" rIns="36000" bIns="36000" rtlCol="0" anchor="t">
            <a:spAutoFit/>
          </a:bodyPr>
          <a:lstStyle/>
          <a:p>
            <a:pPr marL="266700" indent="-266700" algn="l">
              <a:lnSpc>
                <a:spcPct val="120000"/>
              </a:lnSpc>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	欧米ファミリー・和文化に関心のある層</a:t>
            </a:r>
            <a:endParaRPr lang="ja-JP" sz="900" noProof="0" dirty="0">
              <a:latin typeface="Noto Sans JP" panose="020B0200000000000000" pitchFamily="50" charset="-128"/>
              <a:ea typeface="Noto Sans JP" panose="020B0200000000000000" pitchFamily="50" charset="-128"/>
            </a:endParaRPr>
          </a:p>
        </p:txBody>
      </p:sp>
      <p:sp>
        <p:nvSpPr>
          <p:cNvPr id="38" name="Text 26"/>
          <p:cNvSpPr txBox="1"/>
          <p:nvPr/>
        </p:nvSpPr>
        <p:spPr>
          <a:xfrm>
            <a:off x="3569809" y="6102592"/>
            <a:ext cx="2520000" cy="224861"/>
          </a:xfrm>
          <a:prstGeom prst="rect">
            <a:avLst/>
          </a:prstGeom>
          <a:noFill/>
          <a:ln/>
        </p:spPr>
        <p:txBody>
          <a:bodyPr wrap="square" lIns="36000" tIns="36000" rIns="36000" bIns="36000" rtlCol="0" anchor="t">
            <a:spAutoFit/>
          </a:bodyPr>
          <a:lstStyle/>
          <a:p>
            <a:pPr marL="266700" indent="-266700" algn="l">
              <a:lnSpc>
                <a:spcPct val="120000"/>
              </a:lnSpc>
              <a:spcBef>
                <a:spcPts val="300"/>
              </a:spcBef>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 	祭りだけでなく地域文化として体験したい</a:t>
            </a:r>
            <a:endParaRPr lang="ja-JP" sz="900" noProof="0" dirty="0">
              <a:latin typeface="Noto Sans JP" panose="020B0200000000000000" pitchFamily="50" charset="-128"/>
              <a:ea typeface="Noto Sans JP" panose="020B0200000000000000" pitchFamily="50" charset="-128"/>
            </a:endParaRPr>
          </a:p>
        </p:txBody>
      </p:sp>
      <p:grpSp>
        <p:nvGrpSpPr>
          <p:cNvPr id="6" name="グループ化 5">
            <a:extLst>
              <a:ext uri="{FF2B5EF4-FFF2-40B4-BE49-F238E27FC236}">
                <a16:creationId xmlns:a16="http://schemas.microsoft.com/office/drawing/2014/main" id="{5DD76751-0379-22A1-094D-79A3EF72C479}"/>
              </a:ext>
            </a:extLst>
          </p:cNvPr>
          <p:cNvGrpSpPr/>
          <p:nvPr/>
        </p:nvGrpSpPr>
        <p:grpSpPr>
          <a:xfrm>
            <a:off x="12334830" y="2060500"/>
            <a:ext cx="5564340" cy="4433152"/>
            <a:chOff x="6372180" y="2060500"/>
            <a:chExt cx="5564340" cy="4433152"/>
          </a:xfrm>
        </p:grpSpPr>
        <p:sp>
          <p:nvSpPr>
            <p:cNvPr id="5" name="Shape 3"/>
            <p:cNvSpPr>
              <a:spLocks/>
            </p:cNvSpPr>
            <p:nvPr/>
          </p:nvSpPr>
          <p:spPr>
            <a:xfrm>
              <a:off x="9272520" y="2060500"/>
              <a:ext cx="2664000" cy="4416638"/>
            </a:xfrm>
            <a:prstGeom prst="rect">
              <a:avLst/>
            </a:prstGeom>
            <a:solidFill>
              <a:schemeClr val="bg1"/>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53" name="Google Shape;125;g32f3a9a361b_0_63">
              <a:extLst>
                <a:ext uri="{FF2B5EF4-FFF2-40B4-BE49-F238E27FC236}">
                  <a16:creationId xmlns:a16="http://schemas.microsoft.com/office/drawing/2014/main" id="{42FCF04C-155D-4472-6033-C1D5F7F78B20}"/>
                </a:ext>
              </a:extLst>
            </p:cNvPr>
            <p:cNvPicPr preferRelativeResize="0"/>
            <p:nvPr/>
          </p:nvPicPr>
          <p:blipFill>
            <a:blip r:embed="rId7">
              <a:alphaModFix/>
            </a:blip>
            <a:srcRect t="7145" b="4445"/>
            <a:stretch>
              <a:fillRect/>
            </a:stretch>
          </p:blipFill>
          <p:spPr>
            <a:xfrm>
              <a:off x="9272520" y="2060500"/>
              <a:ext cx="2653596" cy="1619402"/>
            </a:xfrm>
            <a:prstGeom prst="rect">
              <a:avLst/>
            </a:prstGeom>
            <a:solidFill>
              <a:schemeClr val="lt1"/>
            </a:solidFill>
            <a:ln>
              <a:noFill/>
            </a:ln>
          </p:spPr>
        </p:pic>
        <p:sp>
          <p:nvSpPr>
            <p:cNvPr id="4" name="Shape 2"/>
            <p:cNvSpPr>
              <a:spLocks/>
            </p:cNvSpPr>
            <p:nvPr/>
          </p:nvSpPr>
          <p:spPr>
            <a:xfrm>
              <a:off x="6372180" y="2060500"/>
              <a:ext cx="2664000" cy="4416638"/>
            </a:xfrm>
            <a:prstGeom prst="rect">
              <a:avLst/>
            </a:prstGeom>
            <a:solidFill>
              <a:schemeClr val="bg1"/>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10" name="Image 4" descr="gen-dedup-dceb3d7a4a421799f49a77d552b7c597.jpg"/>
            <p:cNvPicPr>
              <a:picLocks/>
            </p:cNvPicPr>
            <p:nvPr/>
          </p:nvPicPr>
          <p:blipFill>
            <a:blip r:embed="rId8"/>
            <a:stretch>
              <a:fillRect/>
            </a:stretch>
          </p:blipFill>
          <p:spPr>
            <a:xfrm>
              <a:off x="6372180" y="2060500"/>
              <a:ext cx="2664000" cy="1619402"/>
            </a:xfrm>
            <a:prstGeom prst="rect">
              <a:avLst/>
            </a:prstGeom>
          </p:spPr>
        </p:pic>
        <p:pic>
          <p:nvPicPr>
            <p:cNvPr id="11" name="Image 5" descr="gen-dedup-0466907e93d70cee6b7afe44fc6a3219.png"/>
            <p:cNvPicPr>
              <a:picLocks noChangeAspect="1"/>
            </p:cNvPicPr>
            <p:nvPr/>
          </p:nvPicPr>
          <p:blipFill>
            <a:blip r:embed="rId5"/>
            <a:srcRect t="1994" b="1994"/>
            <a:stretch/>
          </p:blipFill>
          <p:spPr>
            <a:xfrm>
              <a:off x="6470149" y="5488411"/>
              <a:ext cx="2520000" cy="9750"/>
            </a:xfrm>
            <a:prstGeom prst="rect">
              <a:avLst/>
            </a:prstGeom>
          </p:spPr>
        </p:pic>
        <p:sp>
          <p:nvSpPr>
            <p:cNvPr id="39" name="Text 27"/>
            <p:cNvSpPr txBox="1"/>
            <p:nvPr/>
          </p:nvSpPr>
          <p:spPr>
            <a:xfrm>
              <a:off x="6470149" y="3819320"/>
              <a:ext cx="947943" cy="2248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東京都・3時間〜</a:t>
              </a:r>
              <a:endParaRPr lang="ja-JP" sz="900" noProof="0" dirty="0">
                <a:latin typeface="Noto Sans JP" panose="020B0200000000000000" pitchFamily="50" charset="-128"/>
                <a:ea typeface="Noto Sans JP" panose="020B0200000000000000" pitchFamily="50" charset="-128"/>
              </a:endParaRPr>
            </a:p>
          </p:txBody>
        </p:sp>
        <p:sp>
          <p:nvSpPr>
            <p:cNvPr id="40" name="Text 28"/>
            <p:cNvSpPr txBox="1"/>
            <p:nvPr/>
          </p:nvSpPr>
          <p:spPr>
            <a:xfrm>
              <a:off x="6470149" y="4119093"/>
              <a:ext cx="2520000" cy="467491"/>
            </a:xfrm>
            <a:prstGeom prst="rect">
              <a:avLst/>
            </a:prstGeom>
            <a:noFill/>
            <a:ln/>
          </p:spPr>
          <p:txBody>
            <a:bodyPr wrap="square" lIns="36000" tIns="36000" rIns="36000" bIns="36000" rtlCol="0" anchor="t">
              <a:spAutoFit/>
            </a:bodyPr>
            <a:lstStyle>
              <a:lvl1pPr indent="0">
                <a:lnSpc>
                  <a:spcPct val="120000"/>
                </a:lnSpc>
                <a:spcBef>
                  <a:spcPts val="300"/>
                </a:spcBef>
                <a:buNone/>
                <a:defRPr sz="1000" b="1">
                  <a:solidFill>
                    <a:srgbClr val="081F3A"/>
                  </a:solidFill>
                  <a:latin typeface="Noto Sans JP" panose="020B0200000000000000" pitchFamily="50" charset="-128"/>
                  <a:ea typeface="Noto Sans JP" panose="020B0200000000000000" pitchFamily="50" charset="-128"/>
                  <a:cs typeface="Noto Sans JP" pitchFamily="34" charset="-120"/>
                </a:defRPr>
              </a:lvl1pPr>
            </a:lstStyle>
            <a:p>
              <a:r>
                <a:rPr lang="ja-JP" altLang="en-US" dirty="0"/>
                <a:t>英語ガイドによる</a:t>
              </a:r>
            </a:p>
            <a:p>
              <a:r>
                <a:rPr lang="ja-JP" altLang="en-US" dirty="0"/>
                <a:t>プライベート東京 </a:t>
              </a:r>
              <a:r>
                <a:rPr lang="en-US" altLang="ja-JP" dirty="0"/>
                <a:t>e-bike</a:t>
              </a:r>
              <a:r>
                <a:rPr lang="ja-JP" altLang="en-US" dirty="0"/>
                <a:t>ツアー</a:t>
              </a:r>
            </a:p>
          </p:txBody>
        </p:sp>
        <p:sp>
          <p:nvSpPr>
            <p:cNvPr id="41" name="Text 29"/>
            <p:cNvSpPr txBox="1"/>
            <p:nvPr/>
          </p:nvSpPr>
          <p:spPr>
            <a:xfrm>
              <a:off x="6470149" y="4669984"/>
              <a:ext cx="2520000" cy="557259"/>
            </a:xfrm>
            <a:prstGeom prst="rect">
              <a:avLst/>
            </a:prstGeom>
            <a:noFill/>
            <a:ln/>
          </p:spPr>
          <p:txBody>
            <a:bodyPr wrap="square" lIns="36000" tIns="36000" rIns="36000" bIns="36000" rtlCol="0" anchor="t">
              <a:spAutoFit/>
            </a:bodyPr>
            <a:lstStyle/>
            <a:p>
              <a:pPr marL="0" indent="0" algn="l">
                <a:lnSpc>
                  <a:spcPct val="120000"/>
                </a:lnSpc>
                <a:buNone/>
              </a:pPr>
              <a:r>
                <a:rPr lang="ja-JP" altLang="en-US" sz="900" noProof="0" dirty="0">
                  <a:latin typeface="Noto Sans JP" panose="020B0200000000000000" pitchFamily="50" charset="-128"/>
                  <a:ea typeface="Noto Sans JP" panose="020B0200000000000000" pitchFamily="50" charset="-128"/>
                  <a:cs typeface="Noto Sans JP" pitchFamily="34" charset="-120"/>
                </a:rPr>
                <a:t>熟練ガイドによる、電動自転車を使ったプライベートツアー</a:t>
              </a:r>
              <a:r>
                <a:rPr lang="ja-JP" altLang="en-US" sz="900" dirty="0">
                  <a:latin typeface="Noto Sans JP" panose="020B0200000000000000" pitchFamily="50" charset="-128"/>
                  <a:ea typeface="Noto Sans JP" panose="020B0200000000000000" pitchFamily="50" charset="-128"/>
                  <a:cs typeface="Noto Sans JP" pitchFamily="34" charset="-120"/>
                </a:rPr>
                <a:t>。</a:t>
              </a:r>
              <a:br>
                <a:rPr lang="en-US" altLang="ja-JP" sz="900" noProof="0" dirty="0">
                  <a:latin typeface="Noto Sans JP" panose="020B0200000000000000" pitchFamily="50" charset="-128"/>
                  <a:ea typeface="Noto Sans JP" panose="020B0200000000000000" pitchFamily="50" charset="-128"/>
                  <a:cs typeface="Noto Sans JP" pitchFamily="34" charset="-120"/>
                </a:rPr>
              </a:br>
              <a:r>
                <a:rPr lang="ja-JP" altLang="en-US" sz="900" noProof="0" dirty="0">
                  <a:latin typeface="Noto Sans JP" panose="020B0200000000000000" pitchFamily="50" charset="-128"/>
                  <a:ea typeface="Noto Sans JP" panose="020B0200000000000000" pitchFamily="50" charset="-128"/>
                  <a:cs typeface="Noto Sans JP" pitchFamily="34" charset="-120"/>
                </a:rPr>
                <a:t>指定の場所まで自転車を運んで発着が可能</a:t>
              </a:r>
              <a:endParaRPr lang="ja-JP" sz="900" noProof="0" dirty="0">
                <a:latin typeface="Noto Sans JP" panose="020B0200000000000000" pitchFamily="50" charset="-128"/>
                <a:ea typeface="Noto Sans JP" panose="020B0200000000000000" pitchFamily="50" charset="-128"/>
              </a:endParaRPr>
            </a:p>
          </p:txBody>
        </p:sp>
        <p:sp>
          <p:nvSpPr>
            <p:cNvPr id="42" name="Text 30"/>
            <p:cNvSpPr txBox="1"/>
            <p:nvPr/>
          </p:nvSpPr>
          <p:spPr>
            <a:xfrm>
              <a:off x="6470148" y="5512909"/>
              <a:ext cx="2520000" cy="227169"/>
            </a:xfrm>
            <a:prstGeom prst="rect">
              <a:avLst/>
            </a:prstGeom>
            <a:noFill/>
            <a:ln/>
          </p:spPr>
          <p:txBody>
            <a:bodyPr wrap="square" lIns="36000" tIns="36000" rIns="36000" bIns="36000" rtlCol="0" anchor="ctr">
              <a:spAutoFit/>
            </a:bodyPr>
            <a:lstStyle/>
            <a:p>
              <a:pPr marL="266700" indent="-26670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43" name="Text 31"/>
            <p:cNvSpPr txBox="1"/>
            <p:nvPr/>
          </p:nvSpPr>
          <p:spPr>
            <a:xfrm>
              <a:off x="6470149" y="5716021"/>
              <a:ext cx="2520000" cy="391060"/>
            </a:xfrm>
            <a:prstGeom prst="rect">
              <a:avLst/>
            </a:prstGeom>
            <a:noFill/>
            <a:ln/>
          </p:spPr>
          <p:txBody>
            <a:bodyPr wrap="square" lIns="36000" tIns="36000" rIns="36000" bIns="36000" rtlCol="0" anchor="t">
              <a:spAutoFit/>
            </a:bodyPr>
            <a:lstStyle/>
            <a:p>
              <a:pPr marL="266700" indent="-266700" algn="l">
                <a:lnSpc>
                  <a:spcPct val="120000"/>
                </a:lnSpc>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en-US" altLang="ja-JP" sz="900" b="1" dirty="0">
                  <a:solidFill>
                    <a:srgbClr val="081F3A"/>
                  </a:solidFill>
                  <a:latin typeface="Noto Sans JP" panose="020B0200000000000000" pitchFamily="50" charset="-128"/>
                  <a:ea typeface="Noto Sans JP" panose="020B0200000000000000" pitchFamily="50" charset="-128"/>
                  <a:cs typeface="Noto Sans JP" pitchFamily="34" charset="-120"/>
                </a:rPr>
                <a:t>	</a:t>
              </a: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欧米アクティブ層・カップル・少人数グループ</a:t>
              </a:r>
              <a:endParaRPr lang="ja-JP" sz="900" noProof="0" dirty="0">
                <a:latin typeface="Noto Sans JP" panose="020B0200000000000000" pitchFamily="50" charset="-128"/>
                <a:ea typeface="Noto Sans JP" panose="020B0200000000000000" pitchFamily="50" charset="-128"/>
              </a:endParaRPr>
            </a:p>
          </p:txBody>
        </p:sp>
        <p:sp>
          <p:nvSpPr>
            <p:cNvPr id="44" name="Text 32"/>
            <p:cNvSpPr txBox="1"/>
            <p:nvPr/>
          </p:nvSpPr>
          <p:spPr>
            <a:xfrm>
              <a:off x="6470149" y="6102592"/>
              <a:ext cx="2520000" cy="391060"/>
            </a:xfrm>
            <a:prstGeom prst="rect">
              <a:avLst/>
            </a:prstGeom>
            <a:noFill/>
            <a:ln/>
          </p:spPr>
          <p:txBody>
            <a:bodyPr wrap="square" lIns="36000" tIns="36000" rIns="36000" bIns="36000" rtlCol="0" anchor="t">
              <a:spAutoFit/>
            </a:bodyPr>
            <a:lstStyle/>
            <a:p>
              <a:pPr marL="266700" indent="-266700" algn="l">
                <a:lnSpc>
                  <a:spcPct val="120000"/>
                </a:lnSpc>
                <a:spcBef>
                  <a:spcPts val="300"/>
                </a:spcBef>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en-US" altLang="ja-JP" sz="900" b="1"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ja-JP" altLang="en-US" sz="900" noProof="0" dirty="0">
                  <a:solidFill>
                    <a:srgbClr val="404A57"/>
                  </a:solidFill>
                  <a:latin typeface="Noto Sans JP" panose="020B0200000000000000" pitchFamily="50" charset="-128"/>
                  <a:ea typeface="Noto Sans JP" panose="020B0200000000000000" pitchFamily="50" charset="-128"/>
                  <a:cs typeface="Noto Sans JP" pitchFamily="34" charset="-120"/>
                </a:rPr>
                <a:t>定番観光だけでなく、自分たちのペースで東京の街や暮らしを体感したい</a:t>
              </a:r>
              <a:endParaRPr lang="ja-JP" sz="900" noProof="0" dirty="0">
                <a:latin typeface="Noto Sans JP" panose="020B0200000000000000" pitchFamily="50" charset="-128"/>
                <a:ea typeface="Noto Sans JP" panose="020B0200000000000000" pitchFamily="50" charset="-128"/>
              </a:endParaRPr>
            </a:p>
          </p:txBody>
        </p:sp>
        <p:pic>
          <p:nvPicPr>
            <p:cNvPr id="13" name="Image 7" descr="gen-dedup-44465860716e4f3fc492cd87c5acccd4.png"/>
            <p:cNvPicPr>
              <a:picLocks noChangeAspect="1"/>
            </p:cNvPicPr>
            <p:nvPr/>
          </p:nvPicPr>
          <p:blipFill>
            <a:blip r:embed="rId9"/>
            <a:srcRect b="3992"/>
            <a:stretch/>
          </p:blipFill>
          <p:spPr>
            <a:xfrm>
              <a:off x="9406117" y="5488419"/>
              <a:ext cx="2520000" cy="12736"/>
            </a:xfrm>
            <a:prstGeom prst="rect">
              <a:avLst/>
            </a:prstGeom>
          </p:spPr>
        </p:pic>
        <p:sp>
          <p:nvSpPr>
            <p:cNvPr id="45" name="Text 33"/>
            <p:cNvSpPr txBox="1"/>
            <p:nvPr/>
          </p:nvSpPr>
          <p:spPr>
            <a:xfrm>
              <a:off x="9406116" y="3819320"/>
              <a:ext cx="832527" cy="2248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altLang="en-US" sz="900" b="1" dirty="0">
                  <a:solidFill>
                    <a:srgbClr val="3CAEA3"/>
                  </a:solidFill>
                  <a:latin typeface="Noto Sans JP" panose="020B0200000000000000" pitchFamily="50" charset="-128"/>
                  <a:ea typeface="Noto Sans JP" panose="020B0200000000000000" pitchFamily="50" charset="-128"/>
                  <a:cs typeface="Noto Sans JP" pitchFamily="34" charset="-120"/>
                </a:rPr>
                <a:t>横浜：</a:t>
              </a:r>
              <a:r>
                <a:rPr lang="en-US" altLang="ja-JP" sz="900" b="1" dirty="0">
                  <a:solidFill>
                    <a:srgbClr val="3CAEA3"/>
                  </a:solidFill>
                  <a:latin typeface="Noto Sans JP" panose="020B0200000000000000" pitchFamily="50" charset="-128"/>
                  <a:ea typeface="Noto Sans JP" panose="020B0200000000000000" pitchFamily="50" charset="-128"/>
                  <a:cs typeface="Noto Sans JP" pitchFamily="34" charset="-120"/>
                </a:rPr>
                <a:t>5</a:t>
              </a:r>
              <a:r>
                <a:rPr lang="ja-JP" altLang="en-US" sz="900" b="1" dirty="0">
                  <a:solidFill>
                    <a:srgbClr val="3CAEA3"/>
                  </a:solidFill>
                  <a:latin typeface="Noto Sans JP" panose="020B0200000000000000" pitchFamily="50" charset="-128"/>
                  <a:ea typeface="Noto Sans JP" panose="020B0200000000000000" pitchFamily="50" charset="-128"/>
                  <a:cs typeface="Noto Sans JP" pitchFamily="34" charset="-120"/>
                </a:rPr>
                <a:t>時間</a:t>
              </a: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a:t>
              </a:r>
              <a:endParaRPr lang="ja-JP" sz="900" noProof="0" dirty="0">
                <a:latin typeface="Noto Sans JP" panose="020B0200000000000000" pitchFamily="50" charset="-128"/>
                <a:ea typeface="Noto Sans JP" panose="020B0200000000000000" pitchFamily="50" charset="-128"/>
              </a:endParaRPr>
            </a:p>
          </p:txBody>
        </p:sp>
        <p:sp>
          <p:nvSpPr>
            <p:cNvPr id="46" name="Text 34"/>
            <p:cNvSpPr txBox="1"/>
            <p:nvPr/>
          </p:nvSpPr>
          <p:spPr>
            <a:xfrm>
              <a:off x="9406117" y="4119093"/>
              <a:ext cx="2520000" cy="464926"/>
            </a:xfrm>
            <a:prstGeom prst="rect">
              <a:avLst/>
            </a:prstGeom>
            <a:noFill/>
            <a:ln/>
          </p:spPr>
          <p:txBody>
            <a:bodyPr wrap="square" lIns="36000" tIns="36000" rIns="36000" bIns="36000" rtlCol="0" anchor="t">
              <a:spAutoFit/>
            </a:bodyPr>
            <a:lstStyle>
              <a:lvl1pPr indent="0">
                <a:lnSpc>
                  <a:spcPct val="120000"/>
                </a:lnSpc>
                <a:spcBef>
                  <a:spcPts val="300"/>
                </a:spcBef>
                <a:buNone/>
                <a:defRPr sz="1000" b="1">
                  <a:solidFill>
                    <a:srgbClr val="081F3A"/>
                  </a:solidFill>
                  <a:latin typeface="Noto Sans JP" panose="020B0200000000000000" pitchFamily="50" charset="-128"/>
                  <a:ea typeface="Noto Sans JP" panose="020B0200000000000000" pitchFamily="50" charset="-128"/>
                  <a:cs typeface="Noto Sans JP" pitchFamily="34" charset="-120"/>
                </a:defRPr>
              </a:lvl1pPr>
            </a:lstStyle>
            <a:p>
              <a:r>
                <a:rPr lang="ja-JP" altLang="en-US" dirty="0"/>
                <a:t>本物の忍者道場</a:t>
              </a:r>
              <a:r>
                <a:rPr lang="ja-JP" altLang="en-US"/>
                <a:t>で学ぶ</a:t>
              </a:r>
              <a:endParaRPr lang="en-US" altLang="ja-JP" dirty="0"/>
            </a:p>
            <a:p>
              <a:r>
                <a:rPr lang="ja-JP" altLang="en-US" dirty="0"/>
                <a:t>忍者＆侍スピリット体験</a:t>
              </a:r>
            </a:p>
          </p:txBody>
        </p:sp>
        <p:sp>
          <p:nvSpPr>
            <p:cNvPr id="47" name="Text 35"/>
            <p:cNvSpPr txBox="1"/>
            <p:nvPr/>
          </p:nvSpPr>
          <p:spPr>
            <a:xfrm>
              <a:off x="9406117" y="4669984"/>
              <a:ext cx="2520000" cy="557259"/>
            </a:xfrm>
            <a:prstGeom prst="rect">
              <a:avLst/>
            </a:prstGeom>
            <a:noFill/>
            <a:ln/>
          </p:spPr>
          <p:txBody>
            <a:bodyPr wrap="square" lIns="36000" tIns="36000" rIns="36000" bIns="36000" rtlCol="0" anchor="t">
              <a:spAutoFit/>
            </a:bodyPr>
            <a:lstStyle/>
            <a:p>
              <a:pPr marL="0" indent="0" algn="l">
                <a:lnSpc>
                  <a:spcPct val="120000"/>
                </a:lnSpc>
                <a:buNone/>
              </a:pPr>
              <a:r>
                <a:rPr lang="ja-JP" altLang="en-US" sz="900" noProof="0" dirty="0">
                  <a:latin typeface="Noto Sans JP" panose="020B0200000000000000" pitchFamily="50" charset="-128"/>
                  <a:ea typeface="Noto Sans JP" panose="020B0200000000000000" pitchFamily="50" charset="-128"/>
                  <a:cs typeface="Noto Sans JP" pitchFamily="34" charset="-120"/>
                </a:rPr>
                <a:t>本格的な忍者道場で、忍術の基本や忍者・侍の精神を体験。忍者衣装での記念撮影や忍者弁当も楽しめます</a:t>
              </a:r>
              <a:endParaRPr lang="ja-JP" sz="900" noProof="0" dirty="0">
                <a:latin typeface="Noto Sans JP" panose="020B0200000000000000" pitchFamily="50" charset="-128"/>
                <a:ea typeface="Noto Sans JP" panose="020B0200000000000000" pitchFamily="50" charset="-128"/>
              </a:endParaRPr>
            </a:p>
          </p:txBody>
        </p:sp>
        <p:sp>
          <p:nvSpPr>
            <p:cNvPr id="48" name="Text 36"/>
            <p:cNvSpPr txBox="1"/>
            <p:nvPr/>
          </p:nvSpPr>
          <p:spPr>
            <a:xfrm>
              <a:off x="9406116" y="5512909"/>
              <a:ext cx="2520000" cy="227169"/>
            </a:xfrm>
            <a:prstGeom prst="rect">
              <a:avLst/>
            </a:prstGeom>
            <a:noFill/>
            <a:ln/>
          </p:spPr>
          <p:txBody>
            <a:bodyPr wrap="square" lIns="36000" tIns="36000" rIns="36000" bIns="36000" rtlCol="0" anchor="ctr">
              <a:spAutoFit/>
            </a:bodyPr>
            <a:lstStyle/>
            <a:p>
              <a:pPr marL="266700" indent="-26670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49" name="Text 37"/>
            <p:cNvSpPr txBox="1"/>
            <p:nvPr/>
          </p:nvSpPr>
          <p:spPr>
            <a:xfrm>
              <a:off x="9406117" y="5716021"/>
              <a:ext cx="2520000" cy="391060"/>
            </a:xfrm>
            <a:prstGeom prst="rect">
              <a:avLst/>
            </a:prstGeom>
            <a:noFill/>
            <a:ln/>
          </p:spPr>
          <p:txBody>
            <a:bodyPr wrap="square" lIns="36000" tIns="36000" rIns="36000" bIns="36000" rtlCol="0" anchor="t">
              <a:spAutoFit/>
            </a:bodyPr>
            <a:lstStyle/>
            <a:p>
              <a:pPr marL="266700" indent="-266700" algn="l">
                <a:lnSpc>
                  <a:spcPct val="120000"/>
                </a:lnSpc>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en-US" altLang="ja-JP" sz="900" b="1" dirty="0">
                  <a:solidFill>
                    <a:srgbClr val="081F3A"/>
                  </a:solidFill>
                  <a:latin typeface="Noto Sans JP" panose="020B0200000000000000" pitchFamily="50" charset="-128"/>
                  <a:ea typeface="Noto Sans JP" panose="020B0200000000000000" pitchFamily="50" charset="-128"/>
                  <a:cs typeface="Noto Sans JP" pitchFamily="34" charset="-120"/>
                </a:rPr>
                <a:t>	</a:t>
              </a:r>
              <a:r>
                <a:rPr lang="ja-JP" altLang="en-US"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欧米ファミリー・日本文化や武道に関心のある層</a:t>
              </a:r>
              <a:endParaRPr lang="ja-JP" sz="900" noProof="0" dirty="0">
                <a:latin typeface="Noto Sans JP" panose="020B0200000000000000" pitchFamily="50" charset="-128"/>
                <a:ea typeface="Noto Sans JP" panose="020B0200000000000000" pitchFamily="50" charset="-128"/>
              </a:endParaRPr>
            </a:p>
          </p:txBody>
        </p:sp>
        <p:sp>
          <p:nvSpPr>
            <p:cNvPr id="50" name="Text 38"/>
            <p:cNvSpPr txBox="1"/>
            <p:nvPr/>
          </p:nvSpPr>
          <p:spPr>
            <a:xfrm>
              <a:off x="9406117" y="6102592"/>
              <a:ext cx="2520000" cy="391060"/>
            </a:xfrm>
            <a:prstGeom prst="rect">
              <a:avLst/>
            </a:prstGeom>
            <a:noFill/>
            <a:ln/>
          </p:spPr>
          <p:txBody>
            <a:bodyPr wrap="square" lIns="36000" tIns="36000" rIns="36000" bIns="36000" rtlCol="0" anchor="t">
              <a:spAutoFit/>
            </a:bodyPr>
            <a:lstStyle/>
            <a:p>
              <a:pPr marL="266700" indent="-266700" algn="l">
                <a:lnSpc>
                  <a:spcPct val="120000"/>
                </a:lnSpc>
                <a:spcBef>
                  <a:spcPts val="300"/>
                </a:spcBef>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en-US" altLang="ja-JP" sz="900" b="1"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ja-JP" altLang="en-US" sz="900" noProof="0" dirty="0">
                  <a:solidFill>
                    <a:srgbClr val="404A57"/>
                  </a:solidFill>
                  <a:latin typeface="Noto Sans JP" panose="020B0200000000000000" pitchFamily="50" charset="-128"/>
                  <a:ea typeface="Noto Sans JP" panose="020B0200000000000000" pitchFamily="50" charset="-128"/>
                  <a:cs typeface="Noto Sans JP" pitchFamily="34" charset="-120"/>
                </a:rPr>
                <a:t>子どもと一緒に、本格的な忍者体験を楽しみたい</a:t>
              </a:r>
              <a:endParaRPr lang="ja-JP" sz="900" noProof="0" dirty="0">
                <a:latin typeface="Noto Sans JP" panose="020B0200000000000000" pitchFamily="50" charset="-128"/>
                <a:ea typeface="Noto Sans JP" panose="020B0200000000000000" pitchFamily="50" charset="-128"/>
              </a:endParaRPr>
            </a:p>
          </p:txBody>
        </p:sp>
      </p:grpSp>
      <p:sp>
        <p:nvSpPr>
          <p:cNvPr id="14" name="Shape 2">
            <a:extLst>
              <a:ext uri="{FF2B5EF4-FFF2-40B4-BE49-F238E27FC236}">
                <a16:creationId xmlns:a16="http://schemas.microsoft.com/office/drawing/2014/main" id="{C3DC2D29-4A91-00FC-603A-550E461DDDC0}"/>
              </a:ext>
            </a:extLst>
          </p:cNvPr>
          <p:cNvSpPr/>
          <p:nvPr/>
        </p:nvSpPr>
        <p:spPr>
          <a:xfrm>
            <a:off x="6257227" y="2060499"/>
            <a:ext cx="2664000" cy="44172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54" name="Shape 3">
            <a:extLst>
              <a:ext uri="{FF2B5EF4-FFF2-40B4-BE49-F238E27FC236}">
                <a16:creationId xmlns:a16="http://schemas.microsoft.com/office/drawing/2014/main" id="{B5EF027A-4C60-15DC-F003-199F491EC110}"/>
              </a:ext>
            </a:extLst>
          </p:cNvPr>
          <p:cNvSpPr/>
          <p:nvPr/>
        </p:nvSpPr>
        <p:spPr>
          <a:xfrm>
            <a:off x="9210739" y="2060499"/>
            <a:ext cx="2664000" cy="4417200"/>
          </a:xfrm>
          <a:prstGeom prst="rect">
            <a:avLst/>
          </a:prstGeom>
          <a:solidFill>
            <a:srgbClr val="FFFFFF"/>
          </a:solidFill>
          <a:ln w="12700">
            <a:solidFill>
              <a:srgbClr val="FFFFFF">
                <a:alpha val="0"/>
              </a:srgbClr>
            </a:solidFill>
            <a:prstDash val="solid"/>
          </a:ln>
        </p:spPr>
        <p:txBody>
          <a:bodyPr/>
          <a:lstStyle/>
          <a:p>
            <a:endParaRPr lang="ja-JP" altLang="en-US"/>
          </a:p>
        </p:txBody>
      </p:sp>
      <p:pic>
        <p:nvPicPr>
          <p:cNvPr id="56" name="Image 4" descr="gen-dedup-b0e958b8dbfbf476184ff18368450953.jpg">
            <a:extLst>
              <a:ext uri="{FF2B5EF4-FFF2-40B4-BE49-F238E27FC236}">
                <a16:creationId xmlns:a16="http://schemas.microsoft.com/office/drawing/2014/main" id="{287F2DA1-B195-C215-5A5D-AF5D86F313F1}"/>
              </a:ext>
            </a:extLst>
          </p:cNvPr>
          <p:cNvPicPr preferRelativeResize="0">
            <a:picLocks/>
          </p:cNvPicPr>
          <p:nvPr/>
        </p:nvPicPr>
        <p:blipFill>
          <a:blip r:embed="rId10"/>
          <a:srcRect l="3014" r="3295"/>
          <a:stretch>
            <a:fillRect/>
          </a:stretch>
        </p:blipFill>
        <p:spPr>
          <a:xfrm>
            <a:off x="6288545" y="2037627"/>
            <a:ext cx="2632682" cy="1641600"/>
          </a:xfrm>
          <a:prstGeom prst="rect">
            <a:avLst/>
          </a:prstGeom>
        </p:spPr>
      </p:pic>
      <p:pic>
        <p:nvPicPr>
          <p:cNvPr id="60" name="Image 6" descr="gen-dedup-d033fb27dd065ef16523563d424f5c04.jpg">
            <a:extLst>
              <a:ext uri="{FF2B5EF4-FFF2-40B4-BE49-F238E27FC236}">
                <a16:creationId xmlns:a16="http://schemas.microsoft.com/office/drawing/2014/main" id="{F3A941CB-F5FC-90CA-0F24-78B09AD3DE61}"/>
              </a:ext>
            </a:extLst>
          </p:cNvPr>
          <p:cNvPicPr preferRelativeResize="0">
            <a:picLocks/>
          </p:cNvPicPr>
          <p:nvPr/>
        </p:nvPicPr>
        <p:blipFill>
          <a:blip r:embed="rId11"/>
          <a:stretch>
            <a:fillRect/>
          </a:stretch>
        </p:blipFill>
        <p:spPr>
          <a:xfrm>
            <a:off x="9210739" y="2037627"/>
            <a:ext cx="2664000" cy="1641600"/>
          </a:xfrm>
          <a:prstGeom prst="rect">
            <a:avLst/>
          </a:prstGeom>
        </p:spPr>
      </p:pic>
      <p:sp>
        <p:nvSpPr>
          <p:cNvPr id="76" name="Text 27">
            <a:extLst>
              <a:ext uri="{FF2B5EF4-FFF2-40B4-BE49-F238E27FC236}">
                <a16:creationId xmlns:a16="http://schemas.microsoft.com/office/drawing/2014/main" id="{634D286B-4918-2B01-4F12-F7AD54B7BECE}"/>
              </a:ext>
            </a:extLst>
          </p:cNvPr>
          <p:cNvSpPr txBox="1"/>
          <p:nvPr/>
        </p:nvSpPr>
        <p:spPr>
          <a:xfrm>
            <a:off x="6485827" y="3813405"/>
            <a:ext cx="2572207" cy="143561"/>
          </a:xfrm>
          <a:prstGeom prst="rect">
            <a:avLst/>
          </a:prstGeom>
          <a:noFill/>
          <a:ln/>
        </p:spPr>
        <p:txBody>
          <a:bodyPr wrap="none" lIns="0" tIns="0" rIns="0" bIns="0" rtlCol="0" anchor="ctr"/>
          <a:lstStyle/>
          <a:p>
            <a:pPr marL="0" indent="0" algn="l">
              <a:buNone/>
            </a:pPr>
            <a:r>
              <a:rPr lang="ja-JP" sz="800" b="1" kern="0" spc="105" noProof="0" dirty="0">
                <a:solidFill>
                  <a:srgbClr val="3CAEA3"/>
                </a:solidFill>
                <a:latin typeface="Noto Sans JP" pitchFamily="34" charset="0"/>
                <a:ea typeface="Noto Sans JP" pitchFamily="34" charset="-122"/>
                <a:cs typeface="Noto Sans JP" pitchFamily="34" charset="-120"/>
              </a:rPr>
              <a:t>東京都</a:t>
            </a:r>
            <a:endParaRPr lang="ja-JP" sz="800" noProof="0" dirty="0"/>
          </a:p>
        </p:txBody>
      </p:sp>
      <p:sp>
        <p:nvSpPr>
          <p:cNvPr id="78" name="Text 28">
            <a:extLst>
              <a:ext uri="{FF2B5EF4-FFF2-40B4-BE49-F238E27FC236}">
                <a16:creationId xmlns:a16="http://schemas.microsoft.com/office/drawing/2014/main" id="{BF2B81E2-EEBE-86EC-0ADB-25BE258EBD4A}"/>
              </a:ext>
            </a:extLst>
          </p:cNvPr>
          <p:cNvSpPr txBox="1"/>
          <p:nvPr/>
        </p:nvSpPr>
        <p:spPr>
          <a:xfrm>
            <a:off x="6485827" y="4119093"/>
            <a:ext cx="2572207" cy="241788"/>
          </a:xfrm>
          <a:prstGeom prst="rect">
            <a:avLst/>
          </a:prstGeom>
          <a:noFill/>
          <a:ln/>
        </p:spPr>
        <p:txBody>
          <a:bodyPr wrap="square" lIns="36000" tIns="36000" rIns="36000" bIns="36000" rtlCol="0" anchor="t">
            <a:spAutoFit/>
          </a:bodyPr>
          <a:lstStyle>
            <a:lvl1pPr indent="0">
              <a:lnSpc>
                <a:spcPct val="120000"/>
              </a:lnSpc>
              <a:spcBef>
                <a:spcPts val="300"/>
              </a:spcBef>
              <a:buNone/>
              <a:defRPr sz="1000" b="1">
                <a:solidFill>
                  <a:srgbClr val="081F3A"/>
                </a:solidFill>
                <a:latin typeface="Noto Sans JP" panose="020B0200000000000000" pitchFamily="50" charset="-128"/>
                <a:ea typeface="Noto Sans JP" panose="020B0200000000000000" pitchFamily="50" charset="-128"/>
                <a:cs typeface="Noto Sans JP" pitchFamily="34" charset="-120"/>
              </a:defRPr>
            </a:lvl1pPr>
          </a:lstStyle>
          <a:p>
            <a:r>
              <a:rPr lang="ja-JP" noProof="0" dirty="0"/>
              <a:t>東京の街歩きアートツアー</a:t>
            </a:r>
          </a:p>
        </p:txBody>
      </p:sp>
      <p:sp>
        <p:nvSpPr>
          <p:cNvPr id="80" name="Text 29">
            <a:extLst>
              <a:ext uri="{FF2B5EF4-FFF2-40B4-BE49-F238E27FC236}">
                <a16:creationId xmlns:a16="http://schemas.microsoft.com/office/drawing/2014/main" id="{F703C41A-2737-34EA-2C40-50BED13E2FE1}"/>
              </a:ext>
            </a:extLst>
          </p:cNvPr>
          <p:cNvSpPr txBox="1"/>
          <p:nvPr/>
        </p:nvSpPr>
        <p:spPr>
          <a:xfrm>
            <a:off x="6361543" y="4555502"/>
            <a:ext cx="2520000" cy="723459"/>
          </a:xfrm>
          <a:prstGeom prst="rect">
            <a:avLst/>
          </a:prstGeom>
          <a:noFill/>
          <a:ln/>
        </p:spPr>
        <p:txBody>
          <a:bodyPr wrap="square" lIns="36000" tIns="36000" rIns="36000" bIns="36000" rtlCol="0" anchor="t">
            <a:spAutoFit/>
          </a:bodyPr>
          <a:lstStyle>
            <a:lvl1pPr indent="0">
              <a:lnSpc>
                <a:spcPct val="120000"/>
              </a:lnSpc>
              <a:buNone/>
              <a:defRPr sz="900">
                <a:latin typeface="Noto Sans JP" panose="020B0200000000000000" pitchFamily="50" charset="-128"/>
                <a:ea typeface="Noto Sans JP" panose="020B0200000000000000" pitchFamily="50" charset="-128"/>
                <a:cs typeface="Noto Sans JP" pitchFamily="34" charset="-120"/>
              </a:defRPr>
            </a:lvl1pPr>
          </a:lstStyle>
          <a:p>
            <a:r>
              <a:rPr lang="ja-JP" noProof="0" dirty="0"/>
              <a:t>東京国立博物館や国立美術館を巡る街歩きツアー。英語対応の専門ガイドが作品の見どころや日本の歴史・文化を解説し、街と文化をあわせて楽しめます</a:t>
            </a:r>
          </a:p>
        </p:txBody>
      </p:sp>
      <p:sp>
        <p:nvSpPr>
          <p:cNvPr id="88" name="Text 33">
            <a:extLst>
              <a:ext uri="{FF2B5EF4-FFF2-40B4-BE49-F238E27FC236}">
                <a16:creationId xmlns:a16="http://schemas.microsoft.com/office/drawing/2014/main" id="{5CC59921-5DAD-3F6E-9D31-4B6768D4E035}"/>
              </a:ext>
            </a:extLst>
          </p:cNvPr>
          <p:cNvSpPr txBox="1"/>
          <p:nvPr/>
        </p:nvSpPr>
        <p:spPr>
          <a:xfrm>
            <a:off x="9439339" y="3763154"/>
            <a:ext cx="2021955" cy="224861"/>
          </a:xfrm>
          <a:prstGeom prst="rect">
            <a:avLst/>
          </a:prstGeom>
          <a:noFill/>
          <a:ln/>
        </p:spPr>
        <p:txBody>
          <a:bodyPr wrap="none" lIns="36000" tIns="36000" rIns="36000" bIns="36000" rtlCol="0" anchor="ctr">
            <a:spAutoFit/>
          </a:bodyPr>
          <a:lstStyle>
            <a:lvl1pPr indent="0">
              <a:lnSpc>
                <a:spcPct val="120000"/>
              </a:lnSpc>
              <a:spcBef>
                <a:spcPts val="300"/>
              </a:spcBef>
              <a:buNone/>
              <a:defRPr sz="900" b="1">
                <a:solidFill>
                  <a:srgbClr val="3CAEA3"/>
                </a:solidFill>
                <a:latin typeface="Noto Sans JP" panose="020B0200000000000000" pitchFamily="50" charset="-128"/>
                <a:ea typeface="Noto Sans JP" panose="020B0200000000000000" pitchFamily="50" charset="-128"/>
                <a:cs typeface="Noto Sans JP" pitchFamily="34" charset="-120"/>
              </a:defRPr>
            </a:lvl1pPr>
          </a:lstStyle>
          <a:p>
            <a:r>
              <a:rPr lang="ja-JP" noProof="0" dirty="0"/>
              <a:t>東京都 ～ パフォーマンス × 精神文化</a:t>
            </a:r>
          </a:p>
        </p:txBody>
      </p:sp>
      <p:sp>
        <p:nvSpPr>
          <p:cNvPr id="90" name="Text 34">
            <a:extLst>
              <a:ext uri="{FF2B5EF4-FFF2-40B4-BE49-F238E27FC236}">
                <a16:creationId xmlns:a16="http://schemas.microsoft.com/office/drawing/2014/main" id="{38132FD0-5851-36B0-A123-51EC81EC73B9}"/>
              </a:ext>
            </a:extLst>
          </p:cNvPr>
          <p:cNvSpPr txBox="1"/>
          <p:nvPr/>
        </p:nvSpPr>
        <p:spPr>
          <a:xfrm>
            <a:off x="9439338" y="4119093"/>
            <a:ext cx="2251011" cy="241788"/>
          </a:xfrm>
          <a:prstGeom prst="rect">
            <a:avLst/>
          </a:prstGeom>
          <a:noFill/>
          <a:ln/>
        </p:spPr>
        <p:txBody>
          <a:bodyPr wrap="square" lIns="36000" tIns="36000" rIns="36000" bIns="36000" rtlCol="0" anchor="t">
            <a:spAutoFit/>
          </a:bodyPr>
          <a:lstStyle>
            <a:lvl1pPr indent="0">
              <a:lnSpc>
                <a:spcPct val="120000"/>
              </a:lnSpc>
              <a:spcBef>
                <a:spcPts val="300"/>
              </a:spcBef>
              <a:buNone/>
              <a:defRPr sz="1000" b="1">
                <a:solidFill>
                  <a:srgbClr val="081F3A"/>
                </a:solidFill>
                <a:latin typeface="Noto Sans JP" panose="020B0200000000000000" pitchFamily="50" charset="-128"/>
                <a:ea typeface="Noto Sans JP" panose="020B0200000000000000" pitchFamily="50" charset="-128"/>
                <a:cs typeface="Noto Sans JP" pitchFamily="34" charset="-120"/>
              </a:defRPr>
            </a:lvl1pPr>
          </a:lstStyle>
          <a:p>
            <a:r>
              <a:rPr lang="ja-JP" noProof="0" dirty="0"/>
              <a:t>侍ショー × 武士の精神文化体験</a:t>
            </a:r>
          </a:p>
        </p:txBody>
      </p:sp>
      <p:sp>
        <p:nvSpPr>
          <p:cNvPr id="92" name="Text 35">
            <a:extLst>
              <a:ext uri="{FF2B5EF4-FFF2-40B4-BE49-F238E27FC236}">
                <a16:creationId xmlns:a16="http://schemas.microsoft.com/office/drawing/2014/main" id="{BD77AD3F-D2BF-F416-3331-10BF70EE7830}"/>
              </a:ext>
            </a:extLst>
          </p:cNvPr>
          <p:cNvSpPr txBox="1"/>
          <p:nvPr/>
        </p:nvSpPr>
        <p:spPr>
          <a:xfrm>
            <a:off x="9282739" y="4555502"/>
            <a:ext cx="2520000" cy="889658"/>
          </a:xfrm>
          <a:prstGeom prst="rect">
            <a:avLst/>
          </a:prstGeom>
          <a:noFill/>
          <a:ln/>
        </p:spPr>
        <p:txBody>
          <a:bodyPr wrap="square" lIns="36000" tIns="36000" rIns="36000" bIns="36000" rtlCol="0" anchor="t">
            <a:spAutoFit/>
          </a:bodyPr>
          <a:lstStyle>
            <a:lvl1pPr indent="0">
              <a:lnSpc>
                <a:spcPct val="120000"/>
              </a:lnSpc>
              <a:buNone/>
              <a:defRPr sz="900">
                <a:latin typeface="Noto Sans JP" panose="020B0200000000000000" pitchFamily="50" charset="-128"/>
                <a:ea typeface="Noto Sans JP" panose="020B0200000000000000" pitchFamily="50" charset="-128"/>
                <a:cs typeface="Noto Sans JP" pitchFamily="34" charset="-120"/>
              </a:defRPr>
            </a:lvl1pPr>
          </a:lstStyle>
          <a:p>
            <a:r>
              <a:rPr lang="ja-JP" noProof="0" dirty="0"/>
              <a:t>本格的な殺陣と武士の所作を披露する侍パフォーマンス。甲冑展示や武士道の解説を組み合わせ、日本の武士文化を五感で体感できる人気コンテンツです。日本語での上演と英語での解説に対応</a:t>
            </a:r>
          </a:p>
        </p:txBody>
      </p:sp>
      <p:sp>
        <p:nvSpPr>
          <p:cNvPr id="15" name="Shape 4"/>
          <p:cNvSpPr/>
          <p:nvPr/>
        </p:nvSpPr>
        <p:spPr>
          <a:xfrm>
            <a:off x="800100" y="2123593"/>
            <a:ext cx="761695" cy="209398"/>
          </a:xfrm>
          <a:prstGeom prst="rect">
            <a:avLst/>
          </a:prstGeom>
          <a:solidFill>
            <a:srgbClr val="0A2647"/>
          </a:solidFill>
          <a:ln w="12700">
            <a:solidFill>
              <a:srgbClr val="FFFFFF">
                <a:alpha val="0"/>
              </a:srgbClr>
            </a:solidFill>
            <a:prstDash val="solid"/>
          </a:ln>
        </p:spPr>
        <p:txBody>
          <a:bodyPr/>
          <a:lstStyle/>
          <a:p>
            <a:pPr>
              <a:lnSpc>
                <a:spcPct val="120000"/>
              </a:lnSpc>
              <a:spcBef>
                <a:spcPts val="300"/>
              </a:spcBef>
            </a:pPr>
            <a:endParaRPr lang="ja-JP" sz="1000" noProof="0" dirty="0">
              <a:latin typeface="Noto Sans JP" panose="020B0200000000000000" pitchFamily="50" charset="-128"/>
              <a:ea typeface="Noto Sans JP" panose="020B0200000000000000" pitchFamily="50" charset="-128"/>
            </a:endParaRPr>
          </a:p>
        </p:txBody>
      </p:sp>
      <p:sp>
        <p:nvSpPr>
          <p:cNvPr id="16" name="Text 5"/>
          <p:cNvSpPr txBox="1"/>
          <p:nvPr/>
        </p:nvSpPr>
        <p:spPr>
          <a:xfrm>
            <a:off x="800100" y="2107398"/>
            <a:ext cx="223385" cy="24178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FBFAF7"/>
                </a:solidFill>
                <a:latin typeface="Noto Sans JP" panose="020B0200000000000000" pitchFamily="50" charset="-128"/>
                <a:ea typeface="Noto Sans JP" panose="020B0200000000000000" pitchFamily="50" charset="-128"/>
                <a:cs typeface="Noto Sans JP" pitchFamily="34" charset="-120"/>
              </a:rPr>
              <a:t>01</a:t>
            </a:r>
            <a:endParaRPr lang="ja-JP" sz="1000" noProof="0" dirty="0">
              <a:latin typeface="Noto Sans JP" panose="020B0200000000000000" pitchFamily="50" charset="-128"/>
              <a:ea typeface="Noto Sans JP" panose="020B0200000000000000" pitchFamily="50" charset="-128"/>
            </a:endParaRPr>
          </a:p>
        </p:txBody>
      </p:sp>
      <p:sp>
        <p:nvSpPr>
          <p:cNvPr id="17" name="Shape 6"/>
          <p:cNvSpPr/>
          <p:nvPr/>
        </p:nvSpPr>
        <p:spPr>
          <a:xfrm>
            <a:off x="3700440" y="2123593"/>
            <a:ext cx="761695" cy="209398"/>
          </a:xfrm>
          <a:prstGeom prst="rect">
            <a:avLst/>
          </a:prstGeom>
          <a:solidFill>
            <a:srgbClr val="0A2647"/>
          </a:solidFill>
          <a:ln w="12700">
            <a:solidFill>
              <a:srgbClr val="FFFFFF">
                <a:alpha val="0"/>
              </a:srgbClr>
            </a:solidFill>
            <a:prstDash val="solid"/>
          </a:ln>
        </p:spPr>
        <p:txBody>
          <a:bodyPr/>
          <a:lstStyle/>
          <a:p>
            <a:pPr>
              <a:lnSpc>
                <a:spcPct val="120000"/>
              </a:lnSpc>
              <a:spcBef>
                <a:spcPts val="300"/>
              </a:spcBef>
            </a:pPr>
            <a:endParaRPr lang="ja-JP" sz="1000" noProof="0" dirty="0">
              <a:latin typeface="Noto Sans JP" panose="020B0200000000000000" pitchFamily="50" charset="-128"/>
              <a:ea typeface="Noto Sans JP" panose="020B0200000000000000" pitchFamily="50" charset="-128"/>
            </a:endParaRPr>
          </a:p>
        </p:txBody>
      </p:sp>
      <p:sp>
        <p:nvSpPr>
          <p:cNvPr id="18" name="Text 7"/>
          <p:cNvSpPr txBox="1"/>
          <p:nvPr/>
        </p:nvSpPr>
        <p:spPr>
          <a:xfrm>
            <a:off x="3700440" y="2107398"/>
            <a:ext cx="223385" cy="24178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FBFAF7"/>
                </a:solidFill>
                <a:latin typeface="Noto Sans JP" panose="020B0200000000000000" pitchFamily="50" charset="-128"/>
                <a:ea typeface="Noto Sans JP" panose="020B0200000000000000" pitchFamily="50" charset="-128"/>
                <a:cs typeface="Noto Sans JP" pitchFamily="34" charset="-120"/>
              </a:rPr>
              <a:t>02</a:t>
            </a:r>
            <a:endParaRPr lang="ja-JP" sz="1000" noProof="0" dirty="0">
              <a:latin typeface="Noto Sans JP" panose="020B0200000000000000" pitchFamily="50" charset="-128"/>
              <a:ea typeface="Noto Sans JP" panose="020B0200000000000000" pitchFamily="50" charset="-128"/>
            </a:endParaRPr>
          </a:p>
        </p:txBody>
      </p:sp>
      <p:sp>
        <p:nvSpPr>
          <p:cNvPr id="19" name="Shape 8"/>
          <p:cNvSpPr/>
          <p:nvPr/>
        </p:nvSpPr>
        <p:spPr>
          <a:xfrm>
            <a:off x="6600780" y="2123593"/>
            <a:ext cx="761695" cy="209398"/>
          </a:xfrm>
          <a:prstGeom prst="rect">
            <a:avLst/>
          </a:prstGeom>
          <a:solidFill>
            <a:srgbClr val="0A2647"/>
          </a:solidFill>
          <a:ln w="12700">
            <a:solidFill>
              <a:srgbClr val="FFFFFF">
                <a:alpha val="0"/>
              </a:srgbClr>
            </a:solidFill>
            <a:prstDash val="solid"/>
          </a:ln>
        </p:spPr>
        <p:txBody>
          <a:bodyPr/>
          <a:lstStyle/>
          <a:p>
            <a:pPr>
              <a:lnSpc>
                <a:spcPct val="120000"/>
              </a:lnSpc>
              <a:spcBef>
                <a:spcPts val="300"/>
              </a:spcBef>
            </a:pPr>
            <a:endParaRPr lang="ja-JP" sz="1000" noProof="0" dirty="0">
              <a:latin typeface="Noto Sans JP" panose="020B0200000000000000" pitchFamily="50" charset="-128"/>
              <a:ea typeface="Noto Sans JP" panose="020B0200000000000000" pitchFamily="50" charset="-128"/>
            </a:endParaRPr>
          </a:p>
        </p:txBody>
      </p:sp>
      <p:sp>
        <p:nvSpPr>
          <p:cNvPr id="20" name="Text 9"/>
          <p:cNvSpPr txBox="1"/>
          <p:nvPr/>
        </p:nvSpPr>
        <p:spPr>
          <a:xfrm>
            <a:off x="6600780" y="2107398"/>
            <a:ext cx="223385" cy="24178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FBFAF7"/>
                </a:solidFill>
                <a:latin typeface="Noto Sans JP" panose="020B0200000000000000" pitchFamily="50" charset="-128"/>
                <a:ea typeface="Noto Sans JP" panose="020B0200000000000000" pitchFamily="50" charset="-128"/>
                <a:cs typeface="Noto Sans JP" pitchFamily="34" charset="-120"/>
              </a:rPr>
              <a:t>03</a:t>
            </a:r>
            <a:endParaRPr lang="ja-JP" sz="1000" noProof="0" dirty="0">
              <a:latin typeface="Noto Sans JP" panose="020B0200000000000000" pitchFamily="50" charset="-128"/>
              <a:ea typeface="Noto Sans JP" panose="020B0200000000000000" pitchFamily="50" charset="-128"/>
            </a:endParaRPr>
          </a:p>
        </p:txBody>
      </p:sp>
      <p:sp>
        <p:nvSpPr>
          <p:cNvPr id="21" name="Shape 10"/>
          <p:cNvSpPr/>
          <p:nvPr/>
        </p:nvSpPr>
        <p:spPr>
          <a:xfrm>
            <a:off x="9501120" y="2123593"/>
            <a:ext cx="761695" cy="209398"/>
          </a:xfrm>
          <a:prstGeom prst="rect">
            <a:avLst/>
          </a:prstGeom>
          <a:solidFill>
            <a:srgbClr val="0A2647"/>
          </a:solidFill>
          <a:ln w="12700">
            <a:solidFill>
              <a:srgbClr val="FFFFFF">
                <a:alpha val="0"/>
              </a:srgbClr>
            </a:solidFill>
            <a:prstDash val="solid"/>
          </a:ln>
        </p:spPr>
        <p:txBody>
          <a:bodyPr/>
          <a:lstStyle/>
          <a:p>
            <a:pPr>
              <a:lnSpc>
                <a:spcPct val="120000"/>
              </a:lnSpc>
              <a:spcBef>
                <a:spcPts val="300"/>
              </a:spcBef>
            </a:pPr>
            <a:endParaRPr lang="ja-JP" sz="1000" noProof="0" dirty="0">
              <a:latin typeface="Noto Sans JP" panose="020B0200000000000000" pitchFamily="50" charset="-128"/>
              <a:ea typeface="Noto Sans JP" panose="020B0200000000000000" pitchFamily="50" charset="-128"/>
            </a:endParaRPr>
          </a:p>
        </p:txBody>
      </p:sp>
      <p:sp>
        <p:nvSpPr>
          <p:cNvPr id="22" name="Text 11"/>
          <p:cNvSpPr txBox="1"/>
          <p:nvPr/>
        </p:nvSpPr>
        <p:spPr>
          <a:xfrm>
            <a:off x="9501120" y="2107398"/>
            <a:ext cx="223385" cy="24178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FBFAF7"/>
                </a:solidFill>
                <a:latin typeface="Noto Sans JP" panose="020B0200000000000000" pitchFamily="50" charset="-128"/>
                <a:ea typeface="Noto Sans JP" panose="020B0200000000000000" pitchFamily="50" charset="-128"/>
                <a:cs typeface="Noto Sans JP" pitchFamily="34" charset="-120"/>
              </a:rPr>
              <a:t>04</a:t>
            </a:r>
            <a:endParaRPr lang="ja-JP" sz="1000" noProof="0" dirty="0">
              <a:latin typeface="Noto Sans JP" panose="020B0200000000000000" pitchFamily="50" charset="-128"/>
              <a:ea typeface="Noto Sans JP" panose="020B0200000000000000" pitchFamily="50" charset="-128"/>
            </a:endParaRPr>
          </a:p>
        </p:txBody>
      </p:sp>
      <p:pic>
        <p:nvPicPr>
          <p:cNvPr id="106" name="Image 3" descr="gen-dedup-0466907e93d70cee6b7afe44fc6a3219.png">
            <a:extLst>
              <a:ext uri="{FF2B5EF4-FFF2-40B4-BE49-F238E27FC236}">
                <a16:creationId xmlns:a16="http://schemas.microsoft.com/office/drawing/2014/main" id="{87E66B3A-21AC-DB7B-34AE-B7EA78F70B5B}"/>
              </a:ext>
            </a:extLst>
          </p:cNvPr>
          <p:cNvPicPr>
            <a:picLocks noChangeAspect="1"/>
          </p:cNvPicPr>
          <p:nvPr/>
        </p:nvPicPr>
        <p:blipFill>
          <a:blip r:embed="rId5"/>
          <a:srcRect t="1994" b="1994"/>
          <a:stretch/>
        </p:blipFill>
        <p:spPr>
          <a:xfrm>
            <a:off x="6326149" y="5570961"/>
            <a:ext cx="2520000" cy="9750"/>
          </a:xfrm>
          <a:prstGeom prst="rect">
            <a:avLst/>
          </a:prstGeom>
        </p:spPr>
      </p:pic>
      <p:sp>
        <p:nvSpPr>
          <p:cNvPr id="107" name="Text 24">
            <a:extLst>
              <a:ext uri="{FF2B5EF4-FFF2-40B4-BE49-F238E27FC236}">
                <a16:creationId xmlns:a16="http://schemas.microsoft.com/office/drawing/2014/main" id="{6BFDDF19-CF05-805C-7B94-C79FCB561B15}"/>
              </a:ext>
            </a:extLst>
          </p:cNvPr>
          <p:cNvSpPr txBox="1"/>
          <p:nvPr/>
        </p:nvSpPr>
        <p:spPr>
          <a:xfrm>
            <a:off x="6326148" y="5595459"/>
            <a:ext cx="2520000" cy="227169"/>
          </a:xfrm>
          <a:prstGeom prst="rect">
            <a:avLst/>
          </a:prstGeom>
          <a:noFill/>
          <a:ln/>
        </p:spPr>
        <p:txBody>
          <a:bodyPr wrap="square" lIns="36000" tIns="36000" rIns="36000" bIns="36000" rtlCol="0" anchor="ctr">
            <a:spAutoFit/>
          </a:bodyPr>
          <a:lstStyle/>
          <a:p>
            <a:pPr marL="266700" indent="-26670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108" name="Text 25">
            <a:extLst>
              <a:ext uri="{FF2B5EF4-FFF2-40B4-BE49-F238E27FC236}">
                <a16:creationId xmlns:a16="http://schemas.microsoft.com/office/drawing/2014/main" id="{A0E8B97A-7A65-E8B5-4C64-E483E2BE8AE0}"/>
              </a:ext>
            </a:extLst>
          </p:cNvPr>
          <p:cNvSpPr txBox="1"/>
          <p:nvPr/>
        </p:nvSpPr>
        <p:spPr>
          <a:xfrm>
            <a:off x="6326149" y="5849371"/>
            <a:ext cx="2520000" cy="227169"/>
          </a:xfrm>
          <a:prstGeom prst="rect">
            <a:avLst/>
          </a:prstGeom>
          <a:noFill/>
          <a:ln/>
        </p:spPr>
        <p:txBody>
          <a:bodyPr wrap="square" lIns="36000" tIns="36000" rIns="36000" bIns="36000" rtlCol="0" anchor="t">
            <a:spAutoFit/>
          </a:bodyPr>
          <a:lstStyle/>
          <a:p>
            <a:pPr marL="266700" indent="-266700" algn="l">
              <a:lnSpc>
                <a:spcPct val="120000"/>
              </a:lnSpc>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	美術・デザイン関心の高い欧米個人層</a:t>
            </a:r>
            <a:endParaRPr lang="ja-JP" sz="900" noProof="0" dirty="0">
              <a:latin typeface="Noto Sans JP" panose="020B0200000000000000" pitchFamily="50" charset="-128"/>
              <a:ea typeface="Noto Sans JP" panose="020B0200000000000000" pitchFamily="50" charset="-128"/>
            </a:endParaRPr>
          </a:p>
        </p:txBody>
      </p:sp>
      <p:sp>
        <p:nvSpPr>
          <p:cNvPr id="109" name="Text 26">
            <a:extLst>
              <a:ext uri="{FF2B5EF4-FFF2-40B4-BE49-F238E27FC236}">
                <a16:creationId xmlns:a16="http://schemas.microsoft.com/office/drawing/2014/main" id="{A2895255-2C96-01F3-7A14-87ACEB72860C}"/>
              </a:ext>
            </a:extLst>
          </p:cNvPr>
          <p:cNvSpPr txBox="1"/>
          <p:nvPr/>
        </p:nvSpPr>
        <p:spPr>
          <a:xfrm>
            <a:off x="6326149" y="6102592"/>
            <a:ext cx="2520000" cy="391060"/>
          </a:xfrm>
          <a:prstGeom prst="rect">
            <a:avLst/>
          </a:prstGeom>
          <a:noFill/>
          <a:ln/>
        </p:spPr>
        <p:txBody>
          <a:bodyPr wrap="square" lIns="36000" tIns="36000" rIns="36000" bIns="36000" rtlCol="0" anchor="t">
            <a:spAutoFit/>
          </a:bodyPr>
          <a:lstStyle/>
          <a:p>
            <a:pPr marL="266700" indent="-266700">
              <a:lnSpc>
                <a:spcPct val="120000"/>
              </a:lnSpc>
              <a:spcBef>
                <a:spcPts val="300"/>
              </a:spcBef>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ja-JP" sz="900" noProof="0" dirty="0">
                <a:solidFill>
                  <a:srgbClr val="4F5B6B"/>
                </a:solidFill>
                <a:latin typeface="Noto Sans JP" pitchFamily="34" charset="0"/>
                <a:ea typeface="Noto Sans JP" pitchFamily="34" charset="-122"/>
                <a:cs typeface="Noto Sans JP" pitchFamily="34" charset="-120"/>
              </a:rPr>
              <a:t> 観光ではなく“いまの東京の街とアート” を体感したい</a:t>
            </a:r>
            <a:endParaRPr lang="ja-JP" sz="900" noProof="0" dirty="0">
              <a:latin typeface="Noto Sans JP" panose="020B0200000000000000" pitchFamily="50" charset="-128"/>
              <a:ea typeface="Noto Sans JP" panose="020B0200000000000000" pitchFamily="50" charset="-128"/>
            </a:endParaRPr>
          </a:p>
        </p:txBody>
      </p:sp>
      <p:pic>
        <p:nvPicPr>
          <p:cNvPr id="115" name="Image 3" descr="gen-dedup-0466907e93d70cee6b7afe44fc6a3219.png">
            <a:extLst>
              <a:ext uri="{FF2B5EF4-FFF2-40B4-BE49-F238E27FC236}">
                <a16:creationId xmlns:a16="http://schemas.microsoft.com/office/drawing/2014/main" id="{5D972221-1E79-44BB-5771-62E43617D966}"/>
              </a:ext>
            </a:extLst>
          </p:cNvPr>
          <p:cNvPicPr>
            <a:picLocks noChangeAspect="1"/>
          </p:cNvPicPr>
          <p:nvPr/>
        </p:nvPicPr>
        <p:blipFill>
          <a:blip r:embed="rId5"/>
          <a:srcRect t="1994" b="1994"/>
          <a:stretch/>
        </p:blipFill>
        <p:spPr>
          <a:xfrm>
            <a:off x="9291165" y="5570961"/>
            <a:ext cx="2520000" cy="9750"/>
          </a:xfrm>
          <a:prstGeom prst="rect">
            <a:avLst/>
          </a:prstGeom>
        </p:spPr>
      </p:pic>
      <p:sp>
        <p:nvSpPr>
          <p:cNvPr id="116" name="Text 24">
            <a:extLst>
              <a:ext uri="{FF2B5EF4-FFF2-40B4-BE49-F238E27FC236}">
                <a16:creationId xmlns:a16="http://schemas.microsoft.com/office/drawing/2014/main" id="{96DA18E1-9A77-5222-8031-FFACB050C82E}"/>
              </a:ext>
            </a:extLst>
          </p:cNvPr>
          <p:cNvSpPr txBox="1"/>
          <p:nvPr/>
        </p:nvSpPr>
        <p:spPr>
          <a:xfrm>
            <a:off x="9291164" y="5595459"/>
            <a:ext cx="2520000" cy="227169"/>
          </a:xfrm>
          <a:prstGeom prst="rect">
            <a:avLst/>
          </a:prstGeom>
          <a:noFill/>
          <a:ln/>
        </p:spPr>
        <p:txBody>
          <a:bodyPr wrap="square" lIns="36000" tIns="36000" rIns="36000" bIns="36000" rtlCol="0" anchor="ctr">
            <a:spAutoFit/>
          </a:bodyPr>
          <a:lstStyle/>
          <a:p>
            <a:pPr marL="266700" indent="-26670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117" name="Text 25">
            <a:extLst>
              <a:ext uri="{FF2B5EF4-FFF2-40B4-BE49-F238E27FC236}">
                <a16:creationId xmlns:a16="http://schemas.microsoft.com/office/drawing/2014/main" id="{B8800A16-1EB3-5594-42D4-61A7626F7B87}"/>
              </a:ext>
            </a:extLst>
          </p:cNvPr>
          <p:cNvSpPr txBox="1"/>
          <p:nvPr/>
        </p:nvSpPr>
        <p:spPr>
          <a:xfrm>
            <a:off x="9291165" y="5849371"/>
            <a:ext cx="2520000" cy="227169"/>
          </a:xfrm>
          <a:prstGeom prst="rect">
            <a:avLst/>
          </a:prstGeom>
          <a:noFill/>
          <a:ln/>
        </p:spPr>
        <p:txBody>
          <a:bodyPr wrap="square" lIns="36000" tIns="36000" rIns="36000" bIns="36000" rtlCol="0" anchor="t">
            <a:spAutoFit/>
          </a:bodyPr>
          <a:lstStyle/>
          <a:p>
            <a:pPr marL="266700" indent="-266700" algn="l">
              <a:lnSpc>
                <a:spcPct val="120000"/>
              </a:lnSpc>
              <a:buNone/>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	欧米ファミリー・和文化に関心のある層</a:t>
            </a:r>
            <a:endParaRPr lang="ja-JP" sz="900" noProof="0" dirty="0">
              <a:latin typeface="Noto Sans JP" panose="020B0200000000000000" pitchFamily="50" charset="-128"/>
              <a:ea typeface="Noto Sans JP" panose="020B0200000000000000" pitchFamily="50" charset="-128"/>
            </a:endParaRPr>
          </a:p>
        </p:txBody>
      </p:sp>
      <p:sp>
        <p:nvSpPr>
          <p:cNvPr id="118" name="Text 26">
            <a:extLst>
              <a:ext uri="{FF2B5EF4-FFF2-40B4-BE49-F238E27FC236}">
                <a16:creationId xmlns:a16="http://schemas.microsoft.com/office/drawing/2014/main" id="{EDBA5D35-AFED-1A5B-9421-8D6FD0237EE1}"/>
              </a:ext>
            </a:extLst>
          </p:cNvPr>
          <p:cNvSpPr txBox="1"/>
          <p:nvPr/>
        </p:nvSpPr>
        <p:spPr>
          <a:xfrm>
            <a:off x="9291165" y="6102592"/>
            <a:ext cx="2520000" cy="391060"/>
          </a:xfrm>
          <a:prstGeom prst="rect">
            <a:avLst/>
          </a:prstGeom>
          <a:noFill/>
          <a:ln/>
        </p:spPr>
        <p:txBody>
          <a:bodyPr wrap="square" lIns="36000" tIns="36000" rIns="36000" bIns="36000" rtlCol="0" anchor="t">
            <a:spAutoFit/>
          </a:bodyPr>
          <a:lstStyle/>
          <a:p>
            <a:pPr marL="266700" indent="-266700">
              <a:lnSpc>
                <a:spcPct val="120000"/>
              </a:lnSpc>
              <a:spcBef>
                <a:spcPts val="300"/>
              </a:spcBef>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ja-JP" sz="900" noProof="0" dirty="0">
                <a:solidFill>
                  <a:srgbClr val="4F5B6B"/>
                </a:solidFill>
                <a:latin typeface="Noto Sans JP" pitchFamily="34" charset="0"/>
                <a:ea typeface="Noto Sans JP" pitchFamily="34" charset="-122"/>
                <a:cs typeface="Noto Sans JP" pitchFamily="34" charset="-120"/>
              </a:rPr>
              <a:t> ショーだけでなく日本の精神文化まで体感したい</a:t>
            </a:r>
            <a:endParaRPr lang="ja-JP" sz="900" noProof="0" dirty="0">
              <a:latin typeface="Noto Sans JP" panose="020B0200000000000000" pitchFamily="50" charset="-128"/>
              <a:ea typeface="Noto Sans JP" panose="020B0200000000000000"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5" name="Shape 3"/>
          <p:cNvSpPr/>
          <p:nvPr/>
        </p:nvSpPr>
        <p:spPr>
          <a:xfrm>
            <a:off x="9325485" y="2049026"/>
            <a:ext cx="2664000" cy="4572000"/>
          </a:xfrm>
          <a:prstGeom prst="rect">
            <a:avLst/>
          </a:prstGeom>
          <a:solidFill>
            <a:schemeClr val="bg1"/>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53" name="図 52">
            <a:extLst>
              <a:ext uri="{FF2B5EF4-FFF2-40B4-BE49-F238E27FC236}">
                <a16:creationId xmlns:a16="http://schemas.microsoft.com/office/drawing/2014/main" id="{0FA82D36-10AA-952B-C8A1-310B3546D09B}"/>
              </a:ext>
            </a:extLst>
          </p:cNvPr>
          <p:cNvPicPr>
            <a:picLocks noChangeAspect="1"/>
          </p:cNvPicPr>
          <p:nvPr/>
        </p:nvPicPr>
        <p:blipFill>
          <a:blip r:embed="rId3"/>
          <a:srcRect b="11576"/>
          <a:stretch>
            <a:fillRect/>
          </a:stretch>
        </p:blipFill>
        <p:spPr>
          <a:xfrm>
            <a:off x="9325485" y="2033223"/>
            <a:ext cx="2664000" cy="1571173"/>
          </a:xfrm>
          <a:prstGeom prst="rect">
            <a:avLst/>
          </a:prstGeom>
        </p:spPr>
      </p:pic>
      <p:sp>
        <p:nvSpPr>
          <p:cNvPr id="4" name="Shape 2"/>
          <p:cNvSpPr/>
          <p:nvPr/>
        </p:nvSpPr>
        <p:spPr>
          <a:xfrm>
            <a:off x="6476695" y="2049026"/>
            <a:ext cx="2664000" cy="4572000"/>
          </a:xfrm>
          <a:prstGeom prst="rect">
            <a:avLst/>
          </a:prstGeom>
          <a:solidFill>
            <a:schemeClr val="bg1"/>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52" name="図 51">
            <a:extLst>
              <a:ext uri="{FF2B5EF4-FFF2-40B4-BE49-F238E27FC236}">
                <a16:creationId xmlns:a16="http://schemas.microsoft.com/office/drawing/2014/main" id="{9E83F8E9-F190-71EF-D9FD-1E7E19F3B2B7}"/>
              </a:ext>
            </a:extLst>
          </p:cNvPr>
          <p:cNvPicPr>
            <a:picLocks noChangeAspect="1"/>
          </p:cNvPicPr>
          <p:nvPr/>
        </p:nvPicPr>
        <p:blipFill>
          <a:blip r:embed="rId4"/>
          <a:srcRect b="11242"/>
          <a:stretch>
            <a:fillRect/>
          </a:stretch>
        </p:blipFill>
        <p:spPr>
          <a:xfrm>
            <a:off x="6476695" y="2032542"/>
            <a:ext cx="2664000" cy="1571854"/>
          </a:xfrm>
          <a:prstGeom prst="rect">
            <a:avLst/>
          </a:prstGeom>
        </p:spPr>
      </p:pic>
      <p:sp>
        <p:nvSpPr>
          <p:cNvPr id="2" name="Shape 0"/>
          <p:cNvSpPr/>
          <p:nvPr/>
        </p:nvSpPr>
        <p:spPr>
          <a:xfrm>
            <a:off x="571500" y="2049026"/>
            <a:ext cx="2664000" cy="4572000"/>
          </a:xfrm>
          <a:prstGeom prst="rect">
            <a:avLst/>
          </a:prstGeom>
          <a:solidFill>
            <a:schemeClr val="bg1"/>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sp>
        <p:nvSpPr>
          <p:cNvPr id="3" name="Shape 1"/>
          <p:cNvSpPr/>
          <p:nvPr/>
        </p:nvSpPr>
        <p:spPr>
          <a:xfrm>
            <a:off x="3524098" y="2049026"/>
            <a:ext cx="2664000" cy="4572000"/>
          </a:xfrm>
          <a:prstGeom prst="rect">
            <a:avLst/>
          </a:prstGeom>
          <a:solidFill>
            <a:schemeClr val="bg1"/>
          </a:solidFill>
          <a:ln w="12700">
            <a:solidFill>
              <a:srgbClr val="FFFFFF">
                <a:alpha val="0"/>
              </a:srgbClr>
            </a:solidFill>
            <a:prstDash val="solid"/>
          </a:ln>
        </p:spPr>
        <p:txBody>
          <a:bodyPr/>
          <a:lstStyle/>
          <a:p>
            <a:pPr>
              <a:lnSpc>
                <a:spcPct val="120000"/>
              </a:lnSpc>
              <a:spcBef>
                <a:spcPts val="300"/>
              </a:spcBef>
            </a:pPr>
            <a:endParaRPr lang="ja-JP" noProof="0" dirty="0">
              <a:latin typeface="Noto Sans JP" panose="020B0200000000000000" pitchFamily="50" charset="-128"/>
              <a:ea typeface="Noto Sans JP" panose="020B0200000000000000" pitchFamily="50" charset="-128"/>
            </a:endParaRPr>
          </a:p>
        </p:txBody>
      </p:sp>
      <p:pic>
        <p:nvPicPr>
          <p:cNvPr id="6" name="Image 0" descr="gen-dedup-9fddbbf61e8ef241ca0df9f12cb67296.jpg"/>
          <p:cNvPicPr>
            <a:picLocks noChangeAspect="1"/>
          </p:cNvPicPr>
          <p:nvPr/>
        </p:nvPicPr>
        <p:blipFill>
          <a:blip r:embed="rId5"/>
          <a:stretch>
            <a:fillRect/>
          </a:stretch>
        </p:blipFill>
        <p:spPr>
          <a:xfrm>
            <a:off x="571500" y="2032542"/>
            <a:ext cx="2664000" cy="1571854"/>
          </a:xfrm>
          <a:prstGeom prst="rect">
            <a:avLst/>
          </a:prstGeom>
        </p:spPr>
      </p:pic>
      <p:pic>
        <p:nvPicPr>
          <p:cNvPr id="7" name="Image 1" descr="gen-dedup-0466907e93d70cee6b7afe44fc6a3219.png"/>
          <p:cNvPicPr>
            <a:picLocks noChangeAspect="1"/>
          </p:cNvPicPr>
          <p:nvPr/>
        </p:nvPicPr>
        <p:blipFill>
          <a:blip r:embed="rId6"/>
          <a:srcRect t="1994" b="1994"/>
          <a:stretch/>
        </p:blipFill>
        <p:spPr>
          <a:xfrm>
            <a:off x="800100" y="5485271"/>
            <a:ext cx="2304000" cy="8920"/>
          </a:xfrm>
          <a:prstGeom prst="rect">
            <a:avLst/>
          </a:prstGeom>
        </p:spPr>
      </p:pic>
      <p:pic>
        <p:nvPicPr>
          <p:cNvPr id="8" name="Image 2" descr="gen-dedup-e7853318b78a09f2864284dd4235f22f.jpg"/>
          <p:cNvPicPr>
            <a:picLocks noChangeAspect="1"/>
          </p:cNvPicPr>
          <p:nvPr/>
        </p:nvPicPr>
        <p:blipFill>
          <a:blip r:embed="rId7"/>
          <a:stretch>
            <a:fillRect/>
          </a:stretch>
        </p:blipFill>
        <p:spPr>
          <a:xfrm>
            <a:off x="3524098" y="2032542"/>
            <a:ext cx="2664000" cy="1571854"/>
          </a:xfrm>
          <a:prstGeom prst="rect">
            <a:avLst/>
          </a:prstGeom>
        </p:spPr>
      </p:pic>
      <p:pic>
        <p:nvPicPr>
          <p:cNvPr id="9" name="Image 3" descr="gen-dedup-0466907e93d70cee6b7afe44fc6a3219.png"/>
          <p:cNvPicPr>
            <a:picLocks noChangeAspect="1"/>
          </p:cNvPicPr>
          <p:nvPr/>
        </p:nvPicPr>
        <p:blipFill>
          <a:blip r:embed="rId6"/>
          <a:srcRect t="1994" b="1994"/>
          <a:stretch/>
        </p:blipFill>
        <p:spPr>
          <a:xfrm>
            <a:off x="3752698" y="5485271"/>
            <a:ext cx="2304000" cy="8920"/>
          </a:xfrm>
          <a:prstGeom prst="rect">
            <a:avLst/>
          </a:prstGeom>
        </p:spPr>
      </p:pic>
      <p:pic>
        <p:nvPicPr>
          <p:cNvPr id="11" name="Image 5" descr="gen-dedup-0466907e93d70cee6b7afe44fc6a3219.png"/>
          <p:cNvPicPr>
            <a:picLocks noChangeAspect="1"/>
          </p:cNvPicPr>
          <p:nvPr/>
        </p:nvPicPr>
        <p:blipFill>
          <a:blip r:embed="rId6"/>
          <a:srcRect t="1994" b="1994"/>
          <a:stretch/>
        </p:blipFill>
        <p:spPr>
          <a:xfrm>
            <a:off x="6705295" y="5485271"/>
            <a:ext cx="2304000" cy="8920"/>
          </a:xfrm>
          <a:prstGeom prst="rect">
            <a:avLst/>
          </a:prstGeom>
        </p:spPr>
      </p:pic>
      <p:pic>
        <p:nvPicPr>
          <p:cNvPr id="13" name="Image 7" descr="gen-dedup-44465860716e4f3fc492cd87c5acccd4.png"/>
          <p:cNvPicPr>
            <a:picLocks noChangeAspect="1"/>
          </p:cNvPicPr>
          <p:nvPr/>
        </p:nvPicPr>
        <p:blipFill>
          <a:blip r:embed="rId8"/>
          <a:srcRect b="3992"/>
          <a:stretch/>
        </p:blipFill>
        <p:spPr>
          <a:xfrm>
            <a:off x="9554085" y="5485271"/>
            <a:ext cx="2304000" cy="11642"/>
          </a:xfrm>
          <a:prstGeom prst="rect">
            <a:avLst/>
          </a:prstGeom>
        </p:spPr>
      </p:pic>
      <p:sp>
        <p:nvSpPr>
          <p:cNvPr id="15" name="Shape 4"/>
          <p:cNvSpPr/>
          <p:nvPr/>
        </p:nvSpPr>
        <p:spPr>
          <a:xfrm>
            <a:off x="800100" y="2107756"/>
            <a:ext cx="761695" cy="209398"/>
          </a:xfrm>
          <a:prstGeom prst="rect">
            <a:avLst/>
          </a:prstGeom>
          <a:solidFill>
            <a:srgbClr val="ED8B3C"/>
          </a:solidFill>
          <a:ln w="12700">
            <a:solidFill>
              <a:srgbClr val="FFFFFF">
                <a:alpha val="0"/>
              </a:srgbClr>
            </a:solidFill>
            <a:prstDash val="solid"/>
          </a:ln>
        </p:spPr>
        <p:txBody>
          <a:bodyPr/>
          <a:lstStyle/>
          <a:p>
            <a:pPr>
              <a:lnSpc>
                <a:spcPct val="120000"/>
              </a:lnSpc>
              <a:spcBef>
                <a:spcPts val="300"/>
              </a:spcBef>
            </a:pPr>
            <a:endParaRPr lang="ja-JP" sz="1000" noProof="0" dirty="0">
              <a:latin typeface="Noto Sans JP" panose="020B0200000000000000" pitchFamily="50" charset="-128"/>
              <a:ea typeface="Noto Sans JP" panose="020B0200000000000000" pitchFamily="50" charset="-128"/>
            </a:endParaRPr>
          </a:p>
        </p:txBody>
      </p:sp>
      <p:sp>
        <p:nvSpPr>
          <p:cNvPr id="16" name="Text 5"/>
          <p:cNvSpPr txBox="1"/>
          <p:nvPr/>
        </p:nvSpPr>
        <p:spPr>
          <a:xfrm>
            <a:off x="800100" y="2091562"/>
            <a:ext cx="223385" cy="24178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FBFAF7"/>
                </a:solidFill>
                <a:latin typeface="Noto Sans JP" panose="020B0200000000000000" pitchFamily="50" charset="-128"/>
                <a:ea typeface="Noto Sans JP" panose="020B0200000000000000" pitchFamily="50" charset="-128"/>
                <a:cs typeface="Noto Sans JP" pitchFamily="34" charset="-120"/>
              </a:rPr>
              <a:t>01</a:t>
            </a:r>
            <a:endParaRPr lang="ja-JP" sz="1000" noProof="0" dirty="0">
              <a:latin typeface="Noto Sans JP" panose="020B0200000000000000" pitchFamily="50" charset="-128"/>
              <a:ea typeface="Noto Sans JP" panose="020B0200000000000000" pitchFamily="50" charset="-128"/>
            </a:endParaRPr>
          </a:p>
        </p:txBody>
      </p:sp>
      <p:sp>
        <p:nvSpPr>
          <p:cNvPr id="17" name="Shape 6"/>
          <p:cNvSpPr/>
          <p:nvPr/>
        </p:nvSpPr>
        <p:spPr>
          <a:xfrm>
            <a:off x="3752698" y="2107756"/>
            <a:ext cx="761695" cy="209398"/>
          </a:xfrm>
          <a:prstGeom prst="rect">
            <a:avLst/>
          </a:prstGeom>
          <a:solidFill>
            <a:srgbClr val="ED8B3C"/>
          </a:solidFill>
          <a:ln w="12700">
            <a:solidFill>
              <a:srgbClr val="FFFFFF">
                <a:alpha val="0"/>
              </a:srgbClr>
            </a:solidFill>
            <a:prstDash val="solid"/>
          </a:ln>
        </p:spPr>
        <p:txBody>
          <a:bodyPr/>
          <a:lstStyle/>
          <a:p>
            <a:pPr>
              <a:lnSpc>
                <a:spcPct val="120000"/>
              </a:lnSpc>
              <a:spcBef>
                <a:spcPts val="300"/>
              </a:spcBef>
            </a:pPr>
            <a:endParaRPr lang="ja-JP" sz="1000" noProof="0" dirty="0">
              <a:latin typeface="Noto Sans JP" panose="020B0200000000000000" pitchFamily="50" charset="-128"/>
              <a:ea typeface="Noto Sans JP" panose="020B0200000000000000" pitchFamily="50" charset="-128"/>
            </a:endParaRPr>
          </a:p>
        </p:txBody>
      </p:sp>
      <p:sp>
        <p:nvSpPr>
          <p:cNvPr id="18" name="Text 7"/>
          <p:cNvSpPr txBox="1"/>
          <p:nvPr/>
        </p:nvSpPr>
        <p:spPr>
          <a:xfrm>
            <a:off x="3752698" y="2091562"/>
            <a:ext cx="223385" cy="24178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FBFAF7"/>
                </a:solidFill>
                <a:latin typeface="Noto Sans JP" panose="020B0200000000000000" pitchFamily="50" charset="-128"/>
                <a:ea typeface="Noto Sans JP" panose="020B0200000000000000" pitchFamily="50" charset="-128"/>
                <a:cs typeface="Noto Sans JP" pitchFamily="34" charset="-120"/>
              </a:rPr>
              <a:t>02</a:t>
            </a:r>
            <a:endParaRPr lang="ja-JP" sz="1000" noProof="0" dirty="0">
              <a:latin typeface="Noto Sans JP" panose="020B0200000000000000" pitchFamily="50" charset="-128"/>
              <a:ea typeface="Noto Sans JP" panose="020B0200000000000000" pitchFamily="50" charset="-128"/>
            </a:endParaRPr>
          </a:p>
        </p:txBody>
      </p:sp>
      <p:sp>
        <p:nvSpPr>
          <p:cNvPr id="19" name="Shape 8"/>
          <p:cNvSpPr/>
          <p:nvPr/>
        </p:nvSpPr>
        <p:spPr>
          <a:xfrm>
            <a:off x="6705295" y="2107756"/>
            <a:ext cx="761695" cy="209398"/>
          </a:xfrm>
          <a:prstGeom prst="rect">
            <a:avLst/>
          </a:prstGeom>
          <a:solidFill>
            <a:srgbClr val="ED8B3C"/>
          </a:solidFill>
          <a:ln w="12700">
            <a:solidFill>
              <a:srgbClr val="FFFFFF">
                <a:alpha val="0"/>
              </a:srgbClr>
            </a:solidFill>
            <a:prstDash val="solid"/>
          </a:ln>
        </p:spPr>
        <p:txBody>
          <a:bodyPr/>
          <a:lstStyle/>
          <a:p>
            <a:pPr>
              <a:lnSpc>
                <a:spcPct val="120000"/>
              </a:lnSpc>
              <a:spcBef>
                <a:spcPts val="300"/>
              </a:spcBef>
            </a:pPr>
            <a:endParaRPr lang="ja-JP" sz="1000" noProof="0" dirty="0">
              <a:latin typeface="Noto Sans JP" panose="020B0200000000000000" pitchFamily="50" charset="-128"/>
              <a:ea typeface="Noto Sans JP" panose="020B0200000000000000" pitchFamily="50" charset="-128"/>
            </a:endParaRPr>
          </a:p>
        </p:txBody>
      </p:sp>
      <p:sp>
        <p:nvSpPr>
          <p:cNvPr id="20" name="Text 9"/>
          <p:cNvSpPr txBox="1"/>
          <p:nvPr/>
        </p:nvSpPr>
        <p:spPr>
          <a:xfrm>
            <a:off x="6705295" y="2091562"/>
            <a:ext cx="223385" cy="24178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FBFAF7"/>
                </a:solidFill>
                <a:latin typeface="Noto Sans JP" panose="020B0200000000000000" pitchFamily="50" charset="-128"/>
                <a:ea typeface="Noto Sans JP" panose="020B0200000000000000" pitchFamily="50" charset="-128"/>
                <a:cs typeface="Noto Sans JP" pitchFamily="34" charset="-120"/>
              </a:rPr>
              <a:t>03</a:t>
            </a:r>
            <a:endParaRPr lang="ja-JP" sz="1000" noProof="0" dirty="0">
              <a:latin typeface="Noto Sans JP" panose="020B0200000000000000" pitchFamily="50" charset="-128"/>
              <a:ea typeface="Noto Sans JP" panose="020B0200000000000000" pitchFamily="50" charset="-128"/>
            </a:endParaRPr>
          </a:p>
        </p:txBody>
      </p:sp>
      <p:sp>
        <p:nvSpPr>
          <p:cNvPr id="21" name="Shape 10"/>
          <p:cNvSpPr/>
          <p:nvPr/>
        </p:nvSpPr>
        <p:spPr>
          <a:xfrm>
            <a:off x="9554085" y="2107756"/>
            <a:ext cx="761695" cy="209398"/>
          </a:xfrm>
          <a:prstGeom prst="rect">
            <a:avLst/>
          </a:prstGeom>
          <a:solidFill>
            <a:srgbClr val="ED8B3C"/>
          </a:solidFill>
          <a:ln w="12700">
            <a:solidFill>
              <a:srgbClr val="FFFFFF">
                <a:alpha val="0"/>
              </a:srgbClr>
            </a:solidFill>
            <a:prstDash val="solid"/>
          </a:ln>
        </p:spPr>
        <p:txBody>
          <a:bodyPr/>
          <a:lstStyle/>
          <a:p>
            <a:pPr>
              <a:lnSpc>
                <a:spcPct val="120000"/>
              </a:lnSpc>
              <a:spcBef>
                <a:spcPts val="300"/>
              </a:spcBef>
            </a:pPr>
            <a:endParaRPr lang="ja-JP" sz="1000" noProof="0" dirty="0">
              <a:latin typeface="Noto Sans JP" panose="020B0200000000000000" pitchFamily="50" charset="-128"/>
              <a:ea typeface="Noto Sans JP" panose="020B0200000000000000" pitchFamily="50" charset="-128"/>
            </a:endParaRPr>
          </a:p>
        </p:txBody>
      </p:sp>
      <p:sp>
        <p:nvSpPr>
          <p:cNvPr id="22" name="Text 11"/>
          <p:cNvSpPr txBox="1"/>
          <p:nvPr/>
        </p:nvSpPr>
        <p:spPr>
          <a:xfrm>
            <a:off x="9554085" y="2091562"/>
            <a:ext cx="223385" cy="24178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FBFAF7"/>
                </a:solidFill>
                <a:latin typeface="Noto Sans JP" panose="020B0200000000000000" pitchFamily="50" charset="-128"/>
                <a:ea typeface="Noto Sans JP" panose="020B0200000000000000" pitchFamily="50" charset="-128"/>
                <a:cs typeface="Noto Sans JP" pitchFamily="34" charset="-120"/>
              </a:rPr>
              <a:t>04</a:t>
            </a:r>
            <a:endParaRPr lang="ja-JP" sz="1000" noProof="0" dirty="0">
              <a:latin typeface="Noto Sans JP" panose="020B0200000000000000" pitchFamily="50" charset="-128"/>
              <a:ea typeface="Noto Sans JP" panose="020B0200000000000000" pitchFamily="50" charset="-128"/>
            </a:endParaRPr>
          </a:p>
        </p:txBody>
      </p:sp>
      <p:pic>
        <p:nvPicPr>
          <p:cNvPr id="23" name="Image 9" descr="gen-dedup-468f209c8b765fcabfd32ae0c933e113.png"/>
          <p:cNvPicPr>
            <a:picLocks noChangeAspect="1"/>
          </p:cNvPicPr>
          <p:nvPr/>
        </p:nvPicPr>
        <p:blipFill>
          <a:blip r:embed="rId9"/>
          <a:srcRect l="-404" r="-404"/>
          <a:stretch/>
        </p:blipFill>
        <p:spPr>
          <a:xfrm>
            <a:off x="571500" y="1204884"/>
            <a:ext cx="571500" cy="28346"/>
          </a:xfrm>
          <a:prstGeom prst="rect">
            <a:avLst/>
          </a:prstGeom>
        </p:spPr>
      </p:pic>
      <p:sp>
        <p:nvSpPr>
          <p:cNvPr id="24" name="Text 12"/>
          <p:cNvSpPr txBox="1"/>
          <p:nvPr/>
        </p:nvSpPr>
        <p:spPr>
          <a:xfrm>
            <a:off x="571500" y="308417"/>
            <a:ext cx="1483346" cy="241788"/>
          </a:xfrm>
          <a:prstGeom prst="rect">
            <a:avLst/>
          </a:prstGeom>
          <a:noFill/>
          <a:ln/>
        </p:spPr>
        <p:txBody>
          <a:bodyPr wrap="none" lIns="36000" tIns="36000" rIns="36000" bIns="36000" rtlCol="0" anchor="ctr">
            <a:spAutoFit/>
          </a:bodyPr>
          <a:lstStyle>
            <a:lvl1pPr indent="0">
              <a:lnSpc>
                <a:spcPct val="120000"/>
              </a:lnSpc>
              <a:spcBef>
                <a:spcPts val="300"/>
              </a:spcBef>
              <a:buNone/>
              <a:defRPr sz="1000" b="1">
                <a:solidFill>
                  <a:srgbClr val="3CAEA3"/>
                </a:solidFill>
                <a:latin typeface="Noto Sans JP" pitchFamily="34" charset="0"/>
                <a:ea typeface="Noto Sans JP" pitchFamily="34" charset="-122"/>
                <a:cs typeface="Noto Sans JP" pitchFamily="34" charset="-120"/>
              </a:defRPr>
            </a:lvl1pPr>
          </a:lstStyle>
          <a:p>
            <a:r>
              <a:rPr lang="ja-JP" noProof="0" dirty="0">
                <a:latin typeface="Noto Sans JP" panose="020B0200000000000000" pitchFamily="50" charset="-128"/>
                <a:ea typeface="Noto Sans JP" panose="020B0200000000000000" pitchFamily="50" charset="-128"/>
              </a:rPr>
              <a:t>ご案内可能コンテンツ例</a:t>
            </a:r>
          </a:p>
        </p:txBody>
      </p:sp>
      <p:sp>
        <p:nvSpPr>
          <p:cNvPr id="25" name="Text 13"/>
          <p:cNvSpPr txBox="1"/>
          <p:nvPr/>
        </p:nvSpPr>
        <p:spPr>
          <a:xfrm>
            <a:off x="571500" y="740591"/>
            <a:ext cx="7914593" cy="411257"/>
          </a:xfrm>
          <a:prstGeom prst="rect">
            <a:avLst/>
          </a:prstGeom>
          <a:noFill/>
          <a:ln/>
        </p:spPr>
        <p:txBody>
          <a:bodyPr wrap="none" lIns="36000" tIns="36000" rIns="36000" bIns="36000" rtlCol="0" anchor="ctr">
            <a:spAutoFit/>
          </a:bodyPr>
          <a:lstStyle/>
          <a:p>
            <a:pPr>
              <a:spcBef>
                <a:spcPts val="300"/>
              </a:spcBef>
            </a:pPr>
            <a:r>
              <a:rPr lang="ja-JP" sz="2200" b="1" noProof="0" dirty="0">
                <a:solidFill>
                  <a:srgbClr val="081F3A"/>
                </a:solidFill>
                <a:latin typeface="Noto Sans JP" panose="020B0200000000000000" pitchFamily="50" charset="-128"/>
                <a:ea typeface="Noto Sans JP" panose="020B0200000000000000" pitchFamily="50" charset="-128"/>
                <a:cs typeface="Noto Sans JP" pitchFamily="34" charset="-120"/>
              </a:rPr>
              <a:t>地方の</a:t>
            </a:r>
            <a:r>
              <a:rPr lang="ja-JP" sz="2200" b="1" noProof="0" dirty="0">
                <a:solidFill>
                  <a:srgbClr val="ED8B3C"/>
                </a:solidFill>
                <a:latin typeface="Noto Sans JP" panose="020B0200000000000000" pitchFamily="50" charset="-128"/>
                <a:ea typeface="Noto Sans JP" panose="020B0200000000000000" pitchFamily="50" charset="-128"/>
                <a:cs typeface="Noto Sans JP" pitchFamily="34" charset="-120"/>
              </a:rPr>
              <a:t>個別アクティビティ</a:t>
            </a:r>
            <a:r>
              <a:rPr lang="ja-JP" altLang="ja-JP" sz="2200" b="1" dirty="0">
                <a:solidFill>
                  <a:srgbClr val="081F3A"/>
                </a:solidFill>
                <a:latin typeface="Noto Sans JP" panose="020B0200000000000000" pitchFamily="50" charset="-128"/>
                <a:ea typeface="Noto Sans JP" panose="020B0200000000000000" pitchFamily="50" charset="-128"/>
                <a:cs typeface="Noto Sans JP" pitchFamily="34" charset="-120"/>
              </a:rPr>
              <a:t>―</a:t>
            </a:r>
            <a:r>
              <a:rPr lang="ja-JP" altLang="en-US" sz="2200" b="1" dirty="0">
                <a:solidFill>
                  <a:srgbClr val="081F3A"/>
                </a:solidFill>
                <a:latin typeface="Noto Sans JP" panose="020B0200000000000000" pitchFamily="50" charset="-128"/>
                <a:ea typeface="Noto Sans JP" panose="020B0200000000000000" pitchFamily="50" charset="-128"/>
                <a:cs typeface="Noto Sans JP" pitchFamily="34" charset="-120"/>
              </a:rPr>
              <a:t>地域ならではの体験・滞在プラン</a:t>
            </a:r>
            <a:endParaRPr lang="ja-JP" sz="2200" noProof="0" dirty="0">
              <a:latin typeface="Noto Sans JP" panose="020B0200000000000000" pitchFamily="50" charset="-128"/>
              <a:ea typeface="Noto Sans JP" panose="020B0200000000000000" pitchFamily="50" charset="-128"/>
            </a:endParaRPr>
          </a:p>
        </p:txBody>
      </p:sp>
      <p:sp>
        <p:nvSpPr>
          <p:cNvPr id="26" name="Text 14"/>
          <p:cNvSpPr txBox="1"/>
          <p:nvPr/>
        </p:nvSpPr>
        <p:spPr>
          <a:xfrm>
            <a:off x="571500" y="1376172"/>
            <a:ext cx="11049610" cy="500321"/>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altLang="en-US" sz="1200" noProof="0" dirty="0">
                <a:solidFill>
                  <a:srgbClr val="404A57"/>
                </a:solidFill>
                <a:latin typeface="Noto Sans JP" panose="020B0200000000000000" pitchFamily="50" charset="-128"/>
                <a:ea typeface="Noto Sans JP" panose="020B0200000000000000" pitchFamily="50" charset="-128"/>
                <a:cs typeface="Noto Sans JP" pitchFamily="34" charset="-120"/>
              </a:rPr>
              <a:t>自然、食文化、伝統工芸、歴史、ウェルネスなど、ゲストの興味・関心や滞在目的を起点に、地域事業者や現地パートナーとのネットワークを活用。ゲストの興味・関心や滞在目的に合わせ、地域の自然・文化・食・人との交流を組み合わせた、その土地ならではの体験をご提案します</a:t>
            </a:r>
            <a:endParaRPr lang="ja-JP" sz="1200" noProof="0" dirty="0">
              <a:latin typeface="Noto Sans JP" panose="020B0200000000000000" pitchFamily="50" charset="-128"/>
              <a:ea typeface="Noto Sans JP" panose="020B0200000000000000" pitchFamily="50" charset="-128"/>
            </a:endParaRPr>
          </a:p>
        </p:txBody>
      </p:sp>
      <p:sp>
        <p:nvSpPr>
          <p:cNvPr id="27" name="Text 15"/>
          <p:cNvSpPr txBox="1"/>
          <p:nvPr/>
        </p:nvSpPr>
        <p:spPr>
          <a:xfrm>
            <a:off x="800100" y="3721723"/>
            <a:ext cx="880617" cy="227169"/>
          </a:xfrm>
          <a:prstGeom prst="rect">
            <a:avLst/>
          </a:prstGeom>
          <a:noFill/>
          <a:ln/>
        </p:spPr>
        <p:txBody>
          <a:bodyPr wrap="square" lIns="36000" tIns="36000" rIns="36000" bIns="36000" rtlCol="0" anchor="ctr">
            <a:no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鹿児島・屋久島</a:t>
            </a:r>
            <a:endParaRPr lang="ja-JP" sz="900" noProof="0" dirty="0">
              <a:latin typeface="Noto Sans JP" panose="020B0200000000000000" pitchFamily="50" charset="-128"/>
              <a:ea typeface="Noto Sans JP" panose="020B0200000000000000" pitchFamily="50" charset="-128"/>
            </a:endParaRPr>
          </a:p>
        </p:txBody>
      </p:sp>
      <p:sp>
        <p:nvSpPr>
          <p:cNvPr id="28" name="Text 16"/>
          <p:cNvSpPr txBox="1"/>
          <p:nvPr/>
        </p:nvSpPr>
        <p:spPr>
          <a:xfrm>
            <a:off x="800100" y="3944578"/>
            <a:ext cx="1760666" cy="442035"/>
          </a:xfrm>
          <a:prstGeom prst="rect">
            <a:avLst/>
          </a:prstGeom>
          <a:noFill/>
          <a:ln/>
        </p:spPr>
        <p:txBody>
          <a:bodyPr wrap="square" lIns="36000" tIns="36000" rIns="36000" bIns="36000" rtlCol="0" anchor="t">
            <a:noAutofit/>
          </a:bodyPr>
          <a:lstStyle/>
          <a:p>
            <a:pPr marL="0" indent="0" algn="l">
              <a:lnSpc>
                <a:spcPct val="110000"/>
              </a:lnSpc>
              <a:buNone/>
            </a:pPr>
            <a:r>
              <a:rPr lang="ja-JP" altLang="en-US"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森・食・人をめぐる、</a:t>
            </a:r>
            <a:endParaRPr lang="en-US" alt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endParaRPr>
          </a:p>
          <a:p>
            <a:pPr marL="0" indent="0" algn="l">
              <a:lnSpc>
                <a:spcPct val="110000"/>
              </a:lnSpc>
              <a:buNone/>
            </a:pPr>
            <a:r>
              <a:rPr lang="ja-JP" altLang="en-US"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屋久島滞在</a:t>
            </a:r>
            <a:endParaRPr lang="ja-JP" sz="1200" noProof="0" dirty="0">
              <a:latin typeface="Noto Sans JP" panose="020B0200000000000000" pitchFamily="50" charset="-128"/>
              <a:ea typeface="Noto Sans JP" panose="020B0200000000000000" pitchFamily="50" charset="-128"/>
            </a:endParaRPr>
          </a:p>
        </p:txBody>
      </p:sp>
      <p:sp>
        <p:nvSpPr>
          <p:cNvPr id="29" name="Text 17"/>
          <p:cNvSpPr txBox="1"/>
          <p:nvPr/>
        </p:nvSpPr>
        <p:spPr>
          <a:xfrm>
            <a:off x="800100" y="4583324"/>
            <a:ext cx="2124000" cy="613685"/>
          </a:xfrm>
          <a:prstGeom prst="rect">
            <a:avLst/>
          </a:prstGeom>
          <a:noFill/>
          <a:ln/>
        </p:spPr>
        <p:txBody>
          <a:bodyPr wrap="square" lIns="36000" tIns="36000" rIns="36000" bIns="36000" rtlCol="0" anchor="t">
            <a:noAutofit/>
          </a:bodyPr>
          <a:lstStyle/>
          <a:p>
            <a:pPr marL="0" indent="0" algn="l">
              <a:lnSpc>
                <a:spcPct val="120000"/>
              </a:lnSpc>
              <a:buNone/>
            </a:pPr>
            <a:r>
              <a:rPr lang="ja-JP" altLang="en-US" sz="1000" noProof="0" dirty="0">
                <a:latin typeface="Noto Sans JP" panose="020B0200000000000000" pitchFamily="50" charset="-128"/>
                <a:ea typeface="Noto Sans JP" panose="020B0200000000000000" pitchFamily="50" charset="-128"/>
                <a:cs typeface="Noto Sans JP" pitchFamily="34" charset="-120"/>
              </a:rPr>
              <a:t>苔むす森のトレッキングに、地域の食やものづくり、人との交流を組み合わせ、屋久島の自然と暮らしを深く体験</a:t>
            </a:r>
            <a:endParaRPr lang="ja-JP" sz="1000" noProof="0" dirty="0">
              <a:latin typeface="Noto Sans JP" panose="020B0200000000000000" pitchFamily="50" charset="-128"/>
              <a:ea typeface="Noto Sans JP" panose="020B0200000000000000" pitchFamily="50" charset="-128"/>
            </a:endParaRPr>
          </a:p>
        </p:txBody>
      </p:sp>
      <p:sp>
        <p:nvSpPr>
          <p:cNvPr id="30" name="Text 18"/>
          <p:cNvSpPr txBox="1"/>
          <p:nvPr/>
        </p:nvSpPr>
        <p:spPr>
          <a:xfrm>
            <a:off x="800099" y="5510676"/>
            <a:ext cx="2304000" cy="227169"/>
          </a:xfrm>
          <a:prstGeom prst="rect">
            <a:avLst/>
          </a:prstGeom>
          <a:noFill/>
          <a:ln/>
        </p:spPr>
        <p:txBody>
          <a:bodyPr wrap="square" lIns="36000" tIns="36000" rIns="36000" bIns="36000" rtlCol="0" anchor="t">
            <a:no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31" name="Text 19"/>
          <p:cNvSpPr txBox="1"/>
          <p:nvPr/>
        </p:nvSpPr>
        <p:spPr>
          <a:xfrm>
            <a:off x="800099" y="5742632"/>
            <a:ext cx="2304000" cy="227169"/>
          </a:xfrm>
          <a:prstGeom prst="rect">
            <a:avLst/>
          </a:prstGeom>
          <a:noFill/>
          <a:ln/>
        </p:spPr>
        <p:txBody>
          <a:bodyPr wrap="square" lIns="36000" tIns="36000" rIns="36000" bIns="36000" rtlCol="0" anchor="t">
            <a:noAutofit/>
          </a:bodyPr>
          <a:lstStyle/>
          <a:p>
            <a:pPr marL="266700" indent="-266700" algn="l">
              <a:lnSpc>
                <a:spcPct val="120000"/>
              </a:lnSpc>
              <a:spcBef>
                <a:spcPts val="300"/>
              </a:spcBef>
              <a:buNone/>
              <a:tabLst>
                <a:tab pos="266700" algn="l"/>
              </a:tabLst>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en-US" altLang="ja-JP" sz="900" b="1" dirty="0">
                <a:solidFill>
                  <a:srgbClr val="081F3A"/>
                </a:solidFill>
                <a:latin typeface="Noto Sans JP" panose="020B0200000000000000" pitchFamily="50" charset="-128"/>
                <a:ea typeface="Noto Sans JP" panose="020B0200000000000000" pitchFamily="50" charset="-128"/>
                <a:cs typeface="Noto Sans JP" pitchFamily="34" charset="-120"/>
              </a:rPr>
              <a:t>	</a:t>
            </a: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長期滞在、自然志向の欧米ファミリー</a:t>
            </a:r>
            <a:endParaRPr lang="ja-JP" sz="900" noProof="0" dirty="0">
              <a:latin typeface="Noto Sans JP" panose="020B0200000000000000" pitchFamily="50" charset="-128"/>
              <a:ea typeface="Noto Sans JP" panose="020B0200000000000000" pitchFamily="50" charset="-128"/>
            </a:endParaRPr>
          </a:p>
        </p:txBody>
      </p:sp>
      <p:sp>
        <p:nvSpPr>
          <p:cNvPr id="32" name="Text 20"/>
          <p:cNvSpPr txBox="1"/>
          <p:nvPr/>
        </p:nvSpPr>
        <p:spPr>
          <a:xfrm>
            <a:off x="800100" y="6113883"/>
            <a:ext cx="2304000" cy="228708"/>
          </a:xfrm>
          <a:prstGeom prst="rect">
            <a:avLst/>
          </a:prstGeom>
          <a:noFill/>
          <a:ln/>
        </p:spPr>
        <p:txBody>
          <a:bodyPr wrap="square" lIns="36000" tIns="36000" rIns="36000" bIns="36000" rtlCol="0" anchor="t">
            <a:noAutofit/>
          </a:bodyPr>
          <a:lstStyle/>
          <a:p>
            <a:pPr marL="266700" indent="-266700">
              <a:lnSpc>
                <a:spcPct val="120000"/>
              </a:lnSpc>
              <a:spcBef>
                <a:spcPts val="300"/>
              </a:spcBef>
              <a:tabLst>
                <a:tab pos="266700" algn="l"/>
              </a:tabLst>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en-US" alt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ja-JP" altLang="en-US" sz="900" dirty="0">
                <a:latin typeface="Noto Sans JP" panose="020B0200000000000000" pitchFamily="50" charset="-128"/>
                <a:ea typeface="Noto Sans JP" panose="020B0200000000000000" pitchFamily="50" charset="-128"/>
              </a:rPr>
              <a:t>観光地を巡るだけではなく、世界遺産屋久島という島を深く体験したい</a:t>
            </a:r>
            <a:endParaRPr lang="ja-JP" sz="900" noProof="0" dirty="0">
              <a:latin typeface="Noto Sans JP" panose="020B0200000000000000" pitchFamily="50" charset="-128"/>
              <a:ea typeface="Noto Sans JP" panose="020B0200000000000000" pitchFamily="50" charset="-128"/>
            </a:endParaRPr>
          </a:p>
        </p:txBody>
      </p:sp>
      <p:sp>
        <p:nvSpPr>
          <p:cNvPr id="33" name="Text 21"/>
          <p:cNvSpPr txBox="1"/>
          <p:nvPr/>
        </p:nvSpPr>
        <p:spPr>
          <a:xfrm>
            <a:off x="3752698" y="3721723"/>
            <a:ext cx="649784" cy="227169"/>
          </a:xfrm>
          <a:prstGeom prst="rect">
            <a:avLst/>
          </a:prstGeom>
          <a:noFill/>
          <a:ln/>
        </p:spPr>
        <p:txBody>
          <a:bodyPr wrap="square" lIns="36000" tIns="36000" rIns="36000" bIns="36000" rtlCol="0" anchor="ctr">
            <a:no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福島・只見</a:t>
            </a:r>
            <a:endParaRPr lang="ja-JP" sz="900" noProof="0" dirty="0">
              <a:latin typeface="Noto Sans JP" panose="020B0200000000000000" pitchFamily="50" charset="-128"/>
              <a:ea typeface="Noto Sans JP" panose="020B0200000000000000" pitchFamily="50" charset="-128"/>
            </a:endParaRPr>
          </a:p>
        </p:txBody>
      </p:sp>
      <p:sp>
        <p:nvSpPr>
          <p:cNvPr id="34" name="Text 22"/>
          <p:cNvSpPr txBox="1"/>
          <p:nvPr/>
        </p:nvSpPr>
        <p:spPr>
          <a:xfrm>
            <a:off x="3752698" y="3944578"/>
            <a:ext cx="1457698" cy="442035"/>
          </a:xfrm>
          <a:prstGeom prst="rect">
            <a:avLst/>
          </a:prstGeom>
          <a:noFill/>
          <a:ln/>
        </p:spPr>
        <p:txBody>
          <a:bodyPr wrap="square" lIns="36000" tIns="36000" rIns="36000" bIns="36000" rtlCol="0" anchor="t">
            <a:noAutofit/>
          </a:bodyPr>
          <a:lstStyle/>
          <a:p>
            <a:pPr marL="0" indent="0" algn="l">
              <a:lnSpc>
                <a:spcPct val="110000"/>
              </a:lnSpc>
              <a:buNone/>
            </a:pP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只見線</a:t>
            </a:r>
            <a:endParaRPr lang="ja-JP" sz="1200" noProof="0" dirty="0">
              <a:latin typeface="Noto Sans JP" panose="020B0200000000000000" pitchFamily="50" charset="-128"/>
              <a:ea typeface="Noto Sans JP" panose="020B0200000000000000" pitchFamily="50" charset="-128"/>
            </a:endParaRPr>
          </a:p>
          <a:p>
            <a:pPr marL="0" indent="0" algn="l">
              <a:lnSpc>
                <a:spcPct val="110000"/>
              </a:lnSpc>
              <a:buNone/>
            </a:pP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秘境路線・雪国体験</a:t>
            </a:r>
            <a:endParaRPr lang="ja-JP" sz="1200" noProof="0" dirty="0">
              <a:latin typeface="Noto Sans JP" panose="020B0200000000000000" pitchFamily="50" charset="-128"/>
              <a:ea typeface="Noto Sans JP" panose="020B0200000000000000" pitchFamily="50" charset="-128"/>
            </a:endParaRPr>
          </a:p>
        </p:txBody>
      </p:sp>
      <p:sp>
        <p:nvSpPr>
          <p:cNvPr id="35" name="Text 23"/>
          <p:cNvSpPr txBox="1"/>
          <p:nvPr/>
        </p:nvSpPr>
        <p:spPr>
          <a:xfrm>
            <a:off x="3752698" y="4583324"/>
            <a:ext cx="2124000" cy="429019"/>
          </a:xfrm>
          <a:prstGeom prst="rect">
            <a:avLst/>
          </a:prstGeom>
          <a:noFill/>
          <a:ln/>
        </p:spPr>
        <p:txBody>
          <a:bodyPr wrap="square" lIns="36000" tIns="36000" rIns="36000" bIns="36000" rtlCol="0" anchor="t">
            <a:noAutofit/>
          </a:bodyPr>
          <a:lstStyle/>
          <a:p>
            <a:pPr>
              <a:lnSpc>
                <a:spcPct val="120000"/>
              </a:lnSpc>
            </a:pPr>
            <a:r>
              <a:rPr lang="ja-JP" altLang="ja-JP" sz="1000" dirty="0">
                <a:latin typeface="Noto Sans JP" panose="020B0200000000000000" pitchFamily="50" charset="-128"/>
                <a:ea typeface="Noto Sans JP" panose="020B0200000000000000" pitchFamily="50" charset="-128"/>
              </a:rPr>
              <a:t>JR只見線の風景と、豪雪地ならではの暮らしや食、人との交流を通じて、日本の原風景を体験します</a:t>
            </a:r>
            <a:endParaRPr lang="ja-JP" sz="1000" noProof="0" dirty="0">
              <a:latin typeface="Noto Sans JP" panose="020B0200000000000000" pitchFamily="50" charset="-128"/>
              <a:ea typeface="Noto Sans JP" panose="020B0200000000000000" pitchFamily="50" charset="-128"/>
            </a:endParaRPr>
          </a:p>
        </p:txBody>
      </p:sp>
      <p:sp>
        <p:nvSpPr>
          <p:cNvPr id="36" name="Text 24"/>
          <p:cNvSpPr txBox="1"/>
          <p:nvPr/>
        </p:nvSpPr>
        <p:spPr>
          <a:xfrm>
            <a:off x="3752697" y="5510676"/>
            <a:ext cx="2304000" cy="227169"/>
          </a:xfrm>
          <a:prstGeom prst="rect">
            <a:avLst/>
          </a:prstGeom>
          <a:noFill/>
          <a:ln/>
        </p:spPr>
        <p:txBody>
          <a:bodyPr wrap="square" lIns="36000" tIns="36000" rIns="36000" bIns="36000" rtlCol="0" anchor="t">
            <a:no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37" name="Text 25"/>
          <p:cNvSpPr txBox="1"/>
          <p:nvPr/>
        </p:nvSpPr>
        <p:spPr>
          <a:xfrm>
            <a:off x="3752697" y="5742632"/>
            <a:ext cx="2304000" cy="227169"/>
          </a:xfrm>
          <a:prstGeom prst="rect">
            <a:avLst/>
          </a:prstGeom>
          <a:noFill/>
          <a:ln/>
        </p:spPr>
        <p:txBody>
          <a:bodyPr wrap="square" lIns="36000" tIns="36000" rIns="36000" bIns="36000" rtlCol="0" anchor="t">
            <a:noAutofit/>
          </a:bodyPr>
          <a:lstStyle/>
          <a:p>
            <a:pPr marL="266700" indent="-266700" algn="l">
              <a:lnSpc>
                <a:spcPct val="120000"/>
              </a:lnSpc>
              <a:spcBef>
                <a:spcPts val="300"/>
              </a:spcBef>
              <a:buNone/>
              <a:tabLst>
                <a:tab pos="266700" algn="l"/>
              </a:tabLst>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 風景・写真好きの欧米個人・少人数</a:t>
            </a:r>
            <a:endParaRPr lang="ja-JP" sz="900" noProof="0" dirty="0">
              <a:latin typeface="Noto Sans JP" panose="020B0200000000000000" pitchFamily="50" charset="-128"/>
              <a:ea typeface="Noto Sans JP" panose="020B0200000000000000" pitchFamily="50" charset="-128"/>
            </a:endParaRPr>
          </a:p>
        </p:txBody>
      </p:sp>
      <p:sp>
        <p:nvSpPr>
          <p:cNvPr id="38" name="Text 26"/>
          <p:cNvSpPr txBox="1"/>
          <p:nvPr/>
        </p:nvSpPr>
        <p:spPr>
          <a:xfrm>
            <a:off x="3752698" y="6113883"/>
            <a:ext cx="2304000" cy="227169"/>
          </a:xfrm>
          <a:prstGeom prst="rect">
            <a:avLst/>
          </a:prstGeom>
          <a:noFill/>
          <a:ln/>
        </p:spPr>
        <p:txBody>
          <a:bodyPr wrap="square" lIns="36000" tIns="36000" rIns="36000" bIns="36000" rtlCol="0" anchor="t">
            <a:noAutofit/>
          </a:bodyPr>
          <a:lstStyle/>
          <a:p>
            <a:pPr marL="266700" indent="-266700" algn="l">
              <a:lnSpc>
                <a:spcPct val="120000"/>
              </a:lnSpc>
              <a:spcBef>
                <a:spcPts val="300"/>
              </a:spcBef>
              <a:buNone/>
              <a:tabLst>
                <a:tab pos="266700" algn="l"/>
              </a:tabLst>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en-US" alt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冬の日本らしい風景と地域文化に触れたい</a:t>
            </a:r>
            <a:endParaRPr lang="ja-JP" sz="900" noProof="0" dirty="0">
              <a:latin typeface="Noto Sans JP" panose="020B0200000000000000" pitchFamily="50" charset="-128"/>
              <a:ea typeface="Noto Sans JP" panose="020B0200000000000000" pitchFamily="50" charset="-128"/>
            </a:endParaRPr>
          </a:p>
        </p:txBody>
      </p:sp>
      <p:sp>
        <p:nvSpPr>
          <p:cNvPr id="39" name="Text 27"/>
          <p:cNvSpPr txBox="1"/>
          <p:nvPr/>
        </p:nvSpPr>
        <p:spPr>
          <a:xfrm>
            <a:off x="6705295" y="3721723"/>
            <a:ext cx="765200" cy="227169"/>
          </a:xfrm>
          <a:prstGeom prst="rect">
            <a:avLst/>
          </a:prstGeom>
          <a:noFill/>
          <a:ln/>
        </p:spPr>
        <p:txBody>
          <a:bodyPr wrap="square" lIns="36000" tIns="36000" rIns="36000" bIns="36000" rtlCol="0" anchor="ctr">
            <a:no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茨城・笠間</a:t>
            </a:r>
            <a:endParaRPr lang="ja-JP" sz="900" noProof="0" dirty="0">
              <a:latin typeface="Noto Sans JP" panose="020B0200000000000000" pitchFamily="50" charset="-128"/>
              <a:ea typeface="Noto Sans JP" panose="020B0200000000000000" pitchFamily="50" charset="-128"/>
            </a:endParaRPr>
          </a:p>
        </p:txBody>
      </p:sp>
      <p:sp>
        <p:nvSpPr>
          <p:cNvPr id="40" name="Text 28"/>
          <p:cNvSpPr txBox="1"/>
          <p:nvPr/>
        </p:nvSpPr>
        <p:spPr>
          <a:xfrm>
            <a:off x="6705295" y="3944578"/>
            <a:ext cx="1908142" cy="626701"/>
          </a:xfrm>
          <a:prstGeom prst="rect">
            <a:avLst/>
          </a:prstGeom>
          <a:noFill/>
          <a:ln/>
        </p:spPr>
        <p:txBody>
          <a:bodyPr wrap="square" lIns="36000" tIns="36000" rIns="36000" bIns="36000" rtlCol="0" anchor="t">
            <a:noAutofit/>
          </a:bodyPr>
          <a:lstStyle/>
          <a:p>
            <a:pPr marL="0" indent="0" algn="l">
              <a:lnSpc>
                <a:spcPct val="110000"/>
              </a:lnSpc>
              <a:buNone/>
            </a:pP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アメリカ人盆栽師とめぐる</a:t>
            </a:r>
            <a:br>
              <a:rPr lang="en-US" alt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b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a:t>
            </a:r>
            <a:r>
              <a:rPr lang="en-US" alt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Bonsai</a:t>
            </a: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 Art』</a:t>
            </a:r>
            <a:br>
              <a:rPr lang="en-US" alt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b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盆栽</a:t>
            </a:r>
            <a:r>
              <a:rPr lang="ja-JP" altLang="en-US" sz="1200" b="1" dirty="0">
                <a:solidFill>
                  <a:srgbClr val="081F3A"/>
                </a:solidFill>
                <a:latin typeface="Noto Sans JP" panose="020B0200000000000000" pitchFamily="50" charset="-128"/>
                <a:ea typeface="Noto Sans JP" panose="020B0200000000000000" pitchFamily="50" charset="-128"/>
                <a:cs typeface="Noto Sans JP" pitchFamily="34" charset="-120"/>
              </a:rPr>
              <a:t>に触って、感じる</a:t>
            </a:r>
            <a:r>
              <a:rPr 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世界</a:t>
            </a:r>
            <a:endParaRPr lang="ja-JP" sz="1200" noProof="0" dirty="0">
              <a:latin typeface="Noto Sans JP" panose="020B0200000000000000" pitchFamily="50" charset="-128"/>
              <a:ea typeface="Noto Sans JP" panose="020B0200000000000000" pitchFamily="50" charset="-128"/>
            </a:endParaRPr>
          </a:p>
        </p:txBody>
      </p:sp>
      <p:sp>
        <p:nvSpPr>
          <p:cNvPr id="41" name="Text 29"/>
          <p:cNvSpPr txBox="1"/>
          <p:nvPr/>
        </p:nvSpPr>
        <p:spPr>
          <a:xfrm>
            <a:off x="6705295" y="4583324"/>
            <a:ext cx="2124000" cy="613685"/>
          </a:xfrm>
          <a:prstGeom prst="rect">
            <a:avLst/>
          </a:prstGeom>
          <a:noFill/>
          <a:ln/>
        </p:spPr>
        <p:txBody>
          <a:bodyPr wrap="square" lIns="36000" tIns="36000" rIns="36000" bIns="36000" rtlCol="0" anchor="t">
            <a:noAutofit/>
          </a:bodyPr>
          <a:lstStyle/>
          <a:p>
            <a:pPr marL="0" indent="0" algn="l">
              <a:lnSpc>
                <a:spcPct val="120000"/>
              </a:lnSpc>
              <a:buNone/>
            </a:pPr>
            <a:r>
              <a:rPr lang="ja-JP" sz="1000" noProof="0" dirty="0">
                <a:latin typeface="Noto Sans JP" panose="020B0200000000000000" pitchFamily="50" charset="-128"/>
                <a:ea typeface="Noto Sans JP" panose="020B0200000000000000" pitchFamily="50" charset="-128"/>
                <a:cs typeface="Noto Sans JP" pitchFamily="34" charset="-120"/>
              </a:rPr>
              <a:t>米国人盆栽師が英語でご案内。</a:t>
            </a:r>
            <a:endParaRPr lang="en-US" altLang="ja-JP" sz="1000" noProof="0" dirty="0">
              <a:latin typeface="Noto Sans JP" panose="020B0200000000000000" pitchFamily="50" charset="-128"/>
              <a:ea typeface="Noto Sans JP" panose="020B0200000000000000" pitchFamily="50" charset="-128"/>
              <a:cs typeface="Noto Sans JP" pitchFamily="34" charset="-120"/>
            </a:endParaRPr>
          </a:p>
          <a:p>
            <a:pPr marL="0" indent="0" algn="l">
              <a:lnSpc>
                <a:spcPct val="120000"/>
              </a:lnSpc>
              <a:buNone/>
            </a:pPr>
            <a:r>
              <a:rPr lang="ja-JP" altLang="en-US" sz="1000" noProof="0" dirty="0">
                <a:latin typeface="Noto Sans JP" panose="020B0200000000000000" pitchFamily="50" charset="-128"/>
                <a:ea typeface="Noto Sans JP" panose="020B0200000000000000" pitchFamily="50" charset="-128"/>
                <a:cs typeface="Noto Sans JP" pitchFamily="34" charset="-120"/>
              </a:rPr>
              <a:t>盆栽の美意識、長い年月をかけて育む文化を</a:t>
            </a:r>
            <a:r>
              <a:rPr lang="ja-JP" altLang="en-US" sz="1000" dirty="0">
                <a:latin typeface="Noto Sans JP" panose="020B0200000000000000" pitchFamily="50" charset="-128"/>
                <a:ea typeface="Noto Sans JP" panose="020B0200000000000000" pitchFamily="50" charset="-128"/>
                <a:cs typeface="Noto Sans JP" pitchFamily="34" charset="-120"/>
              </a:rPr>
              <a:t>実際に触って</a:t>
            </a:r>
            <a:r>
              <a:rPr lang="ja-JP" altLang="en-US" sz="1000" noProof="0" dirty="0">
                <a:latin typeface="Noto Sans JP" panose="020B0200000000000000" pitchFamily="50" charset="-128"/>
                <a:ea typeface="Noto Sans JP" panose="020B0200000000000000" pitchFamily="50" charset="-128"/>
                <a:cs typeface="Noto Sans JP" pitchFamily="34" charset="-120"/>
              </a:rPr>
              <a:t>深く体験</a:t>
            </a:r>
            <a:endParaRPr lang="ja-JP" sz="1000" noProof="0" dirty="0">
              <a:latin typeface="Noto Sans JP" panose="020B0200000000000000" pitchFamily="50" charset="-128"/>
              <a:ea typeface="Noto Sans JP" panose="020B0200000000000000" pitchFamily="50" charset="-128"/>
            </a:endParaRPr>
          </a:p>
        </p:txBody>
      </p:sp>
      <p:sp>
        <p:nvSpPr>
          <p:cNvPr id="42" name="Text 30"/>
          <p:cNvSpPr txBox="1"/>
          <p:nvPr/>
        </p:nvSpPr>
        <p:spPr>
          <a:xfrm>
            <a:off x="6705294" y="5510676"/>
            <a:ext cx="2304000" cy="227169"/>
          </a:xfrm>
          <a:prstGeom prst="rect">
            <a:avLst/>
          </a:prstGeom>
          <a:noFill/>
          <a:ln/>
        </p:spPr>
        <p:txBody>
          <a:bodyPr wrap="square" lIns="36000" tIns="36000" rIns="36000" bIns="36000" rtlCol="0" anchor="t">
            <a:no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43" name="Text 31"/>
          <p:cNvSpPr txBox="1"/>
          <p:nvPr/>
        </p:nvSpPr>
        <p:spPr>
          <a:xfrm>
            <a:off x="6705295" y="5742632"/>
            <a:ext cx="2304000" cy="227169"/>
          </a:xfrm>
          <a:prstGeom prst="rect">
            <a:avLst/>
          </a:prstGeom>
          <a:noFill/>
          <a:ln/>
        </p:spPr>
        <p:txBody>
          <a:bodyPr wrap="square" lIns="36000" tIns="36000" rIns="36000" bIns="36000" rtlCol="0" anchor="t">
            <a:noAutofit/>
          </a:bodyPr>
          <a:lstStyle/>
          <a:p>
            <a:pPr marL="266700" indent="-266700" algn="l">
              <a:lnSpc>
                <a:spcPct val="120000"/>
              </a:lnSpc>
              <a:spcBef>
                <a:spcPts val="300"/>
              </a:spcBef>
              <a:buNone/>
              <a:tabLst>
                <a:tab pos="266700" algn="l"/>
              </a:tabLst>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en-US" alt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	</a:t>
            </a:r>
            <a:r>
              <a:rPr lang="ja-JP" altLang="en-US"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アート・工芸・日本文化に関心の高い欧米個人旅行者、</a:t>
            </a:r>
            <a:r>
              <a:rPr lang="en-US" altLang="ja-JP"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VIP</a:t>
            </a:r>
            <a:endParaRPr lang="ja-JP" sz="900" noProof="0" dirty="0">
              <a:latin typeface="Noto Sans JP" panose="020B0200000000000000" pitchFamily="50" charset="-128"/>
              <a:ea typeface="Noto Sans JP" panose="020B0200000000000000" pitchFamily="50" charset="-128"/>
            </a:endParaRPr>
          </a:p>
        </p:txBody>
      </p:sp>
      <p:sp>
        <p:nvSpPr>
          <p:cNvPr id="44" name="Text 32"/>
          <p:cNvSpPr txBox="1"/>
          <p:nvPr/>
        </p:nvSpPr>
        <p:spPr>
          <a:xfrm>
            <a:off x="6705295" y="6113883"/>
            <a:ext cx="2304000" cy="227169"/>
          </a:xfrm>
          <a:prstGeom prst="rect">
            <a:avLst/>
          </a:prstGeom>
          <a:noFill/>
          <a:ln/>
        </p:spPr>
        <p:txBody>
          <a:bodyPr wrap="square" lIns="36000" tIns="36000" rIns="36000" bIns="36000" rtlCol="0" anchor="t">
            <a:noAutofit/>
          </a:bodyPr>
          <a:lstStyle/>
          <a:p>
            <a:pPr marL="266700" indent="-266700" algn="l">
              <a:lnSpc>
                <a:spcPct val="120000"/>
              </a:lnSpc>
              <a:spcBef>
                <a:spcPts val="300"/>
              </a:spcBef>
              <a:buNone/>
              <a:tabLst>
                <a:tab pos="266700" algn="l"/>
              </a:tabLst>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en-US" alt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	</a:t>
            </a:r>
            <a:r>
              <a:rPr lang="ja-JP" sz="900" noProof="0" dirty="0">
                <a:solidFill>
                  <a:srgbClr val="404A57"/>
                </a:solidFill>
                <a:latin typeface="Noto Sans JP" panose="020B0200000000000000" pitchFamily="50" charset="-128"/>
                <a:ea typeface="Noto Sans JP" panose="020B0200000000000000" pitchFamily="50" charset="-128"/>
                <a:cs typeface="Noto Sans JP" pitchFamily="34" charset="-120"/>
              </a:rPr>
              <a:t>美術・ crafts を深く体験したいと言われた時</a:t>
            </a:r>
            <a:endParaRPr lang="ja-JP" sz="900" noProof="0" dirty="0">
              <a:latin typeface="Noto Sans JP" panose="020B0200000000000000" pitchFamily="50" charset="-128"/>
              <a:ea typeface="Noto Sans JP" panose="020B0200000000000000" pitchFamily="50" charset="-128"/>
            </a:endParaRPr>
          </a:p>
        </p:txBody>
      </p:sp>
      <p:sp>
        <p:nvSpPr>
          <p:cNvPr id="45" name="Text 33"/>
          <p:cNvSpPr txBox="1"/>
          <p:nvPr/>
        </p:nvSpPr>
        <p:spPr>
          <a:xfrm>
            <a:off x="9554085" y="3721723"/>
            <a:ext cx="1226865" cy="227169"/>
          </a:xfrm>
          <a:prstGeom prst="rect">
            <a:avLst/>
          </a:prstGeom>
          <a:noFill/>
          <a:ln/>
        </p:spPr>
        <p:txBody>
          <a:bodyPr wrap="square" lIns="36000" tIns="36000" rIns="36000" bIns="36000" rtlCol="0" anchor="ctr">
            <a:noAutofit/>
          </a:bodyPr>
          <a:lstStyle>
            <a:lvl1pPr indent="0">
              <a:lnSpc>
                <a:spcPct val="120000"/>
              </a:lnSpc>
              <a:spcBef>
                <a:spcPts val="300"/>
              </a:spcBef>
              <a:buNone/>
              <a:defRPr sz="900" b="1">
                <a:solidFill>
                  <a:srgbClr val="3CAEA3"/>
                </a:solidFill>
                <a:latin typeface="Noto Sans JP" panose="020B0200000000000000" pitchFamily="50" charset="-128"/>
                <a:ea typeface="Noto Sans JP" panose="020B0200000000000000" pitchFamily="50" charset="-128"/>
                <a:cs typeface="Noto Sans JP" pitchFamily="34" charset="-120"/>
              </a:defRPr>
            </a:lvl1pPr>
          </a:lstStyle>
          <a:p>
            <a:r>
              <a:rPr lang="ja-JP" altLang="ja-JP" dirty="0"/>
              <a:t>青森・八戸</a:t>
            </a:r>
            <a:endParaRPr lang="ja-JP" altLang="en-US" dirty="0"/>
          </a:p>
        </p:txBody>
      </p:sp>
      <p:sp>
        <p:nvSpPr>
          <p:cNvPr id="46" name="Text 34"/>
          <p:cNvSpPr txBox="1"/>
          <p:nvPr/>
        </p:nvSpPr>
        <p:spPr>
          <a:xfrm>
            <a:off x="9554085" y="3944578"/>
            <a:ext cx="2066415" cy="442035"/>
          </a:xfrm>
          <a:prstGeom prst="rect">
            <a:avLst/>
          </a:prstGeom>
          <a:noFill/>
          <a:ln/>
        </p:spPr>
        <p:txBody>
          <a:bodyPr wrap="square" lIns="36000" tIns="36000" rIns="36000" bIns="36000" rtlCol="0" anchor="t">
            <a:noAutofit/>
          </a:bodyPr>
          <a:lstStyle/>
          <a:p>
            <a:pPr marL="0" indent="0" algn="l">
              <a:lnSpc>
                <a:spcPct val="110000"/>
              </a:lnSpc>
              <a:buNone/>
            </a:pPr>
            <a:r>
              <a:rPr lang="ja-JP" altLang="en-US"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食と文化をめぐる</a:t>
            </a:r>
            <a:endParaRPr lang="en-US" altLang="ja-JP" sz="1200" b="1" noProof="0" dirty="0">
              <a:solidFill>
                <a:srgbClr val="081F3A"/>
              </a:solidFill>
              <a:latin typeface="Noto Sans JP" panose="020B0200000000000000" pitchFamily="50" charset="-128"/>
              <a:ea typeface="Noto Sans JP" panose="020B0200000000000000" pitchFamily="50" charset="-128"/>
              <a:cs typeface="Noto Sans JP" pitchFamily="34" charset="-120"/>
            </a:endParaRPr>
          </a:p>
          <a:p>
            <a:pPr marL="0" indent="0" algn="l">
              <a:lnSpc>
                <a:spcPct val="110000"/>
              </a:lnSpc>
              <a:buNone/>
            </a:pPr>
            <a:r>
              <a:rPr lang="ja-JP" altLang="en-US" sz="1200" b="1" noProof="0" dirty="0">
                <a:solidFill>
                  <a:srgbClr val="081F3A"/>
                </a:solidFill>
                <a:latin typeface="Noto Sans JP" panose="020B0200000000000000" pitchFamily="50" charset="-128"/>
                <a:ea typeface="Noto Sans JP" panose="020B0200000000000000" pitchFamily="50" charset="-128"/>
                <a:cs typeface="Noto Sans JP" pitchFamily="34" charset="-120"/>
              </a:rPr>
              <a:t>北東北のローカル体験</a:t>
            </a:r>
            <a:endParaRPr lang="ja-JP" sz="1200" noProof="0" dirty="0">
              <a:latin typeface="Noto Sans JP" panose="020B0200000000000000" pitchFamily="50" charset="-128"/>
              <a:ea typeface="Noto Sans JP" panose="020B0200000000000000" pitchFamily="50" charset="-128"/>
            </a:endParaRPr>
          </a:p>
        </p:txBody>
      </p:sp>
      <p:sp>
        <p:nvSpPr>
          <p:cNvPr id="47" name="Text 35"/>
          <p:cNvSpPr txBox="1"/>
          <p:nvPr/>
        </p:nvSpPr>
        <p:spPr>
          <a:xfrm>
            <a:off x="9554084" y="4583324"/>
            <a:ext cx="2124000" cy="429019"/>
          </a:xfrm>
          <a:prstGeom prst="rect">
            <a:avLst/>
          </a:prstGeom>
          <a:noFill/>
          <a:ln/>
        </p:spPr>
        <p:txBody>
          <a:bodyPr wrap="square" lIns="36000" tIns="36000" rIns="36000" bIns="36000" rtlCol="0" anchor="t">
            <a:noAutofit/>
          </a:bodyPr>
          <a:lstStyle/>
          <a:p>
            <a:pPr marL="0" indent="0" algn="l">
              <a:lnSpc>
                <a:spcPct val="120000"/>
              </a:lnSpc>
              <a:buNone/>
            </a:pPr>
            <a:r>
              <a:rPr lang="ja-JP" altLang="en-US" sz="1000" noProof="0" dirty="0">
                <a:latin typeface="Noto Sans JP" panose="020B0200000000000000" pitchFamily="50" charset="-128"/>
                <a:ea typeface="Noto Sans JP" panose="020B0200000000000000" pitchFamily="50" charset="-128"/>
                <a:cs typeface="Noto Sans JP" pitchFamily="34" charset="-120"/>
              </a:rPr>
              <a:t>地域ならではの食文化や伝統、人々との交流を通じて、観光だけでは見えない八戸の暮らしと魅力に触れる</a:t>
            </a:r>
            <a:endParaRPr lang="ja-JP" sz="1000" noProof="0" dirty="0">
              <a:latin typeface="Noto Sans JP" panose="020B0200000000000000" pitchFamily="50" charset="-128"/>
              <a:ea typeface="Noto Sans JP" panose="020B0200000000000000" pitchFamily="50" charset="-128"/>
            </a:endParaRPr>
          </a:p>
        </p:txBody>
      </p:sp>
      <p:sp>
        <p:nvSpPr>
          <p:cNvPr id="48" name="Text 36"/>
          <p:cNvSpPr txBox="1"/>
          <p:nvPr/>
        </p:nvSpPr>
        <p:spPr>
          <a:xfrm>
            <a:off x="9554084" y="5510676"/>
            <a:ext cx="2304000" cy="227169"/>
          </a:xfrm>
          <a:prstGeom prst="rect">
            <a:avLst/>
          </a:prstGeom>
          <a:noFill/>
          <a:ln/>
        </p:spPr>
        <p:txBody>
          <a:bodyPr wrap="square" lIns="36000" tIns="36000" rIns="36000" bIns="36000" rtlCol="0" anchor="t">
            <a:noAutofit/>
          </a:bodyPr>
          <a:lstStyle/>
          <a:p>
            <a:pPr marL="0" indent="0" algn="l">
              <a:lnSpc>
                <a:spcPct val="120000"/>
              </a:lnSpc>
              <a:spcBef>
                <a:spcPts val="300"/>
              </a:spcBef>
              <a:buNone/>
            </a:pPr>
            <a:r>
              <a:rPr lang="ja-JP" sz="900" b="1" noProof="0" dirty="0">
                <a:solidFill>
                  <a:srgbClr val="3CAEA3"/>
                </a:solidFill>
                <a:latin typeface="Noto Sans JP" panose="020B0200000000000000" pitchFamily="50" charset="-128"/>
                <a:ea typeface="Noto Sans JP" panose="020B0200000000000000" pitchFamily="50" charset="-128"/>
                <a:cs typeface="Noto Sans JP" pitchFamily="34" charset="-120"/>
              </a:rPr>
              <a:t>おすすめゲスト</a:t>
            </a:r>
            <a:endParaRPr lang="ja-JP" sz="900" noProof="0" dirty="0">
              <a:latin typeface="Noto Sans JP" panose="020B0200000000000000" pitchFamily="50" charset="-128"/>
              <a:ea typeface="Noto Sans JP" panose="020B0200000000000000" pitchFamily="50" charset="-128"/>
            </a:endParaRPr>
          </a:p>
        </p:txBody>
      </p:sp>
      <p:sp>
        <p:nvSpPr>
          <p:cNvPr id="49" name="Text 37"/>
          <p:cNvSpPr txBox="1"/>
          <p:nvPr/>
        </p:nvSpPr>
        <p:spPr>
          <a:xfrm>
            <a:off x="9554085" y="5737603"/>
            <a:ext cx="2304000" cy="227169"/>
          </a:xfrm>
          <a:prstGeom prst="rect">
            <a:avLst/>
          </a:prstGeom>
          <a:noFill/>
          <a:ln/>
        </p:spPr>
        <p:txBody>
          <a:bodyPr wrap="square" lIns="36000" tIns="36000" rIns="36000" bIns="36000" rtlCol="0" anchor="t">
            <a:noAutofit/>
          </a:bodyPr>
          <a:lstStyle/>
          <a:p>
            <a:pPr marL="266700" indent="-266700" algn="l">
              <a:lnSpc>
                <a:spcPct val="120000"/>
              </a:lnSpc>
              <a:spcBef>
                <a:spcPts val="300"/>
              </a:spcBef>
              <a:buNone/>
              <a:tabLst>
                <a:tab pos="266700" algn="l"/>
              </a:tabLst>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対象</a:t>
            </a:r>
            <a:r>
              <a:rPr lang="en-US" altLang="ja-JP" sz="900" b="1" dirty="0">
                <a:solidFill>
                  <a:srgbClr val="ED8B3C"/>
                </a:solidFill>
                <a:latin typeface="Noto Sans JP" panose="020B0200000000000000" pitchFamily="50" charset="-128"/>
                <a:ea typeface="Noto Sans JP" panose="020B0200000000000000" pitchFamily="50" charset="-128"/>
                <a:cs typeface="Noto Sans JP" pitchFamily="34" charset="-120"/>
              </a:rPr>
              <a:t>	</a:t>
            </a:r>
            <a:r>
              <a:rPr lang="ja-JP" altLang="en-US" sz="900" b="1" noProof="0" dirty="0">
                <a:solidFill>
                  <a:srgbClr val="081F3A"/>
                </a:solidFill>
                <a:latin typeface="Noto Sans JP" panose="020B0200000000000000" pitchFamily="50" charset="-128"/>
                <a:ea typeface="Noto Sans JP" panose="020B0200000000000000" pitchFamily="50" charset="-128"/>
                <a:cs typeface="Noto Sans JP" pitchFamily="34" charset="-120"/>
              </a:rPr>
              <a:t>食文化・地域文化に関心の高い欧米個人旅行者、リピーター</a:t>
            </a:r>
            <a:endParaRPr lang="ja-JP" sz="900" noProof="0" dirty="0">
              <a:latin typeface="Noto Sans JP" panose="020B0200000000000000" pitchFamily="50" charset="-128"/>
              <a:ea typeface="Noto Sans JP" panose="020B0200000000000000" pitchFamily="50" charset="-128"/>
            </a:endParaRPr>
          </a:p>
        </p:txBody>
      </p:sp>
      <p:sp>
        <p:nvSpPr>
          <p:cNvPr id="50" name="Text 38"/>
          <p:cNvSpPr txBox="1"/>
          <p:nvPr/>
        </p:nvSpPr>
        <p:spPr>
          <a:xfrm>
            <a:off x="9554084" y="6113883"/>
            <a:ext cx="2304000" cy="227169"/>
          </a:xfrm>
          <a:prstGeom prst="rect">
            <a:avLst/>
          </a:prstGeom>
          <a:noFill/>
          <a:ln/>
        </p:spPr>
        <p:txBody>
          <a:bodyPr wrap="square" lIns="36000" tIns="36000" rIns="36000" bIns="36000" rtlCol="0" anchor="t">
            <a:noAutofit/>
          </a:bodyPr>
          <a:lstStyle/>
          <a:p>
            <a:pPr marL="266700" indent="-266700" algn="l">
              <a:lnSpc>
                <a:spcPct val="120000"/>
              </a:lnSpc>
              <a:spcBef>
                <a:spcPts val="300"/>
              </a:spcBef>
              <a:buNone/>
              <a:tabLst>
                <a:tab pos="266700" algn="l"/>
              </a:tabLst>
            </a:pPr>
            <a:r>
              <a:rPr lang="ja-JP" sz="900" b="1" noProof="0" dirty="0">
                <a:solidFill>
                  <a:srgbClr val="ED8B3C"/>
                </a:solidFill>
                <a:latin typeface="Noto Sans JP" panose="020B0200000000000000" pitchFamily="50" charset="-128"/>
                <a:ea typeface="Noto Sans JP" panose="020B0200000000000000" pitchFamily="50" charset="-128"/>
                <a:cs typeface="Noto Sans JP" pitchFamily="34" charset="-120"/>
              </a:rPr>
              <a:t>場面</a:t>
            </a:r>
            <a:r>
              <a:rPr lang="en-US" altLang="ja-JP" sz="900" b="1" dirty="0">
                <a:solidFill>
                  <a:srgbClr val="ED8B3C"/>
                </a:solidFill>
                <a:latin typeface="Noto Sans JP" panose="020B0200000000000000" pitchFamily="50" charset="-128"/>
                <a:ea typeface="Noto Sans JP" panose="020B0200000000000000" pitchFamily="50" charset="-128"/>
                <a:cs typeface="Noto Sans JP" pitchFamily="34" charset="-120"/>
              </a:rPr>
              <a:t>	</a:t>
            </a:r>
            <a:r>
              <a:rPr lang="ja-JP" altLang="en-US" sz="900" noProof="0" dirty="0">
                <a:solidFill>
                  <a:srgbClr val="404A57"/>
                </a:solidFill>
                <a:latin typeface="Noto Sans JP" panose="020B0200000000000000" pitchFamily="50" charset="-128"/>
                <a:ea typeface="Noto Sans JP" panose="020B0200000000000000" pitchFamily="50" charset="-128"/>
                <a:cs typeface="Noto Sans JP" pitchFamily="34" charset="-120"/>
              </a:rPr>
              <a:t>まだ知られていない日本の地域を深く体験したい</a:t>
            </a:r>
            <a:endParaRPr lang="ja-JP" sz="900" noProof="0" dirty="0">
              <a:latin typeface="Noto Sans JP" panose="020B0200000000000000" pitchFamily="50" charset="-128"/>
              <a:ea typeface="Noto Sans JP" panose="020B0200000000000000"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16">
    <p:spTree>
      <p:nvGrpSpPr>
        <p:cNvPr id="1" name=""/>
        <p:cNvGrpSpPr/>
        <p:nvPr/>
      </p:nvGrpSpPr>
      <p:grpSpPr>
        <a:xfrm>
          <a:off x="0" y="0"/>
          <a:ext cx="0" cy="0"/>
          <a:chOff x="0" y="0"/>
          <a:chExt cx="0" cy="0"/>
        </a:xfrm>
      </p:grpSpPr>
      <p:pic>
        <p:nvPicPr>
          <p:cNvPr id="8" name="Image 0" descr="gen-dedup-468f209c8b765fcabfd32ae0c933e113.png"/>
          <p:cNvPicPr>
            <a:picLocks noChangeAspect="1"/>
          </p:cNvPicPr>
          <p:nvPr/>
        </p:nvPicPr>
        <p:blipFill>
          <a:blip r:embed="rId3"/>
          <a:srcRect l="-404" r="-404"/>
          <a:stretch/>
        </p:blipFill>
        <p:spPr>
          <a:xfrm>
            <a:off x="571500" y="1199769"/>
            <a:ext cx="571500" cy="28346"/>
          </a:xfrm>
          <a:prstGeom prst="rect">
            <a:avLst/>
          </a:prstGeom>
        </p:spPr>
      </p:pic>
      <p:sp>
        <p:nvSpPr>
          <p:cNvPr id="9" name="Text 6"/>
          <p:cNvSpPr txBox="1"/>
          <p:nvPr/>
        </p:nvSpPr>
        <p:spPr>
          <a:xfrm>
            <a:off x="571500" y="289215"/>
            <a:ext cx="1483346" cy="241788"/>
          </a:xfrm>
          <a:prstGeom prst="rect">
            <a:avLst/>
          </a:prstGeom>
          <a:noFill/>
          <a:ln/>
        </p:spPr>
        <p:txBody>
          <a:bodyPr wrap="none" lIns="36000" tIns="36000" rIns="36000" bIns="36000" rtlCol="0" anchor="ctr">
            <a:spAutoFit/>
          </a:bodyPr>
          <a:lstStyle>
            <a:lvl1pPr indent="0">
              <a:lnSpc>
                <a:spcPct val="120000"/>
              </a:lnSpc>
              <a:spcBef>
                <a:spcPts val="300"/>
              </a:spcBef>
              <a:buNone/>
              <a:defRPr sz="1000" b="1">
                <a:solidFill>
                  <a:srgbClr val="3CAEA3"/>
                </a:solidFill>
                <a:latin typeface="Noto Sans JP" pitchFamily="34" charset="0"/>
                <a:ea typeface="Noto Sans JP" pitchFamily="34" charset="-122"/>
                <a:cs typeface="Noto Sans JP" pitchFamily="34" charset="-120"/>
              </a:defRPr>
            </a:lvl1pPr>
          </a:lstStyle>
          <a:p>
            <a:r>
              <a:rPr lang="ja-JP" altLang="ja-JP" dirty="0"/>
              <a:t>ご案内可能コンテンツ例</a:t>
            </a:r>
          </a:p>
        </p:txBody>
      </p:sp>
      <p:sp>
        <p:nvSpPr>
          <p:cNvPr id="10" name="Text 7"/>
          <p:cNvSpPr txBox="1"/>
          <p:nvPr/>
        </p:nvSpPr>
        <p:spPr>
          <a:xfrm>
            <a:off x="571500" y="708841"/>
            <a:ext cx="9179363" cy="411257"/>
          </a:xfrm>
          <a:prstGeom prst="rect">
            <a:avLst/>
          </a:prstGeom>
          <a:noFill/>
          <a:ln/>
        </p:spPr>
        <p:txBody>
          <a:bodyPr wrap="none" lIns="36000" tIns="36000" rIns="36000" bIns="36000" rtlCol="0" anchor="ctr">
            <a:spAutoFit/>
          </a:bodyPr>
          <a:lstStyle/>
          <a:p>
            <a:pPr marL="0" indent="0" algn="l">
              <a:spcBef>
                <a:spcPts val="300"/>
              </a:spcBef>
              <a:buNone/>
            </a:pPr>
            <a:r>
              <a:rPr lang="ja-JP" altLang="en-US" sz="2200" b="1" dirty="0">
                <a:solidFill>
                  <a:srgbClr val="081F3A"/>
                </a:solidFill>
                <a:latin typeface="Noto Sans JP" pitchFamily="34" charset="0"/>
                <a:ea typeface="Noto Sans JP" pitchFamily="34" charset="-122"/>
                <a:cs typeface="Noto Sans JP" pitchFamily="34" charset="-120"/>
              </a:rPr>
              <a:t>その他の</a:t>
            </a:r>
            <a:r>
              <a:rPr lang="ja-JP" sz="2200" b="1" noProof="0" dirty="0">
                <a:solidFill>
                  <a:srgbClr val="081F3A"/>
                </a:solidFill>
                <a:latin typeface="Noto Sans JP" pitchFamily="34" charset="0"/>
                <a:ea typeface="Noto Sans JP" pitchFamily="34" charset="-122"/>
                <a:cs typeface="Noto Sans JP" pitchFamily="34" charset="-120"/>
              </a:rPr>
              <a:t>個別アクティビティご紹介 ― </a:t>
            </a:r>
            <a:r>
              <a:rPr lang="ja-JP" sz="2200" b="1" noProof="0" dirty="0">
                <a:solidFill>
                  <a:srgbClr val="ED8B3C"/>
                </a:solidFill>
                <a:latin typeface="Noto Sans JP" pitchFamily="34" charset="0"/>
                <a:ea typeface="Noto Sans JP" pitchFamily="34" charset="-122"/>
                <a:cs typeface="Noto Sans JP" pitchFamily="34" charset="-120"/>
              </a:rPr>
              <a:t>提供可能な</a:t>
            </a:r>
            <a:r>
              <a:rPr lang="ja-JP" altLang="en-US" sz="2200" b="1" noProof="0" dirty="0">
                <a:solidFill>
                  <a:srgbClr val="ED8B3C"/>
                </a:solidFill>
                <a:latin typeface="Noto Sans JP" pitchFamily="34" charset="0"/>
                <a:ea typeface="Noto Sans JP" pitchFamily="34" charset="-122"/>
                <a:cs typeface="Noto Sans JP" pitchFamily="34" charset="-120"/>
              </a:rPr>
              <a:t>和文化</a:t>
            </a:r>
            <a:r>
              <a:rPr lang="ja-JP" sz="2200" b="1" noProof="0" dirty="0">
                <a:solidFill>
                  <a:srgbClr val="ED8B3C"/>
                </a:solidFill>
                <a:latin typeface="Noto Sans JP" pitchFamily="34" charset="0"/>
                <a:ea typeface="Noto Sans JP" pitchFamily="34" charset="-122"/>
                <a:cs typeface="Noto Sans JP" pitchFamily="34" charset="-120"/>
              </a:rPr>
              <a:t>コンテンツ例</a:t>
            </a:r>
            <a:endParaRPr lang="ja-JP" sz="2200" noProof="0" dirty="0"/>
          </a:p>
        </p:txBody>
      </p:sp>
      <p:sp>
        <p:nvSpPr>
          <p:cNvPr id="226" name="Shape 5">
            <a:extLst>
              <a:ext uri="{FF2B5EF4-FFF2-40B4-BE49-F238E27FC236}">
                <a16:creationId xmlns:a16="http://schemas.microsoft.com/office/drawing/2014/main" id="{176011E3-0E5C-2E66-F56F-6D48CDDCC502}"/>
              </a:ext>
            </a:extLst>
          </p:cNvPr>
          <p:cNvSpPr/>
          <p:nvPr/>
        </p:nvSpPr>
        <p:spPr>
          <a:xfrm>
            <a:off x="555858" y="1357913"/>
            <a:ext cx="11121106" cy="1429133"/>
          </a:xfrm>
          <a:prstGeom prst="rect">
            <a:avLst/>
          </a:prstGeom>
          <a:solidFill>
            <a:srgbClr val="FFFFFF"/>
          </a:solidFill>
          <a:ln w="12700">
            <a:solidFill>
              <a:srgbClr val="E6DEC8"/>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pic>
        <p:nvPicPr>
          <p:cNvPr id="228" name="Image 2" descr="gen-dedup-603fe3f27a2eca32923fa666b72f6572.png">
            <a:extLst>
              <a:ext uri="{FF2B5EF4-FFF2-40B4-BE49-F238E27FC236}">
                <a16:creationId xmlns:a16="http://schemas.microsoft.com/office/drawing/2014/main" id="{0C370C47-8CF6-A868-CC29-BF07D3D9C1CE}"/>
              </a:ext>
            </a:extLst>
          </p:cNvPr>
          <p:cNvPicPr preferRelativeResize="0">
            <a:picLocks/>
          </p:cNvPicPr>
          <p:nvPr/>
        </p:nvPicPr>
        <p:blipFill>
          <a:blip r:embed="rId4"/>
          <a:srcRect l="-199" r="-199"/>
          <a:stretch/>
        </p:blipFill>
        <p:spPr>
          <a:xfrm>
            <a:off x="539433" y="1344755"/>
            <a:ext cx="11160000" cy="36000"/>
          </a:xfrm>
          <a:prstGeom prst="rect">
            <a:avLst/>
          </a:prstGeom>
        </p:spPr>
      </p:pic>
      <p:sp>
        <p:nvSpPr>
          <p:cNvPr id="230" name="Shape 6">
            <a:extLst>
              <a:ext uri="{FF2B5EF4-FFF2-40B4-BE49-F238E27FC236}">
                <a16:creationId xmlns:a16="http://schemas.microsoft.com/office/drawing/2014/main" id="{273E280A-7FCA-585F-20A5-F6B01CBD9A1F}"/>
              </a:ext>
            </a:extLst>
          </p:cNvPr>
          <p:cNvSpPr/>
          <p:nvPr/>
        </p:nvSpPr>
        <p:spPr>
          <a:xfrm>
            <a:off x="555858" y="2865036"/>
            <a:ext cx="11121106" cy="2221909"/>
          </a:xfrm>
          <a:prstGeom prst="rect">
            <a:avLst/>
          </a:prstGeom>
          <a:solidFill>
            <a:srgbClr val="FFFFFF"/>
          </a:solidFill>
          <a:ln w="12700">
            <a:solidFill>
              <a:srgbClr val="E6DEC8"/>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pic>
        <p:nvPicPr>
          <p:cNvPr id="232" name="Image 3" descr="gen-dedup-cbf2d150759d691b7137725b72ff7d1d.png">
            <a:extLst>
              <a:ext uri="{FF2B5EF4-FFF2-40B4-BE49-F238E27FC236}">
                <a16:creationId xmlns:a16="http://schemas.microsoft.com/office/drawing/2014/main" id="{D49F962F-EE6C-F882-C736-7DA4E15E6DA2}"/>
              </a:ext>
            </a:extLst>
          </p:cNvPr>
          <p:cNvPicPr preferRelativeResize="0">
            <a:picLocks/>
          </p:cNvPicPr>
          <p:nvPr/>
        </p:nvPicPr>
        <p:blipFill>
          <a:blip r:embed="rId5"/>
          <a:srcRect l="-199" r="-199"/>
          <a:stretch/>
        </p:blipFill>
        <p:spPr>
          <a:xfrm>
            <a:off x="539433" y="2851881"/>
            <a:ext cx="11160000" cy="36000"/>
          </a:xfrm>
          <a:prstGeom prst="rect">
            <a:avLst/>
          </a:prstGeom>
        </p:spPr>
      </p:pic>
      <p:sp>
        <p:nvSpPr>
          <p:cNvPr id="234" name="Shape 7">
            <a:extLst>
              <a:ext uri="{FF2B5EF4-FFF2-40B4-BE49-F238E27FC236}">
                <a16:creationId xmlns:a16="http://schemas.microsoft.com/office/drawing/2014/main" id="{A6E46DCF-1B9D-6063-FAA2-54F72688A15D}"/>
              </a:ext>
            </a:extLst>
          </p:cNvPr>
          <p:cNvSpPr/>
          <p:nvPr/>
        </p:nvSpPr>
        <p:spPr>
          <a:xfrm>
            <a:off x="555858" y="5196677"/>
            <a:ext cx="11121106" cy="1357853"/>
          </a:xfrm>
          <a:prstGeom prst="rect">
            <a:avLst/>
          </a:prstGeom>
          <a:solidFill>
            <a:srgbClr val="FFFFFF"/>
          </a:solidFill>
          <a:ln w="12700">
            <a:solidFill>
              <a:srgbClr val="E6DEC8"/>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pic>
        <p:nvPicPr>
          <p:cNvPr id="236" name="Image 4" descr="gen-dedup-d098e2ac067540ce65c793711bb410a8.png">
            <a:extLst>
              <a:ext uri="{FF2B5EF4-FFF2-40B4-BE49-F238E27FC236}">
                <a16:creationId xmlns:a16="http://schemas.microsoft.com/office/drawing/2014/main" id="{FFC0C37D-A54B-173C-F098-BC42E66413CE}"/>
              </a:ext>
            </a:extLst>
          </p:cNvPr>
          <p:cNvPicPr preferRelativeResize="0">
            <a:picLocks/>
          </p:cNvPicPr>
          <p:nvPr/>
        </p:nvPicPr>
        <p:blipFill>
          <a:blip r:embed="rId6"/>
          <a:srcRect l="-199" r="-199"/>
          <a:stretch/>
        </p:blipFill>
        <p:spPr>
          <a:xfrm>
            <a:off x="539433" y="5183520"/>
            <a:ext cx="11160000" cy="36000"/>
          </a:xfrm>
          <a:prstGeom prst="rect">
            <a:avLst/>
          </a:prstGeom>
        </p:spPr>
      </p:pic>
      <p:sp>
        <p:nvSpPr>
          <p:cNvPr id="238" name="Text 18">
            <a:extLst>
              <a:ext uri="{FF2B5EF4-FFF2-40B4-BE49-F238E27FC236}">
                <a16:creationId xmlns:a16="http://schemas.microsoft.com/office/drawing/2014/main" id="{2DE8B82D-AF40-B59C-57AA-0E1CB0FD68DA}"/>
              </a:ext>
            </a:extLst>
          </p:cNvPr>
          <p:cNvSpPr txBox="1"/>
          <p:nvPr/>
        </p:nvSpPr>
        <p:spPr>
          <a:xfrm>
            <a:off x="750708" y="1512031"/>
            <a:ext cx="256909" cy="237478"/>
          </a:xfrm>
          <a:prstGeom prst="rect">
            <a:avLst/>
          </a:prstGeom>
          <a:noFill/>
          <a:ln/>
        </p:spPr>
        <p:txBody>
          <a:bodyPr wrap="square" lIns="0" tIns="0" rIns="0" bIns="0" rtlCol="0" anchor="ctr"/>
          <a:lstStyle/>
          <a:p>
            <a:r>
              <a:rPr lang="ja-JP" sz="1677" b="1" noProof="0" dirty="0">
                <a:solidFill>
                  <a:srgbClr val="FFD338"/>
                </a:solidFill>
                <a:latin typeface="Noto Sans JP" panose="020B0200000000000000" pitchFamily="50" charset="-128"/>
                <a:ea typeface="Noto Sans JP" panose="020B0200000000000000" pitchFamily="50" charset="-128"/>
                <a:cs typeface="Fredoka" pitchFamily="34" charset="-120"/>
              </a:rPr>
              <a:t>01</a:t>
            </a:r>
            <a:endParaRPr lang="ja-JP" sz="1677" noProof="0" dirty="0">
              <a:latin typeface="Noto Sans JP" panose="020B0200000000000000" pitchFamily="50" charset="-128"/>
              <a:ea typeface="Noto Sans JP" panose="020B0200000000000000" pitchFamily="50" charset="-128"/>
            </a:endParaRPr>
          </a:p>
        </p:txBody>
      </p:sp>
      <p:sp>
        <p:nvSpPr>
          <p:cNvPr id="240" name="Text 20">
            <a:extLst>
              <a:ext uri="{FF2B5EF4-FFF2-40B4-BE49-F238E27FC236}">
                <a16:creationId xmlns:a16="http://schemas.microsoft.com/office/drawing/2014/main" id="{366CDDC9-5D0C-A73D-6F64-852C0B178750}"/>
              </a:ext>
            </a:extLst>
          </p:cNvPr>
          <p:cNvSpPr txBox="1"/>
          <p:nvPr/>
        </p:nvSpPr>
        <p:spPr>
          <a:xfrm>
            <a:off x="1140778" y="1530168"/>
            <a:ext cx="4961324" cy="201205"/>
          </a:xfrm>
          <a:prstGeom prst="rect">
            <a:avLst/>
          </a:prstGeom>
          <a:noFill/>
          <a:ln/>
        </p:spPr>
        <p:txBody>
          <a:bodyPr wrap="square" lIns="0" tIns="0" rIns="0" bIns="0" rtlCol="0" anchor="ctr"/>
          <a:lstStyle/>
          <a:p>
            <a:r>
              <a:rPr lang="ja-JP" sz="1200" b="1" noProof="0" dirty="0">
                <a:latin typeface="Noto Sans JP" panose="020B0200000000000000" pitchFamily="50" charset="-128"/>
                <a:ea typeface="Noto Sans JP" panose="020B0200000000000000" pitchFamily="50" charset="-128"/>
                <a:cs typeface="Zen Kaku Gothic New" pitchFamily="34" charset="-120"/>
              </a:rPr>
              <a:t>鑑賞型：日本の "芸" を鑑賞して、実際に体験</a:t>
            </a:r>
            <a:endParaRPr lang="ja-JP" sz="1200" noProof="0" dirty="0">
              <a:latin typeface="Noto Sans JP" panose="020B0200000000000000" pitchFamily="50" charset="-128"/>
              <a:ea typeface="Noto Sans JP" panose="020B0200000000000000" pitchFamily="50" charset="-128"/>
            </a:endParaRPr>
          </a:p>
        </p:txBody>
      </p:sp>
      <p:sp>
        <p:nvSpPr>
          <p:cNvPr id="242" name="Shape 22">
            <a:extLst>
              <a:ext uri="{FF2B5EF4-FFF2-40B4-BE49-F238E27FC236}">
                <a16:creationId xmlns:a16="http://schemas.microsoft.com/office/drawing/2014/main" id="{2D4632E0-30A7-C4F0-A882-B48A87ED8C75}"/>
              </a:ext>
            </a:extLst>
          </p:cNvPr>
          <p:cNvSpPr/>
          <p:nvPr/>
        </p:nvSpPr>
        <p:spPr>
          <a:xfrm>
            <a:off x="750707" y="1865676"/>
            <a:ext cx="2599774" cy="755093"/>
          </a:xfrm>
          <a:prstGeom prst="rect">
            <a:avLst/>
          </a:prstGeom>
          <a:solidFill>
            <a:srgbClr val="FFE99A"/>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44" name="Shape 23">
            <a:extLst>
              <a:ext uri="{FF2B5EF4-FFF2-40B4-BE49-F238E27FC236}">
                <a16:creationId xmlns:a16="http://schemas.microsoft.com/office/drawing/2014/main" id="{F5AC4C8D-6411-2390-E56A-C7BB64EF26EA}"/>
              </a:ext>
            </a:extLst>
          </p:cNvPr>
          <p:cNvSpPr/>
          <p:nvPr/>
        </p:nvSpPr>
        <p:spPr>
          <a:xfrm>
            <a:off x="750708" y="1865676"/>
            <a:ext cx="34701" cy="755093"/>
          </a:xfrm>
          <a:prstGeom prst="roundRect">
            <a:avLst>
              <a:gd name="adj" fmla="val 377072"/>
            </a:avLst>
          </a:prstGeom>
          <a:solidFill>
            <a:srgbClr val="FFD338"/>
          </a:solidFill>
          <a:ln w="12700">
            <a:solidFill>
              <a:srgbClr val="FFD33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46" name="Text 24">
            <a:extLst>
              <a:ext uri="{FF2B5EF4-FFF2-40B4-BE49-F238E27FC236}">
                <a16:creationId xmlns:a16="http://schemas.microsoft.com/office/drawing/2014/main" id="{F3D90C2A-9981-9082-261E-5F859B220503}"/>
              </a:ext>
            </a:extLst>
          </p:cNvPr>
          <p:cNvSpPr txBox="1"/>
          <p:nvPr/>
        </p:nvSpPr>
        <p:spPr>
          <a:xfrm>
            <a:off x="868819" y="1957953"/>
            <a:ext cx="2398252"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太神楽 (だいかぐら)</a:t>
            </a:r>
            <a:endParaRPr lang="ja-JP" sz="1168" noProof="0" dirty="0">
              <a:latin typeface="Noto Sans JP" panose="020B0200000000000000" pitchFamily="50" charset="-128"/>
              <a:ea typeface="Noto Sans JP" panose="020B0200000000000000" pitchFamily="50" charset="-128"/>
            </a:endParaRPr>
          </a:p>
        </p:txBody>
      </p:sp>
      <p:sp>
        <p:nvSpPr>
          <p:cNvPr id="248" name="Text 26">
            <a:extLst>
              <a:ext uri="{FF2B5EF4-FFF2-40B4-BE49-F238E27FC236}">
                <a16:creationId xmlns:a16="http://schemas.microsoft.com/office/drawing/2014/main" id="{03C15581-D4A3-AC0F-3625-6F05F1E683B1}"/>
              </a:ext>
            </a:extLst>
          </p:cNvPr>
          <p:cNvSpPr txBox="1"/>
          <p:nvPr/>
        </p:nvSpPr>
        <p:spPr>
          <a:xfrm>
            <a:off x="876657" y="2223668"/>
            <a:ext cx="2398252"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神事芸能が紀元、祝い事に欠かせない存在。</a:t>
            </a:r>
          </a:p>
          <a:p>
            <a:r>
              <a:rPr lang="ja-JP" sz="850" noProof="0" dirty="0">
                <a:latin typeface="Noto Sans JP" panose="020B0200000000000000" pitchFamily="50" charset="-128"/>
                <a:ea typeface="Noto Sans JP" panose="020B0200000000000000" pitchFamily="50" charset="-128"/>
              </a:rPr>
              <a:t>華やかな芸を、バイリンガルの神楽師が披露</a:t>
            </a:r>
          </a:p>
        </p:txBody>
      </p:sp>
      <p:sp>
        <p:nvSpPr>
          <p:cNvPr id="250" name="Shape 27">
            <a:extLst>
              <a:ext uri="{FF2B5EF4-FFF2-40B4-BE49-F238E27FC236}">
                <a16:creationId xmlns:a16="http://schemas.microsoft.com/office/drawing/2014/main" id="{07B43A58-85F1-A01A-81C3-BE54F0B80FDE}"/>
              </a:ext>
            </a:extLst>
          </p:cNvPr>
          <p:cNvSpPr/>
          <p:nvPr/>
        </p:nvSpPr>
        <p:spPr>
          <a:xfrm>
            <a:off x="3461250" y="1865676"/>
            <a:ext cx="2599774" cy="755093"/>
          </a:xfrm>
          <a:prstGeom prst="rect">
            <a:avLst/>
          </a:prstGeom>
          <a:solidFill>
            <a:srgbClr val="FFE99A"/>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52" name="Shape 28">
            <a:extLst>
              <a:ext uri="{FF2B5EF4-FFF2-40B4-BE49-F238E27FC236}">
                <a16:creationId xmlns:a16="http://schemas.microsoft.com/office/drawing/2014/main" id="{5B44BE44-04C3-BAB9-2E84-3367DC921888}"/>
              </a:ext>
            </a:extLst>
          </p:cNvPr>
          <p:cNvSpPr/>
          <p:nvPr/>
        </p:nvSpPr>
        <p:spPr>
          <a:xfrm>
            <a:off x="3461251" y="1865676"/>
            <a:ext cx="34701" cy="755093"/>
          </a:xfrm>
          <a:prstGeom prst="roundRect">
            <a:avLst>
              <a:gd name="adj" fmla="val 377072"/>
            </a:avLst>
          </a:prstGeom>
          <a:solidFill>
            <a:srgbClr val="FFD338"/>
          </a:solidFill>
          <a:ln w="12700">
            <a:solidFill>
              <a:srgbClr val="FFD33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54" name="Text 29">
            <a:extLst>
              <a:ext uri="{FF2B5EF4-FFF2-40B4-BE49-F238E27FC236}">
                <a16:creationId xmlns:a16="http://schemas.microsoft.com/office/drawing/2014/main" id="{9A8C328C-7AF0-04F6-C42D-639C1BD767BC}"/>
              </a:ext>
            </a:extLst>
          </p:cNvPr>
          <p:cNvSpPr txBox="1"/>
          <p:nvPr/>
        </p:nvSpPr>
        <p:spPr>
          <a:xfrm>
            <a:off x="3579362" y="1957953"/>
            <a:ext cx="2398252"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和太鼓・囃子方</a:t>
            </a:r>
            <a:endParaRPr lang="ja-JP" sz="1168" noProof="0" dirty="0">
              <a:latin typeface="Noto Sans JP" panose="020B0200000000000000" pitchFamily="50" charset="-128"/>
              <a:ea typeface="Noto Sans JP" panose="020B0200000000000000" pitchFamily="50" charset="-128"/>
            </a:endParaRPr>
          </a:p>
        </p:txBody>
      </p:sp>
      <p:sp>
        <p:nvSpPr>
          <p:cNvPr id="256" name="Text 31">
            <a:extLst>
              <a:ext uri="{FF2B5EF4-FFF2-40B4-BE49-F238E27FC236}">
                <a16:creationId xmlns:a16="http://schemas.microsoft.com/office/drawing/2014/main" id="{04935112-0F66-93B1-0604-61820A4DD5F2}"/>
              </a:ext>
            </a:extLst>
          </p:cNvPr>
          <p:cNvSpPr txBox="1"/>
          <p:nvPr/>
        </p:nvSpPr>
        <p:spPr>
          <a:xfrm>
            <a:off x="3579362" y="2223668"/>
            <a:ext cx="2398252"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言語を超えた、迫力のパフォーマンス。</a:t>
            </a:r>
          </a:p>
          <a:p>
            <a:r>
              <a:rPr lang="ja-JP" sz="850" noProof="0" dirty="0">
                <a:latin typeface="Noto Sans JP" panose="020B0200000000000000" pitchFamily="50" charset="-128"/>
                <a:ea typeface="Noto Sans JP" panose="020B0200000000000000" pitchFamily="50" charset="-128"/>
              </a:rPr>
              <a:t>盆踊りとの相性も抜群</a:t>
            </a:r>
          </a:p>
        </p:txBody>
      </p:sp>
      <p:sp>
        <p:nvSpPr>
          <p:cNvPr id="258" name="Shape 32">
            <a:extLst>
              <a:ext uri="{FF2B5EF4-FFF2-40B4-BE49-F238E27FC236}">
                <a16:creationId xmlns:a16="http://schemas.microsoft.com/office/drawing/2014/main" id="{F3C99015-EA82-73FD-5497-DCC8427B7E00}"/>
              </a:ext>
            </a:extLst>
          </p:cNvPr>
          <p:cNvSpPr/>
          <p:nvPr/>
        </p:nvSpPr>
        <p:spPr>
          <a:xfrm>
            <a:off x="6172461" y="1865676"/>
            <a:ext cx="2599774" cy="755093"/>
          </a:xfrm>
          <a:prstGeom prst="rect">
            <a:avLst/>
          </a:prstGeom>
          <a:solidFill>
            <a:srgbClr val="FFE99A"/>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60" name="Shape 33">
            <a:extLst>
              <a:ext uri="{FF2B5EF4-FFF2-40B4-BE49-F238E27FC236}">
                <a16:creationId xmlns:a16="http://schemas.microsoft.com/office/drawing/2014/main" id="{CC3EE3E9-5DAE-087F-B1E6-53F79F12DB2E}"/>
              </a:ext>
            </a:extLst>
          </p:cNvPr>
          <p:cNvSpPr/>
          <p:nvPr/>
        </p:nvSpPr>
        <p:spPr>
          <a:xfrm>
            <a:off x="6172462" y="1865676"/>
            <a:ext cx="34701" cy="755093"/>
          </a:xfrm>
          <a:prstGeom prst="roundRect">
            <a:avLst>
              <a:gd name="adj" fmla="val 377072"/>
            </a:avLst>
          </a:prstGeom>
          <a:solidFill>
            <a:srgbClr val="FFD338"/>
          </a:solidFill>
          <a:ln w="12700">
            <a:solidFill>
              <a:srgbClr val="FFD33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62" name="Text 34">
            <a:extLst>
              <a:ext uri="{FF2B5EF4-FFF2-40B4-BE49-F238E27FC236}">
                <a16:creationId xmlns:a16="http://schemas.microsoft.com/office/drawing/2014/main" id="{5FCC231F-FDD6-C2EF-D9D2-7D9BDF456456}"/>
              </a:ext>
            </a:extLst>
          </p:cNvPr>
          <p:cNvSpPr txBox="1"/>
          <p:nvPr/>
        </p:nvSpPr>
        <p:spPr>
          <a:xfrm>
            <a:off x="6283233" y="1957953"/>
            <a:ext cx="2398252" cy="155712"/>
          </a:xfrm>
          <a:prstGeom prst="rect">
            <a:avLst/>
          </a:prstGeom>
          <a:noFill/>
          <a:ln/>
        </p:spPr>
        <p:txBody>
          <a:bodyPr wrap="square" lIns="0" tIns="0" rIns="0" bIns="0" rtlCol="0" anchor="ctr"/>
          <a:lstStyle/>
          <a:p>
            <a:r>
              <a:rPr lang="ja-JP" sz="1161" b="1" noProof="0" dirty="0">
                <a:latin typeface="Noto Sans JP" panose="020B0200000000000000" pitchFamily="50" charset="-128"/>
                <a:ea typeface="Noto Sans JP" panose="020B0200000000000000" pitchFamily="50" charset="-128"/>
              </a:rPr>
              <a:t>津軽三味線∔南部手踊り</a:t>
            </a:r>
          </a:p>
        </p:txBody>
      </p:sp>
      <p:sp>
        <p:nvSpPr>
          <p:cNvPr id="264" name="Text 36">
            <a:extLst>
              <a:ext uri="{FF2B5EF4-FFF2-40B4-BE49-F238E27FC236}">
                <a16:creationId xmlns:a16="http://schemas.microsoft.com/office/drawing/2014/main" id="{624D5CAA-DCED-4E68-8D02-AC3F26B273F0}"/>
              </a:ext>
            </a:extLst>
          </p:cNvPr>
          <p:cNvSpPr txBox="1"/>
          <p:nvPr/>
        </p:nvSpPr>
        <p:spPr>
          <a:xfrm>
            <a:off x="6290575" y="2223668"/>
            <a:ext cx="2398252"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津軽三味線</a:t>
            </a:r>
            <a:r>
              <a:rPr lang="ja-JP" altLang="en-US" sz="850" noProof="0" dirty="0">
                <a:latin typeface="Noto Sans JP" panose="020B0200000000000000" pitchFamily="50" charset="-128"/>
                <a:ea typeface="Noto Sans JP" panose="020B0200000000000000" pitchFamily="50" charset="-128"/>
                <a:cs typeface="Noto Sans JP" pitchFamily="34" charset="-120"/>
              </a:rPr>
              <a:t>＋</a:t>
            </a:r>
            <a:r>
              <a:rPr lang="ja-JP" sz="850" noProof="0" dirty="0">
                <a:latin typeface="Noto Sans JP" panose="020B0200000000000000" pitchFamily="50" charset="-128"/>
                <a:ea typeface="Noto Sans JP" panose="020B0200000000000000" pitchFamily="50" charset="-128"/>
                <a:cs typeface="Noto Sans JP" pitchFamily="34" charset="-120"/>
              </a:rPr>
              <a:t>南部手踊りのタイトルホルダーの、本格パフォーマンス。海外でも人気の伝統芸能</a:t>
            </a:r>
            <a:endParaRPr lang="ja-JP" sz="850" noProof="0" dirty="0">
              <a:latin typeface="Noto Sans JP" panose="020B0200000000000000" pitchFamily="50" charset="-128"/>
              <a:ea typeface="Noto Sans JP" panose="020B0200000000000000" pitchFamily="50" charset="-128"/>
            </a:endParaRPr>
          </a:p>
        </p:txBody>
      </p:sp>
      <p:sp>
        <p:nvSpPr>
          <p:cNvPr id="266" name="Shape 37">
            <a:extLst>
              <a:ext uri="{FF2B5EF4-FFF2-40B4-BE49-F238E27FC236}">
                <a16:creationId xmlns:a16="http://schemas.microsoft.com/office/drawing/2014/main" id="{D0A583A2-F24F-D601-C4AC-C614C97DB7DE}"/>
              </a:ext>
            </a:extLst>
          </p:cNvPr>
          <p:cNvSpPr/>
          <p:nvPr/>
        </p:nvSpPr>
        <p:spPr>
          <a:xfrm>
            <a:off x="8883005" y="1865676"/>
            <a:ext cx="2599774" cy="755093"/>
          </a:xfrm>
          <a:prstGeom prst="rect">
            <a:avLst/>
          </a:prstGeom>
          <a:solidFill>
            <a:srgbClr val="FFE99A"/>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68" name="Shape 38">
            <a:extLst>
              <a:ext uri="{FF2B5EF4-FFF2-40B4-BE49-F238E27FC236}">
                <a16:creationId xmlns:a16="http://schemas.microsoft.com/office/drawing/2014/main" id="{CDE7E442-B7A2-251E-8D49-6833974E875F}"/>
              </a:ext>
            </a:extLst>
          </p:cNvPr>
          <p:cNvSpPr/>
          <p:nvPr/>
        </p:nvSpPr>
        <p:spPr>
          <a:xfrm>
            <a:off x="8883008" y="1865676"/>
            <a:ext cx="34701" cy="755093"/>
          </a:xfrm>
          <a:prstGeom prst="roundRect">
            <a:avLst>
              <a:gd name="adj" fmla="val 377072"/>
            </a:avLst>
          </a:prstGeom>
          <a:solidFill>
            <a:srgbClr val="FFD338"/>
          </a:solidFill>
          <a:ln w="12700">
            <a:solidFill>
              <a:srgbClr val="FFD33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70" name="Text 39">
            <a:extLst>
              <a:ext uri="{FF2B5EF4-FFF2-40B4-BE49-F238E27FC236}">
                <a16:creationId xmlns:a16="http://schemas.microsoft.com/office/drawing/2014/main" id="{5521AC81-3F7A-C009-9230-1EE8F19D14CB}"/>
              </a:ext>
            </a:extLst>
          </p:cNvPr>
          <p:cNvSpPr txBox="1"/>
          <p:nvPr/>
        </p:nvSpPr>
        <p:spPr>
          <a:xfrm>
            <a:off x="9001118" y="1957953"/>
            <a:ext cx="2398252"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寄席演芸 (落語・漫才)</a:t>
            </a:r>
            <a:endParaRPr lang="ja-JP" sz="1168" noProof="0" dirty="0">
              <a:latin typeface="Noto Sans JP" panose="020B0200000000000000" pitchFamily="50" charset="-128"/>
              <a:ea typeface="Noto Sans JP" panose="020B0200000000000000" pitchFamily="50" charset="-128"/>
            </a:endParaRPr>
          </a:p>
        </p:txBody>
      </p:sp>
      <p:sp>
        <p:nvSpPr>
          <p:cNvPr id="272" name="Text 41">
            <a:extLst>
              <a:ext uri="{FF2B5EF4-FFF2-40B4-BE49-F238E27FC236}">
                <a16:creationId xmlns:a16="http://schemas.microsoft.com/office/drawing/2014/main" id="{8E391D91-9636-8EF7-E607-9D51FAF0CE8B}"/>
              </a:ext>
            </a:extLst>
          </p:cNvPr>
          <p:cNvSpPr txBox="1"/>
          <p:nvPr/>
        </p:nvSpPr>
        <p:spPr>
          <a:xfrm>
            <a:off x="9001118" y="2223668"/>
            <a:ext cx="2398252"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英語落語家の手配可能。</a:t>
            </a:r>
          </a:p>
          <a:p>
            <a:r>
              <a:rPr lang="ja-JP" sz="850" noProof="0" dirty="0">
                <a:latin typeface="Noto Sans JP" panose="020B0200000000000000" pitchFamily="50" charset="-128"/>
                <a:ea typeface="Noto Sans JP" panose="020B0200000000000000" pitchFamily="50" charset="-128"/>
                <a:cs typeface="Noto Sans JP" pitchFamily="34" charset="-120"/>
              </a:rPr>
              <a:t>"日本語のリズム" を笑いで覚える時間に</a:t>
            </a:r>
            <a:endParaRPr lang="ja-JP" sz="850" noProof="0" dirty="0">
              <a:latin typeface="Noto Sans JP" panose="020B0200000000000000" pitchFamily="50" charset="-128"/>
              <a:ea typeface="Noto Sans JP" panose="020B0200000000000000" pitchFamily="50" charset="-128"/>
            </a:endParaRPr>
          </a:p>
        </p:txBody>
      </p:sp>
      <p:sp>
        <p:nvSpPr>
          <p:cNvPr id="274" name="Text 42">
            <a:extLst>
              <a:ext uri="{FF2B5EF4-FFF2-40B4-BE49-F238E27FC236}">
                <a16:creationId xmlns:a16="http://schemas.microsoft.com/office/drawing/2014/main" id="{43D01F0B-F498-2E97-F381-D7ED6B780E6D}"/>
              </a:ext>
            </a:extLst>
          </p:cNvPr>
          <p:cNvSpPr txBox="1"/>
          <p:nvPr/>
        </p:nvSpPr>
        <p:spPr>
          <a:xfrm>
            <a:off x="750704" y="2992665"/>
            <a:ext cx="286268" cy="237478"/>
          </a:xfrm>
          <a:prstGeom prst="rect">
            <a:avLst/>
          </a:prstGeom>
          <a:noFill/>
          <a:ln/>
        </p:spPr>
        <p:txBody>
          <a:bodyPr wrap="square" lIns="0" tIns="0" rIns="0" bIns="0" rtlCol="0" anchor="ctr"/>
          <a:lstStyle/>
          <a:p>
            <a:r>
              <a:rPr lang="ja-JP" sz="1677" b="1" noProof="0" dirty="0">
                <a:solidFill>
                  <a:srgbClr val="79CDE8"/>
                </a:solidFill>
                <a:latin typeface="Noto Sans JP" panose="020B0200000000000000" pitchFamily="50" charset="-128"/>
                <a:ea typeface="Noto Sans JP" panose="020B0200000000000000" pitchFamily="50" charset="-128"/>
                <a:cs typeface="Fredoka" pitchFamily="34" charset="-120"/>
              </a:rPr>
              <a:t>02</a:t>
            </a:r>
            <a:endParaRPr lang="ja-JP" sz="1677" noProof="0" dirty="0">
              <a:latin typeface="Noto Sans JP" panose="020B0200000000000000" pitchFamily="50" charset="-128"/>
              <a:ea typeface="Noto Sans JP" panose="020B0200000000000000" pitchFamily="50" charset="-128"/>
            </a:endParaRPr>
          </a:p>
        </p:txBody>
      </p:sp>
      <p:sp>
        <p:nvSpPr>
          <p:cNvPr id="276" name="Text 44">
            <a:extLst>
              <a:ext uri="{FF2B5EF4-FFF2-40B4-BE49-F238E27FC236}">
                <a16:creationId xmlns:a16="http://schemas.microsoft.com/office/drawing/2014/main" id="{84E94DC5-82E6-C1F2-9159-9D3634FD1C51}"/>
              </a:ext>
            </a:extLst>
          </p:cNvPr>
          <p:cNvSpPr txBox="1"/>
          <p:nvPr/>
        </p:nvSpPr>
        <p:spPr>
          <a:xfrm>
            <a:off x="1140778" y="3010801"/>
            <a:ext cx="5443705" cy="201205"/>
          </a:xfrm>
          <a:prstGeom prst="rect">
            <a:avLst/>
          </a:prstGeom>
          <a:noFill/>
          <a:ln/>
        </p:spPr>
        <p:txBody>
          <a:bodyPr wrap="square" lIns="0" tIns="0" rIns="0" bIns="0" rtlCol="0" anchor="ctr"/>
          <a:lstStyle/>
          <a:p>
            <a:r>
              <a:rPr lang="ja-JP" sz="1200" b="1" noProof="0" dirty="0">
                <a:latin typeface="Noto Sans JP" panose="020B0200000000000000" pitchFamily="50" charset="-128"/>
                <a:ea typeface="Noto Sans JP" panose="020B0200000000000000" pitchFamily="50" charset="-128"/>
                <a:cs typeface="Zen Kaku Gothic New" pitchFamily="34" charset="-120"/>
              </a:rPr>
              <a:t>体験型：手を動かして "覚える"</a:t>
            </a:r>
            <a:endParaRPr lang="ja-JP" sz="1200" noProof="0" dirty="0">
              <a:latin typeface="Noto Sans JP" panose="020B0200000000000000" pitchFamily="50" charset="-128"/>
              <a:ea typeface="Noto Sans JP" panose="020B0200000000000000" pitchFamily="50" charset="-128"/>
            </a:endParaRPr>
          </a:p>
        </p:txBody>
      </p:sp>
      <p:sp>
        <p:nvSpPr>
          <p:cNvPr id="278" name="Shape 46">
            <a:extLst>
              <a:ext uri="{FF2B5EF4-FFF2-40B4-BE49-F238E27FC236}">
                <a16:creationId xmlns:a16="http://schemas.microsoft.com/office/drawing/2014/main" id="{5D3FFFE7-7678-0B8B-BF1C-D177156B6BE6}"/>
              </a:ext>
            </a:extLst>
          </p:cNvPr>
          <p:cNvSpPr/>
          <p:nvPr/>
        </p:nvSpPr>
        <p:spPr>
          <a:xfrm>
            <a:off x="750707" y="3348555"/>
            <a:ext cx="2599774" cy="725941"/>
          </a:xfrm>
          <a:prstGeom prst="rect">
            <a:avLst/>
          </a:prstGeom>
          <a:solidFill>
            <a:srgbClr val="CDEEF7"/>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80" name="Shape 47">
            <a:extLst>
              <a:ext uri="{FF2B5EF4-FFF2-40B4-BE49-F238E27FC236}">
                <a16:creationId xmlns:a16="http://schemas.microsoft.com/office/drawing/2014/main" id="{34689AB7-1D5B-8CA7-D61E-FCE6F8279617}"/>
              </a:ext>
            </a:extLst>
          </p:cNvPr>
          <p:cNvSpPr/>
          <p:nvPr/>
        </p:nvSpPr>
        <p:spPr>
          <a:xfrm>
            <a:off x="750708" y="3348555"/>
            <a:ext cx="34701" cy="725941"/>
          </a:xfrm>
          <a:prstGeom prst="roundRect">
            <a:avLst>
              <a:gd name="adj" fmla="val 392463"/>
            </a:avLst>
          </a:prstGeom>
          <a:solidFill>
            <a:srgbClr val="79CDE8"/>
          </a:solidFill>
          <a:ln w="12700">
            <a:solidFill>
              <a:srgbClr val="79CDE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82" name="Text 48">
            <a:extLst>
              <a:ext uri="{FF2B5EF4-FFF2-40B4-BE49-F238E27FC236}">
                <a16:creationId xmlns:a16="http://schemas.microsoft.com/office/drawing/2014/main" id="{5FB15C34-8EA3-1DDF-5452-D89DA43FED01}"/>
              </a:ext>
            </a:extLst>
          </p:cNvPr>
          <p:cNvSpPr txBox="1"/>
          <p:nvPr/>
        </p:nvSpPr>
        <p:spPr>
          <a:xfrm>
            <a:off x="862143" y="3440542"/>
            <a:ext cx="2412264"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茶道 (さどう)</a:t>
            </a:r>
            <a:endParaRPr lang="ja-JP" sz="1168" noProof="0" dirty="0">
              <a:latin typeface="Noto Sans JP" panose="020B0200000000000000" pitchFamily="50" charset="-128"/>
              <a:ea typeface="Noto Sans JP" panose="020B0200000000000000" pitchFamily="50" charset="-128"/>
            </a:endParaRPr>
          </a:p>
        </p:txBody>
      </p:sp>
      <p:sp>
        <p:nvSpPr>
          <p:cNvPr id="284" name="Text 50">
            <a:extLst>
              <a:ext uri="{FF2B5EF4-FFF2-40B4-BE49-F238E27FC236}">
                <a16:creationId xmlns:a16="http://schemas.microsoft.com/office/drawing/2014/main" id="{AC11F0ED-C077-A852-8636-DA8858F69ADE}"/>
              </a:ext>
            </a:extLst>
          </p:cNvPr>
          <p:cNvSpPr txBox="1"/>
          <p:nvPr/>
        </p:nvSpPr>
        <p:spPr>
          <a:xfrm>
            <a:off x="862143" y="3685045"/>
            <a:ext cx="2412264"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表千家／裏千家の有資格者を手配。</a:t>
            </a:r>
          </a:p>
          <a:p>
            <a:r>
              <a:rPr lang="ja-JP" sz="850" noProof="0" dirty="0">
                <a:latin typeface="Noto Sans JP" panose="020B0200000000000000" pitchFamily="50" charset="-128"/>
                <a:ea typeface="Noto Sans JP" panose="020B0200000000000000" pitchFamily="50" charset="-128"/>
                <a:cs typeface="Noto Sans JP" pitchFamily="34" charset="-120"/>
              </a:rPr>
              <a:t>和菓子付き。"静の体験"</a:t>
            </a:r>
            <a:endParaRPr lang="ja-JP" sz="850" noProof="0" dirty="0">
              <a:latin typeface="Noto Sans JP" panose="020B0200000000000000" pitchFamily="50" charset="-128"/>
              <a:ea typeface="Noto Sans JP" panose="020B0200000000000000" pitchFamily="50" charset="-128"/>
            </a:endParaRPr>
          </a:p>
        </p:txBody>
      </p:sp>
      <p:sp>
        <p:nvSpPr>
          <p:cNvPr id="286" name="Shape 51">
            <a:extLst>
              <a:ext uri="{FF2B5EF4-FFF2-40B4-BE49-F238E27FC236}">
                <a16:creationId xmlns:a16="http://schemas.microsoft.com/office/drawing/2014/main" id="{3A344B62-CCAD-D931-7CAF-A324FE33C111}"/>
              </a:ext>
            </a:extLst>
          </p:cNvPr>
          <p:cNvSpPr/>
          <p:nvPr/>
        </p:nvSpPr>
        <p:spPr>
          <a:xfrm>
            <a:off x="3461250" y="3348555"/>
            <a:ext cx="2599774" cy="725941"/>
          </a:xfrm>
          <a:prstGeom prst="rect">
            <a:avLst/>
          </a:prstGeom>
          <a:solidFill>
            <a:srgbClr val="CDEEF7"/>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88" name="Shape 52">
            <a:extLst>
              <a:ext uri="{FF2B5EF4-FFF2-40B4-BE49-F238E27FC236}">
                <a16:creationId xmlns:a16="http://schemas.microsoft.com/office/drawing/2014/main" id="{DE1CE0BC-64A9-6B1F-9407-30FFB9E9F805}"/>
              </a:ext>
            </a:extLst>
          </p:cNvPr>
          <p:cNvSpPr/>
          <p:nvPr/>
        </p:nvSpPr>
        <p:spPr>
          <a:xfrm>
            <a:off x="3461251" y="3348555"/>
            <a:ext cx="34701" cy="725941"/>
          </a:xfrm>
          <a:prstGeom prst="roundRect">
            <a:avLst>
              <a:gd name="adj" fmla="val 392463"/>
            </a:avLst>
          </a:prstGeom>
          <a:solidFill>
            <a:srgbClr val="79CDE8"/>
          </a:solidFill>
          <a:ln w="12700">
            <a:solidFill>
              <a:srgbClr val="79CDE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90" name="Text 53">
            <a:extLst>
              <a:ext uri="{FF2B5EF4-FFF2-40B4-BE49-F238E27FC236}">
                <a16:creationId xmlns:a16="http://schemas.microsoft.com/office/drawing/2014/main" id="{FE495D9D-CA9A-834A-8DCA-7F1473C5ADEB}"/>
              </a:ext>
            </a:extLst>
          </p:cNvPr>
          <p:cNvSpPr txBox="1"/>
          <p:nvPr/>
        </p:nvSpPr>
        <p:spPr>
          <a:xfrm>
            <a:off x="3572689" y="3440542"/>
            <a:ext cx="2412264"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和菓子作り</a:t>
            </a:r>
            <a:endParaRPr lang="ja-JP" sz="1168" noProof="0" dirty="0">
              <a:latin typeface="Noto Sans JP" panose="020B0200000000000000" pitchFamily="50" charset="-128"/>
              <a:ea typeface="Noto Sans JP" panose="020B0200000000000000" pitchFamily="50" charset="-128"/>
            </a:endParaRPr>
          </a:p>
        </p:txBody>
      </p:sp>
      <p:sp>
        <p:nvSpPr>
          <p:cNvPr id="292" name="Text 55">
            <a:extLst>
              <a:ext uri="{FF2B5EF4-FFF2-40B4-BE49-F238E27FC236}">
                <a16:creationId xmlns:a16="http://schemas.microsoft.com/office/drawing/2014/main" id="{6533F2CC-1D01-89EF-E363-20AAD2FF02D9}"/>
              </a:ext>
            </a:extLst>
          </p:cNvPr>
          <p:cNvSpPr txBox="1"/>
          <p:nvPr/>
        </p:nvSpPr>
        <p:spPr>
          <a:xfrm>
            <a:off x="3572689" y="3685045"/>
            <a:ext cx="2412264"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練り切り（季節の和菓子）を一人一個制作。</a:t>
            </a:r>
          </a:p>
          <a:p>
            <a:r>
              <a:rPr lang="ja-JP" sz="850" noProof="0" dirty="0">
                <a:latin typeface="Noto Sans JP" panose="020B0200000000000000" pitchFamily="50" charset="-128"/>
                <a:ea typeface="Noto Sans JP" panose="020B0200000000000000" pitchFamily="50" charset="-128"/>
                <a:cs typeface="Noto Sans JP" pitchFamily="34" charset="-120"/>
              </a:rPr>
              <a:t>デザイン学科と親和性◎</a:t>
            </a:r>
            <a:endParaRPr lang="ja-JP" sz="850" noProof="0" dirty="0">
              <a:latin typeface="Noto Sans JP" panose="020B0200000000000000" pitchFamily="50" charset="-128"/>
              <a:ea typeface="Noto Sans JP" panose="020B0200000000000000" pitchFamily="50" charset="-128"/>
            </a:endParaRPr>
          </a:p>
        </p:txBody>
      </p:sp>
      <p:sp>
        <p:nvSpPr>
          <p:cNvPr id="294" name="Shape 56">
            <a:extLst>
              <a:ext uri="{FF2B5EF4-FFF2-40B4-BE49-F238E27FC236}">
                <a16:creationId xmlns:a16="http://schemas.microsoft.com/office/drawing/2014/main" id="{4B045735-6D1C-8BDE-B160-B9C00F3AB297}"/>
              </a:ext>
            </a:extLst>
          </p:cNvPr>
          <p:cNvSpPr/>
          <p:nvPr/>
        </p:nvSpPr>
        <p:spPr>
          <a:xfrm>
            <a:off x="6172461" y="3348555"/>
            <a:ext cx="2599774" cy="725941"/>
          </a:xfrm>
          <a:prstGeom prst="rect">
            <a:avLst/>
          </a:prstGeom>
          <a:solidFill>
            <a:srgbClr val="CDEEF7"/>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96" name="Shape 57">
            <a:extLst>
              <a:ext uri="{FF2B5EF4-FFF2-40B4-BE49-F238E27FC236}">
                <a16:creationId xmlns:a16="http://schemas.microsoft.com/office/drawing/2014/main" id="{36982CDA-06B0-B342-9D85-FE00A69BA514}"/>
              </a:ext>
            </a:extLst>
          </p:cNvPr>
          <p:cNvSpPr/>
          <p:nvPr/>
        </p:nvSpPr>
        <p:spPr>
          <a:xfrm>
            <a:off x="6172462" y="3348555"/>
            <a:ext cx="34701" cy="725941"/>
          </a:xfrm>
          <a:prstGeom prst="roundRect">
            <a:avLst>
              <a:gd name="adj" fmla="val 392463"/>
            </a:avLst>
          </a:prstGeom>
          <a:solidFill>
            <a:srgbClr val="79CDE8"/>
          </a:solidFill>
          <a:ln w="12700">
            <a:solidFill>
              <a:srgbClr val="79CDE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298" name="Text 58">
            <a:extLst>
              <a:ext uri="{FF2B5EF4-FFF2-40B4-BE49-F238E27FC236}">
                <a16:creationId xmlns:a16="http://schemas.microsoft.com/office/drawing/2014/main" id="{157C502A-A4AB-BC5F-2C4E-276F639AF1AD}"/>
              </a:ext>
            </a:extLst>
          </p:cNvPr>
          <p:cNvSpPr txBox="1"/>
          <p:nvPr/>
        </p:nvSpPr>
        <p:spPr>
          <a:xfrm>
            <a:off x="6283233" y="3440542"/>
            <a:ext cx="2412264"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着物・浴衣体験</a:t>
            </a:r>
            <a:endParaRPr lang="ja-JP" sz="1168" noProof="0" dirty="0">
              <a:latin typeface="Noto Sans JP" panose="020B0200000000000000" pitchFamily="50" charset="-128"/>
              <a:ea typeface="Noto Sans JP" panose="020B0200000000000000" pitchFamily="50" charset="-128"/>
            </a:endParaRPr>
          </a:p>
        </p:txBody>
      </p:sp>
      <p:sp>
        <p:nvSpPr>
          <p:cNvPr id="300" name="Text 60">
            <a:extLst>
              <a:ext uri="{FF2B5EF4-FFF2-40B4-BE49-F238E27FC236}">
                <a16:creationId xmlns:a16="http://schemas.microsoft.com/office/drawing/2014/main" id="{6DCDFC1E-0DCC-CB94-A887-3A222492458E}"/>
              </a:ext>
            </a:extLst>
          </p:cNvPr>
          <p:cNvSpPr txBox="1"/>
          <p:nvPr/>
        </p:nvSpPr>
        <p:spPr>
          <a:xfrm>
            <a:off x="6283233" y="3685045"/>
            <a:ext cx="2412264"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着付けスタッフ同行、着物の歴史もレクチャー可能。盆踊り当日と接続すれば動線が滑らか</a:t>
            </a:r>
            <a:endParaRPr lang="ja-JP" sz="850" noProof="0" dirty="0">
              <a:latin typeface="Noto Sans JP" panose="020B0200000000000000" pitchFamily="50" charset="-128"/>
              <a:ea typeface="Noto Sans JP" panose="020B0200000000000000" pitchFamily="50" charset="-128"/>
            </a:endParaRPr>
          </a:p>
        </p:txBody>
      </p:sp>
      <p:sp>
        <p:nvSpPr>
          <p:cNvPr id="302" name="Shape 61">
            <a:extLst>
              <a:ext uri="{FF2B5EF4-FFF2-40B4-BE49-F238E27FC236}">
                <a16:creationId xmlns:a16="http://schemas.microsoft.com/office/drawing/2014/main" id="{AEBF314D-DD98-0877-508E-FD6959F8A78A}"/>
              </a:ext>
            </a:extLst>
          </p:cNvPr>
          <p:cNvSpPr/>
          <p:nvPr/>
        </p:nvSpPr>
        <p:spPr>
          <a:xfrm>
            <a:off x="8883005" y="3348555"/>
            <a:ext cx="2599774" cy="725941"/>
          </a:xfrm>
          <a:prstGeom prst="rect">
            <a:avLst/>
          </a:prstGeom>
          <a:solidFill>
            <a:srgbClr val="CDEEF7"/>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04" name="Shape 62">
            <a:extLst>
              <a:ext uri="{FF2B5EF4-FFF2-40B4-BE49-F238E27FC236}">
                <a16:creationId xmlns:a16="http://schemas.microsoft.com/office/drawing/2014/main" id="{DAF90E26-3AF2-82F8-172F-BB954509BA5F}"/>
              </a:ext>
            </a:extLst>
          </p:cNvPr>
          <p:cNvSpPr/>
          <p:nvPr/>
        </p:nvSpPr>
        <p:spPr>
          <a:xfrm>
            <a:off x="8883008" y="3348555"/>
            <a:ext cx="34701" cy="725941"/>
          </a:xfrm>
          <a:prstGeom prst="roundRect">
            <a:avLst>
              <a:gd name="adj" fmla="val 392463"/>
            </a:avLst>
          </a:prstGeom>
          <a:solidFill>
            <a:srgbClr val="79CDE8"/>
          </a:solidFill>
          <a:ln w="12700">
            <a:solidFill>
              <a:srgbClr val="79CDE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06" name="Text 63">
            <a:extLst>
              <a:ext uri="{FF2B5EF4-FFF2-40B4-BE49-F238E27FC236}">
                <a16:creationId xmlns:a16="http://schemas.microsoft.com/office/drawing/2014/main" id="{4D25ADE4-3892-2810-02AD-5D838330AF07}"/>
              </a:ext>
            </a:extLst>
          </p:cNvPr>
          <p:cNvSpPr txBox="1"/>
          <p:nvPr/>
        </p:nvSpPr>
        <p:spPr>
          <a:xfrm>
            <a:off x="8994447" y="3440542"/>
            <a:ext cx="2412264" cy="155712"/>
          </a:xfrm>
          <a:prstGeom prst="rect">
            <a:avLst/>
          </a:prstGeom>
          <a:noFill/>
          <a:ln/>
        </p:spPr>
        <p:txBody>
          <a:bodyPr wrap="square" lIns="0" tIns="0" rIns="0" bIns="0" rtlCol="0" anchor="ctr"/>
          <a:lstStyle/>
          <a:p>
            <a:r>
              <a:rPr lang="ja-JP" sz="1161" b="1" noProof="0" dirty="0">
                <a:latin typeface="Noto Sans JP" panose="020B0200000000000000" pitchFamily="50" charset="-128"/>
                <a:ea typeface="Noto Sans JP" panose="020B0200000000000000" pitchFamily="50" charset="-128"/>
                <a:cs typeface="Zen Kaku Gothic New" pitchFamily="34" charset="-120"/>
              </a:rPr>
              <a:t>剣道や弓道、居合道など武道体験</a:t>
            </a:r>
            <a:endParaRPr lang="ja-JP" sz="1161" noProof="0" dirty="0">
              <a:latin typeface="Noto Sans JP" panose="020B0200000000000000" pitchFamily="50" charset="-128"/>
              <a:ea typeface="Noto Sans JP" panose="020B0200000000000000" pitchFamily="50" charset="-128"/>
            </a:endParaRPr>
          </a:p>
        </p:txBody>
      </p:sp>
      <p:sp>
        <p:nvSpPr>
          <p:cNvPr id="308" name="Text 65">
            <a:extLst>
              <a:ext uri="{FF2B5EF4-FFF2-40B4-BE49-F238E27FC236}">
                <a16:creationId xmlns:a16="http://schemas.microsoft.com/office/drawing/2014/main" id="{3A4EE702-EEBC-61BE-FC0C-0EB786ED5AED}"/>
              </a:ext>
            </a:extLst>
          </p:cNvPr>
          <p:cNvSpPr txBox="1"/>
          <p:nvPr/>
        </p:nvSpPr>
        <p:spPr>
          <a:xfrm>
            <a:off x="8994447" y="3685045"/>
            <a:ext cx="2412264"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剣道や弓道、居合道など日本の武道体験。</a:t>
            </a:r>
          </a:p>
          <a:p>
            <a:r>
              <a:rPr lang="ja-JP" sz="850" noProof="0" dirty="0">
                <a:latin typeface="Noto Sans JP" panose="020B0200000000000000" pitchFamily="50" charset="-128"/>
                <a:ea typeface="Noto Sans JP" panose="020B0200000000000000" pitchFamily="50" charset="-128"/>
              </a:rPr>
              <a:t>単に体を動かすだけでなく、背景も学びに</a:t>
            </a:r>
          </a:p>
        </p:txBody>
      </p:sp>
      <p:sp>
        <p:nvSpPr>
          <p:cNvPr id="310" name="Shape 66">
            <a:extLst>
              <a:ext uri="{FF2B5EF4-FFF2-40B4-BE49-F238E27FC236}">
                <a16:creationId xmlns:a16="http://schemas.microsoft.com/office/drawing/2014/main" id="{C43136C0-7FF3-80EA-A603-44A1D5D08ACA}"/>
              </a:ext>
            </a:extLst>
          </p:cNvPr>
          <p:cNvSpPr/>
          <p:nvPr/>
        </p:nvSpPr>
        <p:spPr>
          <a:xfrm>
            <a:off x="750707" y="4176881"/>
            <a:ext cx="2599774" cy="725941"/>
          </a:xfrm>
          <a:prstGeom prst="rect">
            <a:avLst/>
          </a:prstGeom>
          <a:solidFill>
            <a:srgbClr val="CDEEF7"/>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12" name="Shape 67">
            <a:extLst>
              <a:ext uri="{FF2B5EF4-FFF2-40B4-BE49-F238E27FC236}">
                <a16:creationId xmlns:a16="http://schemas.microsoft.com/office/drawing/2014/main" id="{7EDFFC5E-3B3F-98D8-D478-818C0EC785C9}"/>
              </a:ext>
            </a:extLst>
          </p:cNvPr>
          <p:cNvSpPr/>
          <p:nvPr/>
        </p:nvSpPr>
        <p:spPr>
          <a:xfrm>
            <a:off x="750708" y="4176881"/>
            <a:ext cx="34701" cy="725941"/>
          </a:xfrm>
          <a:prstGeom prst="roundRect">
            <a:avLst>
              <a:gd name="adj" fmla="val 392463"/>
            </a:avLst>
          </a:prstGeom>
          <a:solidFill>
            <a:srgbClr val="79CDE8"/>
          </a:solidFill>
          <a:ln w="12700">
            <a:solidFill>
              <a:srgbClr val="79CDE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14" name="Text 68">
            <a:extLst>
              <a:ext uri="{FF2B5EF4-FFF2-40B4-BE49-F238E27FC236}">
                <a16:creationId xmlns:a16="http://schemas.microsoft.com/office/drawing/2014/main" id="{31C14BE5-73BE-D68B-D59E-CC4F4A24BA71}"/>
              </a:ext>
            </a:extLst>
          </p:cNvPr>
          <p:cNvSpPr txBox="1"/>
          <p:nvPr/>
        </p:nvSpPr>
        <p:spPr>
          <a:xfrm>
            <a:off x="862143" y="4201365"/>
            <a:ext cx="2412264"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書道</a:t>
            </a:r>
            <a:endParaRPr lang="ja-JP" sz="1168" noProof="0" dirty="0">
              <a:latin typeface="Noto Sans JP" panose="020B0200000000000000" pitchFamily="50" charset="-128"/>
              <a:ea typeface="Noto Sans JP" panose="020B0200000000000000" pitchFamily="50" charset="-128"/>
            </a:endParaRPr>
          </a:p>
        </p:txBody>
      </p:sp>
      <p:sp>
        <p:nvSpPr>
          <p:cNvPr id="316" name="Text 70">
            <a:extLst>
              <a:ext uri="{FF2B5EF4-FFF2-40B4-BE49-F238E27FC236}">
                <a16:creationId xmlns:a16="http://schemas.microsoft.com/office/drawing/2014/main" id="{61D13DFD-6C38-03BE-540A-A8294435ED22}"/>
              </a:ext>
            </a:extLst>
          </p:cNvPr>
          <p:cNvSpPr txBox="1"/>
          <p:nvPr/>
        </p:nvSpPr>
        <p:spPr>
          <a:xfrm>
            <a:off x="862143" y="4490034"/>
            <a:ext cx="2412264"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若々しい感性で書の世界を切り開く、若手書家が指導。</a:t>
            </a:r>
            <a:r>
              <a:rPr lang="ja-JP" sz="850" noProof="0" dirty="0">
                <a:latin typeface="Noto Sans JP" panose="020B0200000000000000" pitchFamily="50" charset="-128"/>
                <a:ea typeface="Noto Sans JP" panose="020B0200000000000000" pitchFamily="50" charset="-128"/>
              </a:rPr>
              <a:t>言葉とは何か、自分と向き合う時間に。「日本語の形」を考える</a:t>
            </a:r>
          </a:p>
        </p:txBody>
      </p:sp>
      <p:sp>
        <p:nvSpPr>
          <p:cNvPr id="318" name="Shape 71">
            <a:extLst>
              <a:ext uri="{FF2B5EF4-FFF2-40B4-BE49-F238E27FC236}">
                <a16:creationId xmlns:a16="http://schemas.microsoft.com/office/drawing/2014/main" id="{08729770-7661-EAF3-04D6-72F7EEFEAF2C}"/>
              </a:ext>
            </a:extLst>
          </p:cNvPr>
          <p:cNvSpPr/>
          <p:nvPr/>
        </p:nvSpPr>
        <p:spPr>
          <a:xfrm>
            <a:off x="3461250" y="4176881"/>
            <a:ext cx="2599774" cy="725941"/>
          </a:xfrm>
          <a:prstGeom prst="rect">
            <a:avLst/>
          </a:prstGeom>
          <a:solidFill>
            <a:srgbClr val="CDEEF7"/>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20" name="Shape 72">
            <a:extLst>
              <a:ext uri="{FF2B5EF4-FFF2-40B4-BE49-F238E27FC236}">
                <a16:creationId xmlns:a16="http://schemas.microsoft.com/office/drawing/2014/main" id="{7670D925-1B70-3355-C6B6-78523614687D}"/>
              </a:ext>
            </a:extLst>
          </p:cNvPr>
          <p:cNvSpPr/>
          <p:nvPr/>
        </p:nvSpPr>
        <p:spPr>
          <a:xfrm>
            <a:off x="3461251" y="4176881"/>
            <a:ext cx="34701" cy="725941"/>
          </a:xfrm>
          <a:prstGeom prst="roundRect">
            <a:avLst>
              <a:gd name="adj" fmla="val 392463"/>
            </a:avLst>
          </a:prstGeom>
          <a:solidFill>
            <a:srgbClr val="79CDE8"/>
          </a:solidFill>
          <a:ln w="12700">
            <a:solidFill>
              <a:srgbClr val="79CDE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22" name="Text 73">
            <a:extLst>
              <a:ext uri="{FF2B5EF4-FFF2-40B4-BE49-F238E27FC236}">
                <a16:creationId xmlns:a16="http://schemas.microsoft.com/office/drawing/2014/main" id="{254504BF-66CD-3B88-6688-853666DECAA1}"/>
              </a:ext>
            </a:extLst>
          </p:cNvPr>
          <p:cNvSpPr txBox="1"/>
          <p:nvPr/>
        </p:nvSpPr>
        <p:spPr>
          <a:xfrm>
            <a:off x="3572689" y="4257936"/>
            <a:ext cx="2412264"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和裁・刺し子</a:t>
            </a:r>
            <a:endParaRPr lang="ja-JP" sz="1168" noProof="0" dirty="0">
              <a:latin typeface="Noto Sans JP" panose="020B0200000000000000" pitchFamily="50" charset="-128"/>
              <a:ea typeface="Noto Sans JP" panose="020B0200000000000000" pitchFamily="50" charset="-128"/>
            </a:endParaRPr>
          </a:p>
        </p:txBody>
      </p:sp>
      <p:sp>
        <p:nvSpPr>
          <p:cNvPr id="324" name="Text 75">
            <a:extLst>
              <a:ext uri="{FF2B5EF4-FFF2-40B4-BE49-F238E27FC236}">
                <a16:creationId xmlns:a16="http://schemas.microsoft.com/office/drawing/2014/main" id="{2F4F1712-8F51-7349-2662-40BB195AD00E}"/>
              </a:ext>
            </a:extLst>
          </p:cNvPr>
          <p:cNvSpPr txBox="1"/>
          <p:nvPr/>
        </p:nvSpPr>
        <p:spPr>
          <a:xfrm>
            <a:off x="3572689" y="4490034"/>
            <a:ext cx="2412264"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伝統的な刺し縫いで、手芸品を制作</a:t>
            </a:r>
            <a:endParaRPr lang="ja-JP" sz="850" noProof="0" dirty="0">
              <a:latin typeface="Noto Sans JP" panose="020B0200000000000000" pitchFamily="50" charset="-128"/>
              <a:ea typeface="Noto Sans JP" panose="020B0200000000000000" pitchFamily="50" charset="-128"/>
            </a:endParaRPr>
          </a:p>
        </p:txBody>
      </p:sp>
      <p:sp>
        <p:nvSpPr>
          <p:cNvPr id="326" name="Shape 76">
            <a:extLst>
              <a:ext uri="{FF2B5EF4-FFF2-40B4-BE49-F238E27FC236}">
                <a16:creationId xmlns:a16="http://schemas.microsoft.com/office/drawing/2014/main" id="{A40693C5-8534-6224-21F2-9E4915FAB0CE}"/>
              </a:ext>
            </a:extLst>
          </p:cNvPr>
          <p:cNvSpPr/>
          <p:nvPr/>
        </p:nvSpPr>
        <p:spPr>
          <a:xfrm>
            <a:off x="6172461" y="4176881"/>
            <a:ext cx="2599774" cy="725941"/>
          </a:xfrm>
          <a:prstGeom prst="rect">
            <a:avLst/>
          </a:prstGeom>
          <a:solidFill>
            <a:srgbClr val="CDEEF7"/>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28" name="Shape 77">
            <a:extLst>
              <a:ext uri="{FF2B5EF4-FFF2-40B4-BE49-F238E27FC236}">
                <a16:creationId xmlns:a16="http://schemas.microsoft.com/office/drawing/2014/main" id="{45D1476F-B53F-F43D-C69A-24ADF43E1499}"/>
              </a:ext>
            </a:extLst>
          </p:cNvPr>
          <p:cNvSpPr/>
          <p:nvPr/>
        </p:nvSpPr>
        <p:spPr>
          <a:xfrm>
            <a:off x="6172462" y="4176881"/>
            <a:ext cx="34701" cy="725941"/>
          </a:xfrm>
          <a:prstGeom prst="roundRect">
            <a:avLst>
              <a:gd name="adj" fmla="val 392463"/>
            </a:avLst>
          </a:prstGeom>
          <a:solidFill>
            <a:srgbClr val="79CDE8"/>
          </a:solidFill>
          <a:ln w="12700">
            <a:solidFill>
              <a:srgbClr val="79CDE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30" name="Text 78">
            <a:extLst>
              <a:ext uri="{FF2B5EF4-FFF2-40B4-BE49-F238E27FC236}">
                <a16:creationId xmlns:a16="http://schemas.microsoft.com/office/drawing/2014/main" id="{A1384A9F-3F6F-66F9-BAB6-3B5F620A9D2B}"/>
              </a:ext>
            </a:extLst>
          </p:cNvPr>
          <p:cNvSpPr txBox="1"/>
          <p:nvPr/>
        </p:nvSpPr>
        <p:spPr>
          <a:xfrm>
            <a:off x="6283233" y="4257936"/>
            <a:ext cx="2412264"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折り紙ワークショップ</a:t>
            </a:r>
            <a:endParaRPr lang="ja-JP" sz="1168" noProof="0" dirty="0">
              <a:latin typeface="Noto Sans JP" panose="020B0200000000000000" pitchFamily="50" charset="-128"/>
              <a:ea typeface="Noto Sans JP" panose="020B0200000000000000" pitchFamily="50" charset="-128"/>
            </a:endParaRPr>
          </a:p>
        </p:txBody>
      </p:sp>
      <p:sp>
        <p:nvSpPr>
          <p:cNvPr id="332" name="Text 80">
            <a:extLst>
              <a:ext uri="{FF2B5EF4-FFF2-40B4-BE49-F238E27FC236}">
                <a16:creationId xmlns:a16="http://schemas.microsoft.com/office/drawing/2014/main" id="{64899CD2-9FE9-E6A2-B010-A6011D0E94B7}"/>
              </a:ext>
            </a:extLst>
          </p:cNvPr>
          <p:cNvSpPr txBox="1"/>
          <p:nvPr/>
        </p:nvSpPr>
        <p:spPr>
          <a:xfrm>
            <a:off x="6283233" y="4490034"/>
            <a:ext cx="2412264"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基礎〜立体まで段階設計。日本語クラスのウォームアップ教材にも転用可</a:t>
            </a:r>
            <a:endParaRPr lang="ja-JP" sz="850" noProof="0" dirty="0">
              <a:latin typeface="Noto Sans JP" panose="020B0200000000000000" pitchFamily="50" charset="-128"/>
              <a:ea typeface="Noto Sans JP" panose="020B0200000000000000" pitchFamily="50" charset="-128"/>
            </a:endParaRPr>
          </a:p>
        </p:txBody>
      </p:sp>
      <p:sp>
        <p:nvSpPr>
          <p:cNvPr id="334" name="Shape 81">
            <a:extLst>
              <a:ext uri="{FF2B5EF4-FFF2-40B4-BE49-F238E27FC236}">
                <a16:creationId xmlns:a16="http://schemas.microsoft.com/office/drawing/2014/main" id="{CBC599CC-AA1D-B7A1-290C-B31DC1C7C071}"/>
              </a:ext>
            </a:extLst>
          </p:cNvPr>
          <p:cNvSpPr/>
          <p:nvPr/>
        </p:nvSpPr>
        <p:spPr>
          <a:xfrm>
            <a:off x="8883005" y="4176881"/>
            <a:ext cx="2599774" cy="725941"/>
          </a:xfrm>
          <a:prstGeom prst="rect">
            <a:avLst/>
          </a:prstGeom>
          <a:solidFill>
            <a:srgbClr val="CDEEF7"/>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36" name="Shape 82">
            <a:extLst>
              <a:ext uri="{FF2B5EF4-FFF2-40B4-BE49-F238E27FC236}">
                <a16:creationId xmlns:a16="http://schemas.microsoft.com/office/drawing/2014/main" id="{921633F8-CE57-2AAB-2B46-64125AC9B225}"/>
              </a:ext>
            </a:extLst>
          </p:cNvPr>
          <p:cNvSpPr/>
          <p:nvPr/>
        </p:nvSpPr>
        <p:spPr>
          <a:xfrm>
            <a:off x="8883008" y="4176881"/>
            <a:ext cx="34701" cy="725941"/>
          </a:xfrm>
          <a:prstGeom prst="roundRect">
            <a:avLst>
              <a:gd name="adj" fmla="val 392463"/>
            </a:avLst>
          </a:prstGeom>
          <a:solidFill>
            <a:srgbClr val="79CDE8"/>
          </a:solidFill>
          <a:ln w="12700">
            <a:solidFill>
              <a:srgbClr val="79CDE8">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38" name="Text 83">
            <a:extLst>
              <a:ext uri="{FF2B5EF4-FFF2-40B4-BE49-F238E27FC236}">
                <a16:creationId xmlns:a16="http://schemas.microsoft.com/office/drawing/2014/main" id="{8E77BAA2-ADA9-6C1F-6958-7AB59C2CF6F7}"/>
              </a:ext>
            </a:extLst>
          </p:cNvPr>
          <p:cNvSpPr txBox="1"/>
          <p:nvPr/>
        </p:nvSpPr>
        <p:spPr>
          <a:xfrm>
            <a:off x="8994447" y="4257936"/>
            <a:ext cx="2412264"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日本食調理体験</a:t>
            </a:r>
            <a:endParaRPr lang="ja-JP" sz="1168" noProof="0" dirty="0">
              <a:latin typeface="Noto Sans JP" panose="020B0200000000000000" pitchFamily="50" charset="-128"/>
              <a:ea typeface="Noto Sans JP" panose="020B0200000000000000" pitchFamily="50" charset="-128"/>
            </a:endParaRPr>
          </a:p>
        </p:txBody>
      </p:sp>
      <p:sp>
        <p:nvSpPr>
          <p:cNvPr id="340" name="Text 85">
            <a:extLst>
              <a:ext uri="{FF2B5EF4-FFF2-40B4-BE49-F238E27FC236}">
                <a16:creationId xmlns:a16="http://schemas.microsoft.com/office/drawing/2014/main" id="{6605AF16-CD72-DF19-408E-6CEA420A7163}"/>
              </a:ext>
            </a:extLst>
          </p:cNvPr>
          <p:cNvSpPr txBox="1"/>
          <p:nvPr/>
        </p:nvSpPr>
        <p:spPr>
          <a:xfrm>
            <a:off x="8994447" y="4490034"/>
            <a:ext cx="2412264"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出汁・寿司・お弁当作り等</a:t>
            </a:r>
          </a:p>
          <a:p>
            <a:r>
              <a:rPr lang="ja-JP" sz="850" noProof="0" dirty="0">
                <a:latin typeface="Noto Sans JP" panose="020B0200000000000000" pitchFamily="50" charset="-128"/>
                <a:ea typeface="Noto Sans JP" panose="020B0200000000000000" pitchFamily="50" charset="-128"/>
                <a:cs typeface="Noto Sans JP" pitchFamily="34" charset="-120"/>
              </a:rPr>
              <a:t>アレルギー・宗教食対応の事前ヒアリング可</a:t>
            </a:r>
            <a:endParaRPr lang="ja-JP" sz="850" noProof="0" dirty="0">
              <a:latin typeface="Noto Sans JP" panose="020B0200000000000000" pitchFamily="50" charset="-128"/>
              <a:ea typeface="Noto Sans JP" panose="020B0200000000000000" pitchFamily="50" charset="-128"/>
            </a:endParaRPr>
          </a:p>
        </p:txBody>
      </p:sp>
      <p:sp>
        <p:nvSpPr>
          <p:cNvPr id="342" name="Text 86">
            <a:extLst>
              <a:ext uri="{FF2B5EF4-FFF2-40B4-BE49-F238E27FC236}">
                <a16:creationId xmlns:a16="http://schemas.microsoft.com/office/drawing/2014/main" id="{BEADF675-7AC3-F049-8310-785C612F0FCA}"/>
              </a:ext>
            </a:extLst>
          </p:cNvPr>
          <p:cNvSpPr txBox="1"/>
          <p:nvPr/>
        </p:nvSpPr>
        <p:spPr>
          <a:xfrm>
            <a:off x="750704" y="5346358"/>
            <a:ext cx="286268" cy="237478"/>
          </a:xfrm>
          <a:prstGeom prst="rect">
            <a:avLst/>
          </a:prstGeom>
          <a:noFill/>
          <a:ln/>
        </p:spPr>
        <p:txBody>
          <a:bodyPr wrap="square" lIns="0" tIns="0" rIns="0" bIns="0" rtlCol="0" anchor="ctr"/>
          <a:lstStyle/>
          <a:p>
            <a:r>
              <a:rPr lang="ja-JP" sz="1677" b="1" noProof="0" dirty="0">
                <a:solidFill>
                  <a:srgbClr val="E2444A"/>
                </a:solidFill>
                <a:latin typeface="Noto Sans JP" panose="020B0200000000000000" pitchFamily="50" charset="-128"/>
                <a:ea typeface="Noto Sans JP" panose="020B0200000000000000" pitchFamily="50" charset="-128"/>
                <a:cs typeface="Fredoka" pitchFamily="34" charset="-120"/>
              </a:rPr>
              <a:t>03</a:t>
            </a:r>
            <a:endParaRPr lang="ja-JP" sz="1677" noProof="0" dirty="0">
              <a:latin typeface="Noto Sans JP" panose="020B0200000000000000" pitchFamily="50" charset="-128"/>
              <a:ea typeface="Noto Sans JP" panose="020B0200000000000000" pitchFamily="50" charset="-128"/>
            </a:endParaRPr>
          </a:p>
        </p:txBody>
      </p:sp>
      <p:sp>
        <p:nvSpPr>
          <p:cNvPr id="344" name="Text 88">
            <a:extLst>
              <a:ext uri="{FF2B5EF4-FFF2-40B4-BE49-F238E27FC236}">
                <a16:creationId xmlns:a16="http://schemas.microsoft.com/office/drawing/2014/main" id="{682D276B-8E47-6D84-8C08-CCE475343D8F}"/>
              </a:ext>
            </a:extLst>
          </p:cNvPr>
          <p:cNvSpPr txBox="1"/>
          <p:nvPr/>
        </p:nvSpPr>
        <p:spPr>
          <a:xfrm>
            <a:off x="1140779" y="5364494"/>
            <a:ext cx="4961322" cy="201205"/>
          </a:xfrm>
          <a:prstGeom prst="rect">
            <a:avLst/>
          </a:prstGeom>
          <a:noFill/>
          <a:ln/>
        </p:spPr>
        <p:txBody>
          <a:bodyPr wrap="square" lIns="0" tIns="0" rIns="0" bIns="0" rtlCol="0" anchor="ctr"/>
          <a:lstStyle/>
          <a:p>
            <a:r>
              <a:rPr lang="ja-JP" sz="1200" b="1" noProof="0" dirty="0">
                <a:latin typeface="Noto Sans JP" panose="020B0200000000000000" pitchFamily="50" charset="-128"/>
                <a:ea typeface="Noto Sans JP" panose="020B0200000000000000" pitchFamily="50" charset="-128"/>
                <a:cs typeface="Zen Kaku Gothic New" pitchFamily="34" charset="-120"/>
              </a:rPr>
              <a:t>見学型：日本の "現場" を見に行く</a:t>
            </a:r>
            <a:endParaRPr lang="ja-JP" sz="1200" noProof="0" dirty="0">
              <a:latin typeface="Noto Sans JP" panose="020B0200000000000000" pitchFamily="50" charset="-128"/>
              <a:ea typeface="Noto Sans JP" panose="020B0200000000000000" pitchFamily="50" charset="-128"/>
            </a:endParaRPr>
          </a:p>
        </p:txBody>
      </p:sp>
      <p:sp>
        <p:nvSpPr>
          <p:cNvPr id="346" name="Shape 90">
            <a:extLst>
              <a:ext uri="{FF2B5EF4-FFF2-40B4-BE49-F238E27FC236}">
                <a16:creationId xmlns:a16="http://schemas.microsoft.com/office/drawing/2014/main" id="{C7B287EC-AD6E-563C-95CD-495890B82425}"/>
              </a:ext>
            </a:extLst>
          </p:cNvPr>
          <p:cNvSpPr/>
          <p:nvPr/>
        </p:nvSpPr>
        <p:spPr>
          <a:xfrm>
            <a:off x="750707" y="5654697"/>
            <a:ext cx="2599774" cy="755093"/>
          </a:xfrm>
          <a:prstGeom prst="rect">
            <a:avLst/>
          </a:prstGeom>
          <a:solidFill>
            <a:srgbClr val="FCE9EA"/>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48" name="Shape 91">
            <a:extLst>
              <a:ext uri="{FF2B5EF4-FFF2-40B4-BE49-F238E27FC236}">
                <a16:creationId xmlns:a16="http://schemas.microsoft.com/office/drawing/2014/main" id="{6A92FB70-2623-15C9-2549-4E57337D75C8}"/>
              </a:ext>
            </a:extLst>
          </p:cNvPr>
          <p:cNvSpPr/>
          <p:nvPr/>
        </p:nvSpPr>
        <p:spPr>
          <a:xfrm>
            <a:off x="750708" y="5654697"/>
            <a:ext cx="34701" cy="755093"/>
          </a:xfrm>
          <a:prstGeom prst="roundRect">
            <a:avLst>
              <a:gd name="adj" fmla="val 377072"/>
            </a:avLst>
          </a:prstGeom>
          <a:solidFill>
            <a:srgbClr val="E2444A"/>
          </a:solidFill>
          <a:ln w="12700">
            <a:solidFill>
              <a:srgbClr val="E2444A">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50" name="Text 92">
            <a:extLst>
              <a:ext uri="{FF2B5EF4-FFF2-40B4-BE49-F238E27FC236}">
                <a16:creationId xmlns:a16="http://schemas.microsoft.com/office/drawing/2014/main" id="{231D3C33-2855-2754-2533-2EBD79E29888}"/>
              </a:ext>
            </a:extLst>
          </p:cNvPr>
          <p:cNvSpPr txBox="1"/>
          <p:nvPr/>
        </p:nvSpPr>
        <p:spPr>
          <a:xfrm>
            <a:off x="868819" y="5770946"/>
            <a:ext cx="2398252"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相撲稽古見学</a:t>
            </a:r>
            <a:endParaRPr lang="ja-JP" sz="1168" noProof="0" dirty="0">
              <a:latin typeface="Noto Sans JP" panose="020B0200000000000000" pitchFamily="50" charset="-128"/>
              <a:ea typeface="Noto Sans JP" panose="020B0200000000000000" pitchFamily="50" charset="-128"/>
            </a:endParaRPr>
          </a:p>
        </p:txBody>
      </p:sp>
      <p:sp>
        <p:nvSpPr>
          <p:cNvPr id="352" name="Text 94">
            <a:extLst>
              <a:ext uri="{FF2B5EF4-FFF2-40B4-BE49-F238E27FC236}">
                <a16:creationId xmlns:a16="http://schemas.microsoft.com/office/drawing/2014/main" id="{4992D19B-55EE-7790-109E-7C398ED8CE4D}"/>
              </a:ext>
            </a:extLst>
          </p:cNvPr>
          <p:cNvSpPr txBox="1"/>
          <p:nvPr/>
        </p:nvSpPr>
        <p:spPr>
          <a:xfrm>
            <a:off x="868819" y="6039347"/>
            <a:ext cx="2398252"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都内</a:t>
            </a:r>
            <a:r>
              <a:rPr lang="ja-JP" altLang="en-US" sz="850" noProof="0" dirty="0">
                <a:latin typeface="Noto Sans JP" panose="020B0200000000000000" pitchFamily="50" charset="-128"/>
                <a:ea typeface="Noto Sans JP" panose="020B0200000000000000" pitchFamily="50" charset="-128"/>
                <a:cs typeface="Noto Sans JP" pitchFamily="34" charset="-120"/>
              </a:rPr>
              <a:t>の</a:t>
            </a:r>
            <a:r>
              <a:rPr lang="ja-JP" sz="850" noProof="0" dirty="0">
                <a:latin typeface="Noto Sans JP" panose="020B0200000000000000" pitchFamily="50" charset="-128"/>
                <a:ea typeface="Noto Sans JP" panose="020B0200000000000000" pitchFamily="50" charset="-128"/>
                <a:cs typeface="Noto Sans JP" pitchFamily="34" charset="-120"/>
              </a:rPr>
              <a:t>相撲部屋の早朝稽古見学を手配</a:t>
            </a:r>
            <a:endParaRPr lang="ja-JP" sz="850" noProof="0" dirty="0">
              <a:latin typeface="Noto Sans JP" panose="020B0200000000000000" pitchFamily="50" charset="-128"/>
              <a:ea typeface="Noto Sans JP" panose="020B0200000000000000" pitchFamily="50" charset="-128"/>
            </a:endParaRPr>
          </a:p>
        </p:txBody>
      </p:sp>
      <p:sp>
        <p:nvSpPr>
          <p:cNvPr id="354" name="Shape 95">
            <a:extLst>
              <a:ext uri="{FF2B5EF4-FFF2-40B4-BE49-F238E27FC236}">
                <a16:creationId xmlns:a16="http://schemas.microsoft.com/office/drawing/2014/main" id="{07EA9739-CF89-65DB-5482-50FF1E225B7B}"/>
              </a:ext>
            </a:extLst>
          </p:cNvPr>
          <p:cNvSpPr/>
          <p:nvPr/>
        </p:nvSpPr>
        <p:spPr>
          <a:xfrm>
            <a:off x="3461250" y="5654697"/>
            <a:ext cx="2599774" cy="755093"/>
          </a:xfrm>
          <a:prstGeom prst="rect">
            <a:avLst/>
          </a:prstGeom>
          <a:solidFill>
            <a:srgbClr val="FCE9EA"/>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56" name="Shape 96">
            <a:extLst>
              <a:ext uri="{FF2B5EF4-FFF2-40B4-BE49-F238E27FC236}">
                <a16:creationId xmlns:a16="http://schemas.microsoft.com/office/drawing/2014/main" id="{57CABF82-EF46-3D6B-1352-3AC9974B2088}"/>
              </a:ext>
            </a:extLst>
          </p:cNvPr>
          <p:cNvSpPr/>
          <p:nvPr/>
        </p:nvSpPr>
        <p:spPr>
          <a:xfrm>
            <a:off x="3461251" y="5654697"/>
            <a:ext cx="34701" cy="755093"/>
          </a:xfrm>
          <a:prstGeom prst="roundRect">
            <a:avLst>
              <a:gd name="adj" fmla="val 377072"/>
            </a:avLst>
          </a:prstGeom>
          <a:solidFill>
            <a:srgbClr val="E2444A"/>
          </a:solidFill>
          <a:ln w="12700">
            <a:solidFill>
              <a:srgbClr val="E2444A">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58" name="Text 97">
            <a:extLst>
              <a:ext uri="{FF2B5EF4-FFF2-40B4-BE49-F238E27FC236}">
                <a16:creationId xmlns:a16="http://schemas.microsoft.com/office/drawing/2014/main" id="{EE0BACDA-D118-E8BD-F8B7-BA047D567996}"/>
              </a:ext>
            </a:extLst>
          </p:cNvPr>
          <p:cNvSpPr txBox="1"/>
          <p:nvPr/>
        </p:nvSpPr>
        <p:spPr>
          <a:xfrm>
            <a:off x="3579362" y="5770946"/>
            <a:ext cx="2398252"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神社・寺院ガイドツアー</a:t>
            </a:r>
            <a:endParaRPr lang="ja-JP" sz="1168" noProof="0" dirty="0">
              <a:latin typeface="Noto Sans JP" panose="020B0200000000000000" pitchFamily="50" charset="-128"/>
              <a:ea typeface="Noto Sans JP" panose="020B0200000000000000" pitchFamily="50" charset="-128"/>
            </a:endParaRPr>
          </a:p>
        </p:txBody>
      </p:sp>
      <p:sp>
        <p:nvSpPr>
          <p:cNvPr id="360" name="Text 99">
            <a:extLst>
              <a:ext uri="{FF2B5EF4-FFF2-40B4-BE49-F238E27FC236}">
                <a16:creationId xmlns:a16="http://schemas.microsoft.com/office/drawing/2014/main" id="{8B1C6A70-3F53-9570-0D59-114B56DD377C}"/>
              </a:ext>
            </a:extLst>
          </p:cNvPr>
          <p:cNvSpPr txBox="1"/>
          <p:nvPr/>
        </p:nvSpPr>
        <p:spPr>
          <a:xfrm>
            <a:off x="3579362" y="6039347"/>
            <a:ext cx="2398252"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横浜近郊（鶴岡八幡宮、川崎大師等）への半日ツアー。日本文化の源泉を、</a:t>
            </a:r>
            <a:r>
              <a:rPr lang="ja-JP" altLang="en-US" sz="850" dirty="0">
                <a:latin typeface="Noto Sans JP" panose="020B0200000000000000" pitchFamily="50" charset="-128"/>
                <a:ea typeface="Noto Sans JP" panose="020B0200000000000000" pitchFamily="50" charset="-128"/>
                <a:cs typeface="Noto Sans JP" pitchFamily="34" charset="-120"/>
              </a:rPr>
              <a:t>すべての</a:t>
            </a:r>
            <a:r>
              <a:rPr lang="ja-JP" sz="850" noProof="0" dirty="0">
                <a:latin typeface="Noto Sans JP" panose="020B0200000000000000" pitchFamily="50" charset="-128"/>
                <a:ea typeface="Noto Sans JP" panose="020B0200000000000000" pitchFamily="50" charset="-128"/>
                <a:cs typeface="Noto Sans JP" pitchFamily="34" charset="-120"/>
              </a:rPr>
              <a:t>世代に親しみやすく解説</a:t>
            </a:r>
            <a:endParaRPr lang="ja-JP" sz="850" noProof="0" dirty="0">
              <a:latin typeface="Noto Sans JP" panose="020B0200000000000000" pitchFamily="50" charset="-128"/>
              <a:ea typeface="Noto Sans JP" panose="020B0200000000000000" pitchFamily="50" charset="-128"/>
            </a:endParaRPr>
          </a:p>
        </p:txBody>
      </p:sp>
      <p:sp>
        <p:nvSpPr>
          <p:cNvPr id="362" name="Shape 100">
            <a:extLst>
              <a:ext uri="{FF2B5EF4-FFF2-40B4-BE49-F238E27FC236}">
                <a16:creationId xmlns:a16="http://schemas.microsoft.com/office/drawing/2014/main" id="{01DCA7EB-D5B6-DCAD-E90F-32B9D0251B29}"/>
              </a:ext>
            </a:extLst>
          </p:cNvPr>
          <p:cNvSpPr/>
          <p:nvPr/>
        </p:nvSpPr>
        <p:spPr>
          <a:xfrm>
            <a:off x="6172461" y="5654697"/>
            <a:ext cx="2599774" cy="755093"/>
          </a:xfrm>
          <a:prstGeom prst="rect">
            <a:avLst/>
          </a:prstGeom>
          <a:solidFill>
            <a:srgbClr val="FCE9EA"/>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64" name="Shape 101">
            <a:extLst>
              <a:ext uri="{FF2B5EF4-FFF2-40B4-BE49-F238E27FC236}">
                <a16:creationId xmlns:a16="http://schemas.microsoft.com/office/drawing/2014/main" id="{791B434E-2E83-8434-E997-1787008BFF88}"/>
              </a:ext>
            </a:extLst>
          </p:cNvPr>
          <p:cNvSpPr/>
          <p:nvPr/>
        </p:nvSpPr>
        <p:spPr>
          <a:xfrm>
            <a:off x="6172462" y="5654697"/>
            <a:ext cx="34701" cy="755093"/>
          </a:xfrm>
          <a:prstGeom prst="roundRect">
            <a:avLst>
              <a:gd name="adj" fmla="val 377072"/>
            </a:avLst>
          </a:prstGeom>
          <a:solidFill>
            <a:srgbClr val="E2444A"/>
          </a:solidFill>
          <a:ln w="12700">
            <a:solidFill>
              <a:srgbClr val="E2444A">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66" name="Text 102">
            <a:extLst>
              <a:ext uri="{FF2B5EF4-FFF2-40B4-BE49-F238E27FC236}">
                <a16:creationId xmlns:a16="http://schemas.microsoft.com/office/drawing/2014/main" id="{61F230BD-0365-F090-6D7F-B5C9082B9E15}"/>
              </a:ext>
            </a:extLst>
          </p:cNvPr>
          <p:cNvSpPr txBox="1"/>
          <p:nvPr/>
        </p:nvSpPr>
        <p:spPr>
          <a:xfrm>
            <a:off x="6290575" y="5770946"/>
            <a:ext cx="2398252"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伝統工芸 工房訪問</a:t>
            </a:r>
            <a:endParaRPr lang="ja-JP" sz="1168" noProof="0" dirty="0">
              <a:latin typeface="Noto Sans JP" panose="020B0200000000000000" pitchFamily="50" charset="-128"/>
              <a:ea typeface="Noto Sans JP" panose="020B0200000000000000" pitchFamily="50" charset="-128"/>
            </a:endParaRPr>
          </a:p>
        </p:txBody>
      </p:sp>
      <p:sp>
        <p:nvSpPr>
          <p:cNvPr id="368" name="Text 104">
            <a:extLst>
              <a:ext uri="{FF2B5EF4-FFF2-40B4-BE49-F238E27FC236}">
                <a16:creationId xmlns:a16="http://schemas.microsoft.com/office/drawing/2014/main" id="{B9D6D99E-C30E-6A4B-BA8E-77C52089D41E}"/>
              </a:ext>
            </a:extLst>
          </p:cNvPr>
          <p:cNvSpPr txBox="1"/>
          <p:nvPr/>
        </p:nvSpPr>
        <p:spPr>
          <a:xfrm>
            <a:off x="6290575" y="6039347"/>
            <a:ext cx="2398252"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陶芸／和紙／藍染工房等での職人インタビュー</a:t>
            </a:r>
            <a:r>
              <a:rPr lang="ja-JP" altLang="en-US" sz="850" noProof="0" dirty="0">
                <a:latin typeface="Noto Sans JP" panose="020B0200000000000000" pitchFamily="50" charset="-128"/>
                <a:ea typeface="Noto Sans JP" panose="020B0200000000000000" pitchFamily="50" charset="-128"/>
                <a:cs typeface="Noto Sans JP" pitchFamily="34" charset="-120"/>
              </a:rPr>
              <a:t>。実際の体験も可</a:t>
            </a:r>
            <a:endParaRPr lang="ja-JP" sz="850" noProof="0" dirty="0">
              <a:latin typeface="Noto Sans JP" panose="020B0200000000000000" pitchFamily="50" charset="-128"/>
              <a:ea typeface="Noto Sans JP" panose="020B0200000000000000" pitchFamily="50" charset="-128"/>
            </a:endParaRPr>
          </a:p>
        </p:txBody>
      </p:sp>
      <p:sp>
        <p:nvSpPr>
          <p:cNvPr id="370" name="Shape 105">
            <a:extLst>
              <a:ext uri="{FF2B5EF4-FFF2-40B4-BE49-F238E27FC236}">
                <a16:creationId xmlns:a16="http://schemas.microsoft.com/office/drawing/2014/main" id="{40E674C9-4BEC-FBC5-D12A-FC39E1E0BF8F}"/>
              </a:ext>
            </a:extLst>
          </p:cNvPr>
          <p:cNvSpPr/>
          <p:nvPr/>
        </p:nvSpPr>
        <p:spPr>
          <a:xfrm>
            <a:off x="8883005" y="5654697"/>
            <a:ext cx="2599774" cy="755093"/>
          </a:xfrm>
          <a:prstGeom prst="rect">
            <a:avLst/>
          </a:prstGeom>
          <a:solidFill>
            <a:srgbClr val="FCE9EA"/>
          </a:solidFill>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72" name="Shape 106">
            <a:extLst>
              <a:ext uri="{FF2B5EF4-FFF2-40B4-BE49-F238E27FC236}">
                <a16:creationId xmlns:a16="http://schemas.microsoft.com/office/drawing/2014/main" id="{BBF0D62B-D9BC-5970-49D4-F03A5AC6A697}"/>
              </a:ext>
            </a:extLst>
          </p:cNvPr>
          <p:cNvSpPr/>
          <p:nvPr/>
        </p:nvSpPr>
        <p:spPr>
          <a:xfrm>
            <a:off x="8883008" y="5654697"/>
            <a:ext cx="34701" cy="755093"/>
          </a:xfrm>
          <a:prstGeom prst="roundRect">
            <a:avLst>
              <a:gd name="adj" fmla="val 377072"/>
            </a:avLst>
          </a:prstGeom>
          <a:solidFill>
            <a:srgbClr val="E2444A"/>
          </a:solidFill>
          <a:ln w="12700">
            <a:solidFill>
              <a:srgbClr val="E2444A">
                <a:alpha val="0"/>
              </a:srgbClr>
            </a:solidFill>
            <a:prstDash val="solid"/>
          </a:ln>
        </p:spPr>
        <p:txBody>
          <a:bodyPr/>
          <a:lstStyle/>
          <a:p>
            <a:endParaRPr lang="ja-JP" sz="877" noProof="0" dirty="0">
              <a:latin typeface="Noto Sans JP" panose="020B0200000000000000" pitchFamily="50" charset="-128"/>
              <a:ea typeface="Noto Sans JP" panose="020B0200000000000000" pitchFamily="50" charset="-128"/>
            </a:endParaRPr>
          </a:p>
        </p:txBody>
      </p:sp>
      <p:sp>
        <p:nvSpPr>
          <p:cNvPr id="374" name="Text 107">
            <a:extLst>
              <a:ext uri="{FF2B5EF4-FFF2-40B4-BE49-F238E27FC236}">
                <a16:creationId xmlns:a16="http://schemas.microsoft.com/office/drawing/2014/main" id="{DF10F2A5-F3C9-0B5B-7C21-60BE5FFC96B3}"/>
              </a:ext>
            </a:extLst>
          </p:cNvPr>
          <p:cNvSpPr txBox="1"/>
          <p:nvPr/>
        </p:nvSpPr>
        <p:spPr>
          <a:xfrm>
            <a:off x="9001118" y="5770946"/>
            <a:ext cx="2398252" cy="155712"/>
          </a:xfrm>
          <a:prstGeom prst="rect">
            <a:avLst/>
          </a:prstGeom>
          <a:noFill/>
          <a:ln/>
        </p:spPr>
        <p:txBody>
          <a:bodyPr wrap="square" lIns="0" tIns="0" rIns="0" bIns="0" rtlCol="0" anchor="ctr"/>
          <a:lstStyle/>
          <a:p>
            <a:r>
              <a:rPr lang="ja-JP" sz="1168" b="1" noProof="0" dirty="0">
                <a:latin typeface="Noto Sans JP" panose="020B0200000000000000" pitchFamily="50" charset="-128"/>
                <a:ea typeface="Noto Sans JP" panose="020B0200000000000000" pitchFamily="50" charset="-128"/>
                <a:cs typeface="Zen Kaku Gothic New" pitchFamily="34" charset="-120"/>
              </a:rPr>
              <a:t>日本文化講演</a:t>
            </a:r>
            <a:endParaRPr lang="ja-JP" sz="1168" noProof="0" dirty="0">
              <a:latin typeface="Noto Sans JP" panose="020B0200000000000000" pitchFamily="50" charset="-128"/>
              <a:ea typeface="Noto Sans JP" panose="020B0200000000000000" pitchFamily="50" charset="-128"/>
            </a:endParaRPr>
          </a:p>
        </p:txBody>
      </p:sp>
      <p:sp>
        <p:nvSpPr>
          <p:cNvPr id="376" name="Text 109">
            <a:extLst>
              <a:ext uri="{FF2B5EF4-FFF2-40B4-BE49-F238E27FC236}">
                <a16:creationId xmlns:a16="http://schemas.microsoft.com/office/drawing/2014/main" id="{F98D4B8B-AC30-5A3F-8D68-36A5F391AA50}"/>
              </a:ext>
            </a:extLst>
          </p:cNvPr>
          <p:cNvSpPr txBox="1"/>
          <p:nvPr/>
        </p:nvSpPr>
        <p:spPr>
          <a:xfrm>
            <a:off x="9001118" y="6039347"/>
            <a:ext cx="2398252" cy="363903"/>
          </a:xfrm>
          <a:prstGeom prst="rect">
            <a:avLst/>
          </a:prstGeom>
          <a:noFill/>
          <a:ln/>
        </p:spPr>
        <p:txBody>
          <a:bodyPr wrap="square" lIns="0" tIns="0" rIns="0" bIns="0" rtlCol="0" anchor="t"/>
          <a:lstStyle/>
          <a:p>
            <a:r>
              <a:rPr lang="ja-JP" sz="850" noProof="0" dirty="0">
                <a:latin typeface="Noto Sans JP" panose="020B0200000000000000" pitchFamily="50" charset="-128"/>
                <a:ea typeface="Noto Sans JP" panose="020B0200000000000000" pitchFamily="50" charset="-128"/>
                <a:cs typeface="Noto Sans JP" pitchFamily="34" charset="-120"/>
              </a:rPr>
              <a:t>盆踊り／祭り／和食／アニメ等のテーマ別講演。英語登壇者をご紹介可能</a:t>
            </a:r>
            <a:endParaRPr lang="ja-JP" sz="850" noProof="0" dirty="0">
              <a:latin typeface="Noto Sans JP" panose="020B0200000000000000" pitchFamily="50" charset="-128"/>
              <a:ea typeface="Noto Sans JP" panose="020B0200000000000000" pitchFamily="50"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41" name="Shape 1">
            <a:extLst>
              <a:ext uri="{FF2B5EF4-FFF2-40B4-BE49-F238E27FC236}">
                <a16:creationId xmlns:a16="http://schemas.microsoft.com/office/drawing/2014/main" id="{8ABFFC7E-FEC4-7CE3-288A-0E32CE400880}"/>
              </a:ext>
            </a:extLst>
          </p:cNvPr>
          <p:cNvSpPr/>
          <p:nvPr/>
        </p:nvSpPr>
        <p:spPr>
          <a:xfrm>
            <a:off x="6238951" y="4232496"/>
            <a:ext cx="5381244" cy="2190902"/>
          </a:xfrm>
          <a:prstGeom prst="rect">
            <a:avLst/>
          </a:prstGeom>
          <a:solidFill>
            <a:srgbClr val="FFFFFF"/>
          </a:solidFill>
          <a:ln w="12700">
            <a:solidFill>
              <a:srgbClr val="FFFFFF">
                <a:alpha val="0"/>
              </a:srgbClr>
            </a:solidFill>
            <a:prstDash val="solid"/>
          </a:ln>
        </p:spPr>
        <p:txBody>
          <a:bodyPr/>
          <a:lstStyle/>
          <a:p>
            <a:pPr>
              <a:lnSpc>
                <a:spcPct val="120000"/>
              </a:lnSpc>
              <a:spcBef>
                <a:spcPts val="300"/>
              </a:spcBef>
            </a:pPr>
            <a:endParaRPr lang="ja-JP" noProof="0" dirty="0"/>
          </a:p>
        </p:txBody>
      </p:sp>
      <p:sp>
        <p:nvSpPr>
          <p:cNvPr id="2" name="Shape 0"/>
          <p:cNvSpPr/>
          <p:nvPr/>
        </p:nvSpPr>
        <p:spPr>
          <a:xfrm>
            <a:off x="571500" y="1904695"/>
            <a:ext cx="5477256" cy="2190902"/>
          </a:xfrm>
          <a:prstGeom prst="rect">
            <a:avLst/>
          </a:prstGeom>
          <a:solidFill>
            <a:srgbClr val="FFFFFF"/>
          </a:solidFill>
          <a:ln w="12700">
            <a:solidFill>
              <a:srgbClr val="FFFFFF">
                <a:alpha val="0"/>
              </a:srgbClr>
            </a:solidFill>
            <a:prstDash val="solid"/>
          </a:ln>
        </p:spPr>
        <p:txBody>
          <a:bodyPr/>
          <a:lstStyle/>
          <a:p>
            <a:pPr>
              <a:lnSpc>
                <a:spcPct val="120000"/>
              </a:lnSpc>
              <a:spcBef>
                <a:spcPts val="300"/>
              </a:spcBef>
            </a:pPr>
            <a:endParaRPr lang="ja-JP" noProof="0" dirty="0"/>
          </a:p>
        </p:txBody>
      </p:sp>
      <p:sp>
        <p:nvSpPr>
          <p:cNvPr id="3" name="Shape 1"/>
          <p:cNvSpPr/>
          <p:nvPr/>
        </p:nvSpPr>
        <p:spPr>
          <a:xfrm>
            <a:off x="6238951" y="1904695"/>
            <a:ext cx="5381244" cy="2190902"/>
          </a:xfrm>
          <a:prstGeom prst="rect">
            <a:avLst/>
          </a:prstGeom>
          <a:solidFill>
            <a:srgbClr val="FFFFFF"/>
          </a:solidFill>
          <a:ln w="12700">
            <a:solidFill>
              <a:srgbClr val="FFFFFF">
                <a:alpha val="0"/>
              </a:srgbClr>
            </a:solidFill>
            <a:prstDash val="solid"/>
          </a:ln>
        </p:spPr>
        <p:txBody>
          <a:bodyPr/>
          <a:lstStyle/>
          <a:p>
            <a:pPr>
              <a:lnSpc>
                <a:spcPct val="120000"/>
              </a:lnSpc>
              <a:spcBef>
                <a:spcPts val="300"/>
              </a:spcBef>
            </a:pPr>
            <a:endParaRPr lang="ja-JP" noProof="0" dirty="0"/>
          </a:p>
        </p:txBody>
      </p:sp>
      <p:sp>
        <p:nvSpPr>
          <p:cNvPr id="4" name="Shape 2"/>
          <p:cNvSpPr/>
          <p:nvPr/>
        </p:nvSpPr>
        <p:spPr>
          <a:xfrm>
            <a:off x="571500" y="4238244"/>
            <a:ext cx="5477256" cy="2190902"/>
          </a:xfrm>
          <a:prstGeom prst="rect">
            <a:avLst/>
          </a:prstGeom>
          <a:solidFill>
            <a:srgbClr val="FFFFFF"/>
          </a:solidFill>
          <a:ln w="12700">
            <a:solidFill>
              <a:srgbClr val="FFFFFF">
                <a:alpha val="0"/>
              </a:srgbClr>
            </a:solidFill>
            <a:prstDash val="solid"/>
          </a:ln>
        </p:spPr>
        <p:txBody>
          <a:bodyPr/>
          <a:lstStyle/>
          <a:p>
            <a:pPr>
              <a:lnSpc>
                <a:spcPct val="120000"/>
              </a:lnSpc>
              <a:spcBef>
                <a:spcPts val="300"/>
              </a:spcBef>
            </a:pPr>
            <a:endParaRPr lang="ja-JP" noProof="0" dirty="0"/>
          </a:p>
        </p:txBody>
      </p:sp>
      <p:pic>
        <p:nvPicPr>
          <p:cNvPr id="6" name="Image 0" descr="gen-dedup-96788bbca7c2a7d6e0ea2657e79042f5.png"/>
          <p:cNvPicPr>
            <a:picLocks noChangeAspect="1"/>
          </p:cNvPicPr>
          <p:nvPr/>
        </p:nvPicPr>
        <p:blipFill>
          <a:blip r:embed="rId3"/>
          <a:srcRect l="-397" r="-397"/>
          <a:stretch/>
        </p:blipFill>
        <p:spPr>
          <a:xfrm>
            <a:off x="571500" y="1904695"/>
            <a:ext cx="38405" cy="2190902"/>
          </a:xfrm>
          <a:prstGeom prst="rect">
            <a:avLst/>
          </a:prstGeom>
        </p:spPr>
      </p:pic>
      <p:pic>
        <p:nvPicPr>
          <p:cNvPr id="7" name="Image 1" descr="gen-dedup-8199f8cb2db8d8065e6036890dbc3f35.jpg"/>
          <p:cNvPicPr>
            <a:picLocks noChangeAspect="1"/>
          </p:cNvPicPr>
          <p:nvPr/>
        </p:nvPicPr>
        <p:blipFill>
          <a:blip r:embed="rId4"/>
          <a:stretch>
            <a:fillRect/>
          </a:stretch>
        </p:blipFill>
        <p:spPr>
          <a:xfrm>
            <a:off x="4324198" y="3010205"/>
            <a:ext cx="1571854" cy="1028850"/>
          </a:xfrm>
          <a:prstGeom prst="rect">
            <a:avLst/>
          </a:prstGeom>
        </p:spPr>
      </p:pic>
      <p:pic>
        <p:nvPicPr>
          <p:cNvPr id="8" name="Image 2" descr="gen-dedup-96788bbca7c2a7d6e0ea2657e79042f5.png"/>
          <p:cNvPicPr>
            <a:picLocks noChangeAspect="1"/>
          </p:cNvPicPr>
          <p:nvPr/>
        </p:nvPicPr>
        <p:blipFill>
          <a:blip r:embed="rId3"/>
          <a:srcRect l="-397" r="-397"/>
          <a:stretch/>
        </p:blipFill>
        <p:spPr>
          <a:xfrm>
            <a:off x="6238951" y="1904695"/>
            <a:ext cx="38405" cy="2190902"/>
          </a:xfrm>
          <a:prstGeom prst="rect">
            <a:avLst/>
          </a:prstGeom>
        </p:spPr>
      </p:pic>
      <p:pic>
        <p:nvPicPr>
          <p:cNvPr id="9" name="Image 3" descr="gen-dedup-f6fdbc48bb45972f00a1bd04a5c4102e.jpg"/>
          <p:cNvPicPr>
            <a:picLocks noChangeAspect="1"/>
          </p:cNvPicPr>
          <p:nvPr/>
        </p:nvPicPr>
        <p:blipFill>
          <a:blip r:embed="rId5"/>
          <a:stretch>
            <a:fillRect/>
          </a:stretch>
        </p:blipFill>
        <p:spPr>
          <a:xfrm>
            <a:off x="9991649" y="3010205"/>
            <a:ext cx="1476756" cy="1028965"/>
          </a:xfrm>
          <a:prstGeom prst="rect">
            <a:avLst/>
          </a:prstGeom>
        </p:spPr>
      </p:pic>
      <p:pic>
        <p:nvPicPr>
          <p:cNvPr id="10" name="Image 4" descr="gen-dedup-ca65931829b93424e6afe670e0f0c533.png"/>
          <p:cNvPicPr>
            <a:picLocks noChangeAspect="1"/>
          </p:cNvPicPr>
          <p:nvPr/>
        </p:nvPicPr>
        <p:blipFill>
          <a:blip r:embed="rId6"/>
          <a:srcRect l="-397" r="-397"/>
          <a:stretch/>
        </p:blipFill>
        <p:spPr>
          <a:xfrm>
            <a:off x="571500" y="4238244"/>
            <a:ext cx="38405" cy="2190902"/>
          </a:xfrm>
          <a:prstGeom prst="rect">
            <a:avLst/>
          </a:prstGeom>
          <a:solidFill>
            <a:srgbClr val="3CAEA3"/>
          </a:solidFill>
        </p:spPr>
      </p:pic>
      <p:pic>
        <p:nvPicPr>
          <p:cNvPr id="11" name="Image 5" descr="gen-dedup-b85c6b673cef7117b24e38da9453672f.jpg"/>
          <p:cNvPicPr>
            <a:picLocks noChangeAspect="1"/>
          </p:cNvPicPr>
          <p:nvPr/>
        </p:nvPicPr>
        <p:blipFill>
          <a:blip r:embed="rId7"/>
          <a:stretch>
            <a:fillRect/>
          </a:stretch>
        </p:blipFill>
        <p:spPr>
          <a:xfrm>
            <a:off x="4324198" y="5343754"/>
            <a:ext cx="1571854" cy="1028850"/>
          </a:xfrm>
          <a:prstGeom prst="rect">
            <a:avLst/>
          </a:prstGeom>
        </p:spPr>
      </p:pic>
      <p:pic>
        <p:nvPicPr>
          <p:cNvPr id="12" name="Image 6" descr="gen-dedup-ca65931829b93424e6afe670e0f0c533.png"/>
          <p:cNvPicPr>
            <a:picLocks noChangeAspect="1"/>
          </p:cNvPicPr>
          <p:nvPr/>
        </p:nvPicPr>
        <p:blipFill>
          <a:blip r:embed="rId6"/>
          <a:srcRect l="-397" r="-397"/>
          <a:stretch/>
        </p:blipFill>
        <p:spPr>
          <a:xfrm>
            <a:off x="6238951" y="4238244"/>
            <a:ext cx="38405" cy="2190902"/>
          </a:xfrm>
          <a:prstGeom prst="rect">
            <a:avLst/>
          </a:prstGeom>
          <a:solidFill>
            <a:srgbClr val="3CAEA3"/>
          </a:solidFill>
        </p:spPr>
      </p:pic>
      <p:pic>
        <p:nvPicPr>
          <p:cNvPr id="13" name="Image 7" descr="gen-dedup-812ecb61fffc6e2f409849514e539f4a.jpg"/>
          <p:cNvPicPr>
            <a:picLocks noChangeAspect="1"/>
          </p:cNvPicPr>
          <p:nvPr/>
        </p:nvPicPr>
        <p:blipFill>
          <a:blip r:embed="rId8"/>
          <a:stretch>
            <a:fillRect/>
          </a:stretch>
        </p:blipFill>
        <p:spPr>
          <a:xfrm>
            <a:off x="9991649" y="5343754"/>
            <a:ext cx="1476756" cy="1028965"/>
          </a:xfrm>
          <a:prstGeom prst="rect">
            <a:avLst/>
          </a:prstGeom>
        </p:spPr>
      </p:pic>
      <p:pic>
        <p:nvPicPr>
          <p:cNvPr id="14" name="Image 8" descr="gen-dedup-468f209c8b765fcabfd32ae0c933e113.png"/>
          <p:cNvPicPr>
            <a:picLocks noChangeAspect="1"/>
          </p:cNvPicPr>
          <p:nvPr/>
        </p:nvPicPr>
        <p:blipFill>
          <a:blip r:embed="rId9"/>
          <a:srcRect l="-404" r="-404"/>
          <a:stretch/>
        </p:blipFill>
        <p:spPr>
          <a:xfrm>
            <a:off x="571500" y="1187069"/>
            <a:ext cx="571500" cy="28346"/>
          </a:xfrm>
          <a:prstGeom prst="rect">
            <a:avLst/>
          </a:prstGeom>
        </p:spPr>
      </p:pic>
      <p:sp>
        <p:nvSpPr>
          <p:cNvPr id="15" name="Text 4"/>
          <p:cNvSpPr txBox="1"/>
          <p:nvPr/>
        </p:nvSpPr>
        <p:spPr>
          <a:xfrm>
            <a:off x="571500" y="296525"/>
            <a:ext cx="534368" cy="227169"/>
          </a:xfrm>
          <a:prstGeom prst="rect">
            <a:avLst/>
          </a:prstGeom>
          <a:noFill/>
          <a:ln/>
        </p:spPr>
        <p:txBody>
          <a:bodyPr wrap="none" lIns="36000" tIns="36000" rIns="36000" bIns="36000" rtlCol="0" anchor="ctr">
            <a:spAutoFit/>
          </a:bodyPr>
          <a:lstStyle>
            <a:lvl1pPr indent="0">
              <a:lnSpc>
                <a:spcPct val="120000"/>
              </a:lnSpc>
              <a:spcBef>
                <a:spcPts val="300"/>
              </a:spcBef>
              <a:buNone/>
              <a:defRPr sz="1000" b="1">
                <a:solidFill>
                  <a:srgbClr val="3CAEA3"/>
                </a:solidFill>
                <a:latin typeface="Noto Sans JP" panose="020B0200000000000000" pitchFamily="50" charset="-128"/>
                <a:ea typeface="Noto Sans JP" panose="020B0200000000000000" pitchFamily="50" charset="-128"/>
                <a:cs typeface="Noto Sans JP" pitchFamily="34" charset="-120"/>
              </a:defRPr>
            </a:lvl1pPr>
          </a:lstStyle>
          <a:p>
            <a:r>
              <a:rPr lang="ja-JP" altLang="en-US" dirty="0"/>
              <a:t>期待効果</a:t>
            </a:r>
          </a:p>
        </p:txBody>
      </p:sp>
      <p:sp>
        <p:nvSpPr>
          <p:cNvPr id="16" name="Text 5"/>
          <p:cNvSpPr txBox="1"/>
          <p:nvPr/>
        </p:nvSpPr>
        <p:spPr>
          <a:xfrm>
            <a:off x="571500" y="682477"/>
            <a:ext cx="7618038" cy="411257"/>
          </a:xfrm>
          <a:prstGeom prst="rect">
            <a:avLst/>
          </a:prstGeom>
          <a:noFill/>
          <a:ln/>
        </p:spPr>
        <p:txBody>
          <a:bodyPr wrap="none" lIns="36000" tIns="36000" rIns="36000" bIns="36000" rtlCol="0" anchor="ctr">
            <a:spAutoFit/>
          </a:bodyPr>
          <a:lstStyle/>
          <a:p>
            <a:pPr marL="0" indent="0" algn="l">
              <a:spcBef>
                <a:spcPts val="300"/>
              </a:spcBef>
              <a:buNone/>
            </a:pPr>
            <a:r>
              <a:rPr lang="ja-JP" altLang="en-US" sz="2200" b="1" noProof="0" dirty="0">
                <a:solidFill>
                  <a:srgbClr val="081F3A"/>
                </a:solidFill>
                <a:latin typeface="Noto Sans JP" pitchFamily="34" charset="0"/>
                <a:ea typeface="Noto Sans JP" pitchFamily="34" charset="-122"/>
                <a:cs typeface="Noto Sans JP" pitchFamily="34" charset="-120"/>
              </a:rPr>
              <a:t>デクスター</a:t>
            </a:r>
            <a:r>
              <a:rPr lang="ja-JP" sz="2200" b="1" noProof="0" dirty="0">
                <a:solidFill>
                  <a:srgbClr val="081F3A"/>
                </a:solidFill>
                <a:latin typeface="Noto Sans JP" pitchFamily="34" charset="0"/>
                <a:ea typeface="Noto Sans JP" pitchFamily="34" charset="-122"/>
                <a:cs typeface="Noto Sans JP" pitchFamily="34" charset="-120"/>
              </a:rPr>
              <a:t>を通じたご紹介が、ホテルにもたらす </a:t>
            </a:r>
            <a:r>
              <a:rPr lang="ja-JP" sz="2200" b="1" noProof="0" dirty="0">
                <a:solidFill>
                  <a:srgbClr val="ED8B3C"/>
                </a:solidFill>
                <a:latin typeface="Noto Sans JP" pitchFamily="34" charset="0"/>
                <a:ea typeface="Noto Sans JP" pitchFamily="34" charset="-122"/>
                <a:cs typeface="Noto Sans JP" pitchFamily="34" charset="-120"/>
              </a:rPr>
              <a:t>4つの価値</a:t>
            </a:r>
            <a:endParaRPr lang="ja-JP" sz="2200" noProof="0" dirty="0"/>
          </a:p>
        </p:txBody>
      </p:sp>
      <p:sp>
        <p:nvSpPr>
          <p:cNvPr id="17" name="Text 6"/>
          <p:cNvSpPr txBox="1"/>
          <p:nvPr/>
        </p:nvSpPr>
        <p:spPr>
          <a:xfrm>
            <a:off x="571500" y="1399574"/>
            <a:ext cx="7089047" cy="278722"/>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altLang="en-US" sz="1200" noProof="0" dirty="0">
                <a:solidFill>
                  <a:srgbClr val="404A57"/>
                </a:solidFill>
                <a:latin typeface="Noto Sans JP" pitchFamily="34" charset="0"/>
                <a:ea typeface="Noto Sans JP" pitchFamily="34" charset="-122"/>
                <a:cs typeface="Noto Sans JP" pitchFamily="34" charset="-120"/>
              </a:rPr>
              <a:t>デクスター</a:t>
            </a:r>
            <a:r>
              <a:rPr lang="ja-JP" sz="1200" noProof="0" dirty="0">
                <a:solidFill>
                  <a:srgbClr val="404A57"/>
                </a:solidFill>
                <a:latin typeface="Noto Sans JP" pitchFamily="34" charset="0"/>
                <a:ea typeface="Noto Sans JP" pitchFamily="34" charset="-122"/>
                <a:cs typeface="Noto Sans JP" pitchFamily="34" charset="-120"/>
              </a:rPr>
              <a:t>のご紹介は、コンシェルジュの </a:t>
            </a:r>
            <a:r>
              <a:rPr lang="ja-JP" sz="1200" b="1" noProof="0" dirty="0">
                <a:solidFill>
                  <a:srgbClr val="081F3A"/>
                </a:solidFill>
                <a:latin typeface="Noto Sans JP" pitchFamily="34" charset="0"/>
                <a:ea typeface="Noto Sans JP" pitchFamily="34" charset="-122"/>
                <a:cs typeface="Noto Sans JP" pitchFamily="34" charset="-120"/>
              </a:rPr>
              <a:t>提案力</a:t>
            </a:r>
            <a:r>
              <a:rPr lang="ja-JP" sz="1200" noProof="0" dirty="0">
                <a:solidFill>
                  <a:srgbClr val="404A57"/>
                </a:solidFill>
                <a:latin typeface="Noto Sans JP" pitchFamily="34" charset="0"/>
                <a:ea typeface="Noto Sans JP" pitchFamily="34" charset="-122"/>
                <a:cs typeface="Noto Sans JP" pitchFamily="34" charset="-120"/>
              </a:rPr>
              <a:t>・</a:t>
            </a:r>
            <a:r>
              <a:rPr lang="ja-JP" sz="1200" b="1" noProof="0" dirty="0">
                <a:solidFill>
                  <a:srgbClr val="081F3A"/>
                </a:solidFill>
                <a:latin typeface="Noto Sans JP" pitchFamily="34" charset="0"/>
                <a:ea typeface="Noto Sans JP" pitchFamily="34" charset="-122"/>
                <a:cs typeface="Noto Sans JP" pitchFamily="34" charset="-120"/>
              </a:rPr>
              <a:t>業務負荷</a:t>
            </a:r>
            <a:r>
              <a:rPr lang="ja-JP" sz="1200" noProof="0" dirty="0">
                <a:solidFill>
                  <a:srgbClr val="404A57"/>
                </a:solidFill>
                <a:latin typeface="Noto Sans JP" pitchFamily="34" charset="0"/>
                <a:ea typeface="Noto Sans JP" pitchFamily="34" charset="-122"/>
                <a:cs typeface="Noto Sans JP" pitchFamily="34" charset="-120"/>
              </a:rPr>
              <a:t>・</a:t>
            </a:r>
            <a:r>
              <a:rPr lang="ja-JP" sz="1200" b="1" noProof="0" dirty="0">
                <a:solidFill>
                  <a:srgbClr val="081F3A"/>
                </a:solidFill>
                <a:latin typeface="Noto Sans JP" pitchFamily="34" charset="0"/>
                <a:ea typeface="Noto Sans JP" pitchFamily="34" charset="-122"/>
                <a:cs typeface="Noto Sans JP" pitchFamily="34" charset="-120"/>
              </a:rPr>
              <a:t>属人化</a:t>
            </a:r>
            <a:r>
              <a:rPr lang="ja-JP" sz="1200" noProof="0" dirty="0">
                <a:solidFill>
                  <a:srgbClr val="404A57"/>
                </a:solidFill>
                <a:latin typeface="Noto Sans JP" pitchFamily="34" charset="0"/>
                <a:ea typeface="Noto Sans JP" pitchFamily="34" charset="-122"/>
                <a:cs typeface="Noto Sans JP" pitchFamily="34" charset="-120"/>
              </a:rPr>
              <a:t>・</a:t>
            </a:r>
            <a:r>
              <a:rPr lang="ja-JP" sz="1200" b="1" noProof="0" dirty="0">
                <a:solidFill>
                  <a:srgbClr val="081F3A"/>
                </a:solidFill>
                <a:latin typeface="Noto Sans JP" pitchFamily="34" charset="0"/>
                <a:ea typeface="Noto Sans JP" pitchFamily="34" charset="-122"/>
                <a:cs typeface="Noto Sans JP" pitchFamily="34" charset="-120"/>
              </a:rPr>
              <a:t>ゲスト満足</a:t>
            </a:r>
            <a:r>
              <a:rPr lang="ja-JP" sz="1200" noProof="0" dirty="0">
                <a:solidFill>
                  <a:srgbClr val="404A57"/>
                </a:solidFill>
                <a:latin typeface="Noto Sans JP" pitchFamily="34" charset="0"/>
                <a:ea typeface="Noto Sans JP" pitchFamily="34" charset="-122"/>
                <a:cs typeface="Noto Sans JP" pitchFamily="34" charset="-120"/>
              </a:rPr>
              <a:t> の 4 軸で効きます</a:t>
            </a:r>
            <a:endParaRPr lang="ja-JP" sz="1200" noProof="0" dirty="0"/>
          </a:p>
        </p:txBody>
      </p:sp>
      <p:sp>
        <p:nvSpPr>
          <p:cNvPr id="18" name="Text 7"/>
          <p:cNvSpPr txBox="1"/>
          <p:nvPr/>
        </p:nvSpPr>
        <p:spPr>
          <a:xfrm>
            <a:off x="800100" y="2018995"/>
            <a:ext cx="476402" cy="342900"/>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2700" b="1" noProof="0" dirty="0">
                <a:solidFill>
                  <a:srgbClr val="3CAEA3"/>
                </a:solidFill>
                <a:latin typeface="Noto Sans JP" pitchFamily="34" charset="0"/>
                <a:ea typeface="Noto Sans JP" pitchFamily="34" charset="-122"/>
                <a:cs typeface="Noto Sans JP" pitchFamily="34" charset="-120"/>
              </a:rPr>
              <a:t>①</a:t>
            </a:r>
            <a:endParaRPr lang="ja-JP" sz="2700" noProof="0" dirty="0"/>
          </a:p>
        </p:txBody>
      </p:sp>
      <p:sp>
        <p:nvSpPr>
          <p:cNvPr id="20" name="Text 9"/>
          <p:cNvSpPr txBox="1"/>
          <p:nvPr/>
        </p:nvSpPr>
        <p:spPr>
          <a:xfrm>
            <a:off x="800100" y="2422598"/>
            <a:ext cx="5143500" cy="286207"/>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500" b="1" noProof="0" dirty="0">
                <a:solidFill>
                  <a:srgbClr val="081F3A"/>
                </a:solidFill>
                <a:latin typeface="Noto Sans JP" pitchFamily="34" charset="0"/>
                <a:ea typeface="Noto Sans JP" pitchFamily="34" charset="-122"/>
                <a:cs typeface="Noto Sans JP" pitchFamily="34" charset="-120"/>
              </a:rPr>
              <a:t>提案力の拡張</a:t>
            </a:r>
            <a:endParaRPr lang="ja-JP" sz="1500" noProof="0" dirty="0"/>
          </a:p>
        </p:txBody>
      </p:sp>
      <p:sp>
        <p:nvSpPr>
          <p:cNvPr id="21" name="Text 10"/>
          <p:cNvSpPr txBox="1"/>
          <p:nvPr/>
        </p:nvSpPr>
        <p:spPr>
          <a:xfrm>
            <a:off x="800100" y="2745381"/>
            <a:ext cx="3525012" cy="244353"/>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000" b="1" noProof="0" dirty="0">
                <a:solidFill>
                  <a:srgbClr val="ED8B3C"/>
                </a:solidFill>
                <a:latin typeface="Noto Sans JP" pitchFamily="34" charset="0"/>
                <a:ea typeface="Noto Sans JP" pitchFamily="34" charset="-122"/>
                <a:cs typeface="Noto Sans JP" pitchFamily="34" charset="-120"/>
              </a:rPr>
              <a:t>これまではお断りしていたご相談にも、新たな選択肢を</a:t>
            </a:r>
            <a:endParaRPr lang="ja-JP" sz="1000" noProof="0" dirty="0"/>
          </a:p>
        </p:txBody>
      </p:sp>
      <p:sp>
        <p:nvSpPr>
          <p:cNvPr id="22" name="Text 11"/>
          <p:cNvSpPr txBox="1"/>
          <p:nvPr/>
        </p:nvSpPr>
        <p:spPr>
          <a:xfrm>
            <a:off x="800100" y="3131364"/>
            <a:ext cx="3261261" cy="774049"/>
          </a:xfrm>
          <a:prstGeom prst="rect">
            <a:avLst/>
          </a:prstGeom>
          <a:noFill/>
          <a:ln/>
        </p:spPr>
        <p:txBody>
          <a:bodyPr wrap="square" lIns="36000" tIns="36000" rIns="36000" bIns="36000" rtlCol="0" anchor="t">
            <a:spAutoFit/>
          </a:bodyPr>
          <a:lstStyle/>
          <a:p>
            <a:pPr marL="0" indent="0" algn="l">
              <a:lnSpc>
                <a:spcPct val="110000"/>
              </a:lnSpc>
              <a:buNone/>
            </a:pPr>
            <a:r>
              <a:rPr lang="en-US" altLang="ja-JP" sz="1050" noProof="0" dirty="0">
                <a:latin typeface="Noto Sans JP" pitchFamily="34" charset="0"/>
                <a:ea typeface="Noto Sans JP" pitchFamily="34" charset="-122"/>
                <a:cs typeface="Noto Sans JP" pitchFamily="34" charset="-120"/>
              </a:rPr>
              <a:t>Web</a:t>
            </a:r>
            <a:r>
              <a:rPr lang="ja-JP" altLang="en-US" sz="1050" noProof="0" dirty="0">
                <a:latin typeface="Noto Sans JP" pitchFamily="34" charset="0"/>
                <a:ea typeface="Noto Sans JP" pitchFamily="34" charset="-122"/>
                <a:cs typeface="Noto Sans JP" pitchFamily="34" charset="-120"/>
              </a:rPr>
              <a:t>検索だけでは魅力や受入状況を判断しにくい体験も、</a:t>
            </a:r>
            <a:r>
              <a:rPr lang="ja-JP" altLang="en-US" sz="1050" b="1" noProof="0" dirty="0">
                <a:latin typeface="Noto Sans JP" pitchFamily="34" charset="0"/>
                <a:ea typeface="Noto Sans JP" pitchFamily="34" charset="-122"/>
                <a:cs typeface="Noto Sans JP" pitchFamily="34" charset="-120"/>
              </a:rPr>
              <a:t>デクスターの現地知見を加えて個別にご提案</a:t>
            </a:r>
            <a:r>
              <a:rPr lang="ja-JP" altLang="en-US" sz="1050" dirty="0">
                <a:latin typeface="Noto Sans JP" pitchFamily="34" charset="0"/>
                <a:ea typeface="Noto Sans JP" pitchFamily="34" charset="-122"/>
                <a:cs typeface="Noto Sans JP" pitchFamily="34" charset="-120"/>
              </a:rPr>
              <a:t>。</a:t>
            </a:r>
            <a:r>
              <a:rPr lang="ja-JP" sz="1050" noProof="0" dirty="0">
                <a:latin typeface="Noto Sans JP" pitchFamily="34" charset="0"/>
                <a:ea typeface="Noto Sans JP" pitchFamily="34" charset="-122"/>
                <a:cs typeface="Noto Sans JP" pitchFamily="34" charset="-120"/>
              </a:rPr>
              <a:t>コンシェルジュの選択肢の幅そのものが広がります</a:t>
            </a:r>
            <a:endParaRPr lang="ja-JP" sz="1050" noProof="0" dirty="0"/>
          </a:p>
        </p:txBody>
      </p:sp>
      <p:sp>
        <p:nvSpPr>
          <p:cNvPr id="23" name="Text 12"/>
          <p:cNvSpPr txBox="1"/>
          <p:nvPr/>
        </p:nvSpPr>
        <p:spPr>
          <a:xfrm>
            <a:off x="6467551" y="2018995"/>
            <a:ext cx="476402" cy="342900"/>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2700" b="1" noProof="0" dirty="0">
                <a:solidFill>
                  <a:srgbClr val="3CAEA3"/>
                </a:solidFill>
                <a:latin typeface="Noto Sans JP" pitchFamily="34" charset="0"/>
                <a:ea typeface="Noto Sans JP" pitchFamily="34" charset="-122"/>
                <a:cs typeface="Noto Sans JP" pitchFamily="34" charset="-120"/>
              </a:rPr>
              <a:t>②</a:t>
            </a:r>
            <a:endParaRPr lang="ja-JP" sz="2700" noProof="0" dirty="0"/>
          </a:p>
        </p:txBody>
      </p:sp>
      <p:sp>
        <p:nvSpPr>
          <p:cNvPr id="25" name="Text 14"/>
          <p:cNvSpPr txBox="1"/>
          <p:nvPr/>
        </p:nvSpPr>
        <p:spPr>
          <a:xfrm>
            <a:off x="6467551" y="2422598"/>
            <a:ext cx="5048402" cy="286207"/>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500" b="1" noProof="0" dirty="0">
                <a:solidFill>
                  <a:srgbClr val="081F3A"/>
                </a:solidFill>
                <a:latin typeface="Noto Sans JP" pitchFamily="34" charset="0"/>
                <a:ea typeface="Noto Sans JP" pitchFamily="34" charset="-122"/>
                <a:cs typeface="Noto Sans JP" pitchFamily="34" charset="-120"/>
              </a:rPr>
              <a:t>業務負荷の軽減</a:t>
            </a:r>
            <a:endParaRPr lang="ja-JP" sz="1500" noProof="0" dirty="0"/>
          </a:p>
        </p:txBody>
      </p:sp>
      <p:sp>
        <p:nvSpPr>
          <p:cNvPr id="26" name="Text 15"/>
          <p:cNvSpPr txBox="1"/>
          <p:nvPr/>
        </p:nvSpPr>
        <p:spPr>
          <a:xfrm>
            <a:off x="6467551" y="2745381"/>
            <a:ext cx="3525012" cy="244353"/>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000" b="1" noProof="0" dirty="0">
                <a:solidFill>
                  <a:srgbClr val="ED8B3C"/>
                </a:solidFill>
                <a:latin typeface="Noto Sans JP" pitchFamily="34" charset="0"/>
                <a:ea typeface="Noto Sans JP" pitchFamily="34" charset="-122"/>
                <a:cs typeface="Noto Sans JP" pitchFamily="34" charset="-120"/>
              </a:rPr>
              <a:t>調査・事業者確認・予約調整を</a:t>
            </a:r>
            <a:r>
              <a:rPr lang="ja-JP" altLang="en-US" sz="1000" b="1" noProof="0" dirty="0">
                <a:solidFill>
                  <a:srgbClr val="ED8B3C"/>
                </a:solidFill>
                <a:latin typeface="Noto Sans JP" pitchFamily="34" charset="0"/>
                <a:ea typeface="Noto Sans JP" pitchFamily="34" charset="-122"/>
                <a:cs typeface="Noto Sans JP" pitchFamily="34" charset="-120"/>
              </a:rPr>
              <a:t>デクスター</a:t>
            </a:r>
            <a:r>
              <a:rPr lang="ja-JP" sz="1000" b="1" noProof="0" dirty="0">
                <a:solidFill>
                  <a:srgbClr val="ED8B3C"/>
                </a:solidFill>
                <a:latin typeface="Noto Sans JP" pitchFamily="34" charset="0"/>
                <a:ea typeface="Noto Sans JP" pitchFamily="34" charset="-122"/>
                <a:cs typeface="Noto Sans JP" pitchFamily="34" charset="-120"/>
              </a:rPr>
              <a:t>が補完</a:t>
            </a:r>
            <a:endParaRPr lang="ja-JP" sz="1000" noProof="0" dirty="0">
              <a:solidFill>
                <a:srgbClr val="ED8B3C"/>
              </a:solidFill>
            </a:endParaRPr>
          </a:p>
        </p:txBody>
      </p:sp>
      <p:sp>
        <p:nvSpPr>
          <p:cNvPr id="27" name="Text 16"/>
          <p:cNvSpPr txBox="1"/>
          <p:nvPr/>
        </p:nvSpPr>
        <p:spPr>
          <a:xfrm>
            <a:off x="6467551" y="3131364"/>
            <a:ext cx="3261261" cy="596308"/>
          </a:xfrm>
          <a:prstGeom prst="rect">
            <a:avLst/>
          </a:prstGeom>
          <a:noFill/>
          <a:ln/>
        </p:spPr>
        <p:txBody>
          <a:bodyPr wrap="square" lIns="36000" tIns="36000" rIns="36000" bIns="36000" rtlCol="0" anchor="t">
            <a:spAutoFit/>
          </a:bodyPr>
          <a:lstStyle/>
          <a:p>
            <a:pPr marL="0" indent="0" algn="l">
              <a:lnSpc>
                <a:spcPct val="110000"/>
              </a:lnSpc>
              <a:buNone/>
            </a:pPr>
            <a:r>
              <a:rPr lang="ja-JP" sz="1050" noProof="0" dirty="0">
                <a:latin typeface="Noto Sans JP" pitchFamily="34" charset="0"/>
                <a:ea typeface="Noto Sans JP" pitchFamily="34" charset="-122"/>
                <a:cs typeface="Noto Sans JP" pitchFamily="34" charset="-120"/>
              </a:rPr>
              <a:t>まれな依頼ほど重い 調査・品質確認・予約調整 を </a:t>
            </a:r>
            <a:r>
              <a:rPr lang="ja-JP" altLang="en-US" sz="1050" noProof="0" dirty="0">
                <a:latin typeface="Noto Sans JP" pitchFamily="34" charset="0"/>
                <a:ea typeface="Noto Sans JP" pitchFamily="34" charset="-122"/>
                <a:cs typeface="Noto Sans JP" pitchFamily="34" charset="-120"/>
              </a:rPr>
              <a:t>デクスター</a:t>
            </a:r>
            <a:r>
              <a:rPr lang="ja-JP" sz="1050" noProof="0" dirty="0">
                <a:latin typeface="Noto Sans JP" pitchFamily="34" charset="0"/>
                <a:ea typeface="Noto Sans JP" pitchFamily="34" charset="-122"/>
                <a:cs typeface="Noto Sans JP" pitchFamily="34" charset="-120"/>
              </a:rPr>
              <a:t>が代替。コンシェルジュは</a:t>
            </a:r>
            <a:r>
              <a:rPr lang="ja-JP" sz="1050" b="1" noProof="0" dirty="0">
                <a:latin typeface="Noto Sans JP" pitchFamily="34" charset="0"/>
                <a:ea typeface="Noto Sans JP" pitchFamily="34" charset="-122"/>
                <a:cs typeface="Noto Sans JP" pitchFamily="34" charset="-120"/>
              </a:rPr>
              <a:t>本来の接客・提案業務に集中</a:t>
            </a:r>
            <a:r>
              <a:rPr lang="ja-JP" sz="1050" noProof="0" dirty="0">
                <a:latin typeface="Noto Sans JP" pitchFamily="34" charset="0"/>
                <a:ea typeface="Noto Sans JP" pitchFamily="34" charset="-122"/>
                <a:cs typeface="Noto Sans JP" pitchFamily="34" charset="-120"/>
              </a:rPr>
              <a:t>できます</a:t>
            </a:r>
            <a:endParaRPr lang="ja-JP" sz="1050" noProof="0" dirty="0"/>
          </a:p>
        </p:txBody>
      </p:sp>
      <p:sp>
        <p:nvSpPr>
          <p:cNvPr id="28" name="Text 17"/>
          <p:cNvSpPr txBox="1"/>
          <p:nvPr/>
        </p:nvSpPr>
        <p:spPr>
          <a:xfrm>
            <a:off x="800100" y="4255913"/>
            <a:ext cx="418952" cy="53616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2700" b="1" noProof="0" dirty="0">
                <a:solidFill>
                  <a:srgbClr val="3CAEA3"/>
                </a:solidFill>
                <a:latin typeface="Noto Sans JP" pitchFamily="34" charset="0"/>
                <a:ea typeface="Noto Sans JP" pitchFamily="34" charset="-122"/>
                <a:cs typeface="Noto Sans JP" pitchFamily="34" charset="-120"/>
              </a:rPr>
              <a:t>③</a:t>
            </a:r>
            <a:endParaRPr lang="ja-JP" sz="2700" noProof="0" dirty="0">
              <a:solidFill>
                <a:srgbClr val="3CAEA3"/>
              </a:solidFill>
            </a:endParaRPr>
          </a:p>
        </p:txBody>
      </p:sp>
      <p:sp>
        <p:nvSpPr>
          <p:cNvPr id="30" name="Text 19"/>
          <p:cNvSpPr txBox="1"/>
          <p:nvPr/>
        </p:nvSpPr>
        <p:spPr>
          <a:xfrm>
            <a:off x="800100" y="4756147"/>
            <a:ext cx="5143500" cy="286207"/>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500" b="1" noProof="0" dirty="0">
                <a:solidFill>
                  <a:srgbClr val="081F3A"/>
                </a:solidFill>
                <a:latin typeface="Noto Sans JP" pitchFamily="34" charset="0"/>
                <a:ea typeface="Noto Sans JP" pitchFamily="34" charset="-122"/>
                <a:cs typeface="Noto Sans JP" pitchFamily="34" charset="-120"/>
              </a:rPr>
              <a:t>属人化の解消</a:t>
            </a:r>
            <a:endParaRPr lang="ja-JP" sz="1500" noProof="0" dirty="0"/>
          </a:p>
        </p:txBody>
      </p:sp>
      <p:sp>
        <p:nvSpPr>
          <p:cNvPr id="31" name="Text 20"/>
          <p:cNvSpPr txBox="1"/>
          <p:nvPr/>
        </p:nvSpPr>
        <p:spPr>
          <a:xfrm>
            <a:off x="800100" y="5078930"/>
            <a:ext cx="3525012" cy="244353"/>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000" b="1" noProof="0" dirty="0">
                <a:solidFill>
                  <a:srgbClr val="ED8B3C"/>
                </a:solidFill>
                <a:latin typeface="Noto Sans JP" pitchFamily="34" charset="0"/>
                <a:ea typeface="Noto Sans JP" pitchFamily="34" charset="-122"/>
                <a:cs typeface="Noto Sans JP" pitchFamily="34" charset="-120"/>
              </a:rPr>
              <a:t>個人の人脈に依存せず、チーム全体で地域知見を活用</a:t>
            </a:r>
            <a:endParaRPr lang="ja-JP" sz="1000" noProof="0" dirty="0"/>
          </a:p>
        </p:txBody>
      </p:sp>
      <p:sp>
        <p:nvSpPr>
          <p:cNvPr id="32" name="Text 21"/>
          <p:cNvSpPr txBox="1"/>
          <p:nvPr/>
        </p:nvSpPr>
        <p:spPr>
          <a:xfrm>
            <a:off x="800100" y="5438395"/>
            <a:ext cx="3178133" cy="596308"/>
          </a:xfrm>
          <a:prstGeom prst="rect">
            <a:avLst/>
          </a:prstGeom>
          <a:noFill/>
          <a:ln/>
        </p:spPr>
        <p:txBody>
          <a:bodyPr wrap="square" lIns="36000" tIns="36000" rIns="36000" bIns="36000" rtlCol="0" anchor="t">
            <a:spAutoFit/>
          </a:bodyPr>
          <a:lstStyle/>
          <a:p>
            <a:pPr marL="0" indent="0" algn="l">
              <a:lnSpc>
                <a:spcPct val="110000"/>
              </a:lnSpc>
              <a:buNone/>
            </a:pPr>
            <a:r>
              <a:rPr lang="ja-JP" altLang="en-US" sz="1050" noProof="0" dirty="0">
                <a:latin typeface="Noto Sans JP" pitchFamily="34" charset="0"/>
                <a:ea typeface="Noto Sans JP" pitchFamily="34" charset="-122"/>
                <a:cs typeface="Noto Sans JP" pitchFamily="34" charset="-120"/>
              </a:rPr>
              <a:t>担当者個人に偏りがちな地域知見をチームで活用し、担当変更時や繁忙期にも</a:t>
            </a:r>
            <a:r>
              <a:rPr lang="ja-JP" altLang="en-US" sz="1050" b="1" noProof="0" dirty="0">
                <a:latin typeface="Noto Sans JP" pitchFamily="34" charset="0"/>
                <a:ea typeface="Noto Sans JP" pitchFamily="34" charset="-122"/>
                <a:cs typeface="Noto Sans JP" pitchFamily="34" charset="-120"/>
              </a:rPr>
              <a:t>提案品質を維持しやすい体制</a:t>
            </a:r>
            <a:r>
              <a:rPr lang="ja-JP" altLang="en-US" sz="1050" noProof="0" dirty="0">
                <a:latin typeface="Noto Sans JP" pitchFamily="34" charset="0"/>
                <a:ea typeface="Noto Sans JP" pitchFamily="34" charset="-122"/>
                <a:cs typeface="Noto Sans JP" pitchFamily="34" charset="-120"/>
              </a:rPr>
              <a:t>へ</a:t>
            </a:r>
            <a:endParaRPr lang="ja-JP" sz="1050" noProof="0" dirty="0"/>
          </a:p>
        </p:txBody>
      </p:sp>
      <p:sp>
        <p:nvSpPr>
          <p:cNvPr id="33" name="Text 22"/>
          <p:cNvSpPr txBox="1"/>
          <p:nvPr/>
        </p:nvSpPr>
        <p:spPr>
          <a:xfrm>
            <a:off x="6467551" y="4255913"/>
            <a:ext cx="418952" cy="53616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2700" b="1" noProof="0" dirty="0">
                <a:solidFill>
                  <a:srgbClr val="3CAEA3"/>
                </a:solidFill>
                <a:latin typeface="Noto Sans JP" pitchFamily="34" charset="0"/>
                <a:ea typeface="Noto Sans JP" pitchFamily="34" charset="-122"/>
                <a:cs typeface="Noto Sans JP" pitchFamily="34" charset="-120"/>
              </a:rPr>
              <a:t>④</a:t>
            </a:r>
            <a:endParaRPr lang="ja-JP" sz="2700" noProof="0" dirty="0">
              <a:solidFill>
                <a:srgbClr val="3CAEA3"/>
              </a:solidFill>
            </a:endParaRPr>
          </a:p>
        </p:txBody>
      </p:sp>
      <p:sp>
        <p:nvSpPr>
          <p:cNvPr id="35" name="Text 24"/>
          <p:cNvSpPr txBox="1"/>
          <p:nvPr/>
        </p:nvSpPr>
        <p:spPr>
          <a:xfrm>
            <a:off x="6467551" y="4734146"/>
            <a:ext cx="2573388" cy="330210"/>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500" b="1" noProof="0" dirty="0">
                <a:latin typeface="Noto Sans JP" pitchFamily="34" charset="0"/>
                <a:ea typeface="Noto Sans JP" pitchFamily="34" charset="-122"/>
                <a:cs typeface="Noto Sans JP" pitchFamily="34" charset="-120"/>
              </a:rPr>
              <a:t>ゲスト満足・ホテルブランド</a:t>
            </a:r>
            <a:endParaRPr lang="ja-JP" sz="1500" noProof="0" dirty="0"/>
          </a:p>
        </p:txBody>
      </p:sp>
      <p:sp>
        <p:nvSpPr>
          <p:cNvPr id="36" name="Text 25"/>
          <p:cNvSpPr txBox="1"/>
          <p:nvPr/>
        </p:nvSpPr>
        <p:spPr>
          <a:xfrm>
            <a:off x="6467551" y="5078930"/>
            <a:ext cx="3525012" cy="244353"/>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000" b="1" noProof="0" dirty="0">
                <a:solidFill>
                  <a:srgbClr val="ED8B3C"/>
                </a:solidFill>
                <a:latin typeface="Noto Sans JP" pitchFamily="34" charset="0"/>
                <a:ea typeface="Noto Sans JP" pitchFamily="34" charset="-122"/>
                <a:cs typeface="Noto Sans JP" pitchFamily="34" charset="-120"/>
              </a:rPr>
              <a:t>期待を超える提案が、レビュー・再来訪につながる</a:t>
            </a:r>
            <a:endParaRPr lang="ja-JP" sz="1000" noProof="0" dirty="0">
              <a:solidFill>
                <a:srgbClr val="ED8B3C"/>
              </a:solidFill>
            </a:endParaRPr>
          </a:p>
        </p:txBody>
      </p:sp>
      <p:sp>
        <p:nvSpPr>
          <p:cNvPr id="37" name="Text 26"/>
          <p:cNvSpPr txBox="1"/>
          <p:nvPr/>
        </p:nvSpPr>
        <p:spPr>
          <a:xfrm>
            <a:off x="6467551" y="5450433"/>
            <a:ext cx="3261261" cy="415874"/>
          </a:xfrm>
          <a:prstGeom prst="rect">
            <a:avLst/>
          </a:prstGeom>
          <a:noFill/>
          <a:ln/>
        </p:spPr>
        <p:txBody>
          <a:bodyPr wrap="square" lIns="36000" tIns="36000" rIns="36000" bIns="36000" rtlCol="0" anchor="t">
            <a:spAutoFit/>
          </a:bodyPr>
          <a:lstStyle/>
          <a:p>
            <a:pPr marL="0" indent="0" algn="l">
              <a:lnSpc>
                <a:spcPct val="110000"/>
              </a:lnSpc>
              <a:buNone/>
            </a:pPr>
            <a:r>
              <a:rPr lang="ja-JP" altLang="en-US" sz="1050" dirty="0">
                <a:latin typeface="Noto Sans JP" pitchFamily="34" charset="0"/>
                <a:ea typeface="Noto Sans JP" pitchFamily="34" charset="-122"/>
              </a:rPr>
              <a:t>思い出深い体験が</a:t>
            </a:r>
            <a:r>
              <a:rPr lang="ja-JP" altLang="en-US" sz="1050" b="1" dirty="0">
                <a:latin typeface="Noto Sans JP" pitchFamily="34" charset="0"/>
                <a:ea typeface="Noto Sans JP" pitchFamily="34" charset="-122"/>
              </a:rPr>
              <a:t>ホテルのレビュー・</a:t>
            </a:r>
            <a:r>
              <a:rPr lang="en-US" altLang="ja-JP" sz="1050" b="1" dirty="0">
                <a:latin typeface="Noto Sans JP" pitchFamily="34" charset="0"/>
                <a:ea typeface="Noto Sans JP" pitchFamily="34" charset="-122"/>
              </a:rPr>
              <a:t>SNS </a:t>
            </a:r>
            <a:r>
              <a:rPr lang="ja-JP" altLang="en-US" sz="1050" b="1" dirty="0">
                <a:latin typeface="Noto Sans JP" pitchFamily="34" charset="0"/>
                <a:ea typeface="Noto Sans JP" pitchFamily="34" charset="-122"/>
              </a:rPr>
              <a:t>評価・再来訪率を押し上げ</a:t>
            </a:r>
            <a:r>
              <a:rPr lang="ja-JP" altLang="en-US" sz="1050" dirty="0">
                <a:latin typeface="Noto Sans JP" pitchFamily="34" charset="0"/>
                <a:ea typeface="Noto Sans JP" pitchFamily="34" charset="-122"/>
              </a:rPr>
              <a:t>、指名予約を生み出します</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Shape 0"/>
          <p:cNvSpPr/>
          <p:nvPr/>
        </p:nvSpPr>
        <p:spPr>
          <a:xfrm>
            <a:off x="571500" y="1857147"/>
            <a:ext cx="11048695" cy="1196950"/>
          </a:xfrm>
          <a:prstGeom prst="rect">
            <a:avLst/>
          </a:prstGeom>
          <a:solidFill>
            <a:srgbClr val="0A2647"/>
          </a:solidFill>
          <a:ln w="12700">
            <a:solidFill>
              <a:srgbClr val="FFFFFF">
                <a:alpha val="0"/>
              </a:srgbClr>
            </a:solidFill>
            <a:prstDash val="solid"/>
          </a:ln>
        </p:spPr>
        <p:txBody>
          <a:bodyPr/>
          <a:lstStyle/>
          <a:p>
            <a:pPr>
              <a:lnSpc>
                <a:spcPct val="120000"/>
              </a:lnSpc>
              <a:spcBef>
                <a:spcPts val="300"/>
              </a:spcBef>
            </a:pPr>
            <a:endParaRPr lang="ja-JP" noProof="0" dirty="0"/>
          </a:p>
        </p:txBody>
      </p:sp>
      <p:sp>
        <p:nvSpPr>
          <p:cNvPr id="3" name="Shape 1"/>
          <p:cNvSpPr/>
          <p:nvPr/>
        </p:nvSpPr>
        <p:spPr>
          <a:xfrm>
            <a:off x="523951" y="3195115"/>
            <a:ext cx="11048695" cy="3201090"/>
          </a:xfrm>
          <a:prstGeom prst="rect">
            <a:avLst/>
          </a:prstGeom>
          <a:solidFill>
            <a:srgbClr val="FFFFFF"/>
          </a:solidFill>
          <a:ln/>
        </p:spPr>
        <p:txBody>
          <a:bodyPr/>
          <a:lstStyle/>
          <a:p>
            <a:pPr>
              <a:lnSpc>
                <a:spcPct val="120000"/>
              </a:lnSpc>
              <a:spcBef>
                <a:spcPts val="300"/>
              </a:spcBef>
            </a:pPr>
            <a:endParaRPr lang="ja-JP" noProof="0" dirty="0"/>
          </a:p>
        </p:txBody>
      </p:sp>
      <p:sp>
        <p:nvSpPr>
          <p:cNvPr id="4" name="Shape 2"/>
          <p:cNvSpPr/>
          <p:nvPr/>
        </p:nvSpPr>
        <p:spPr>
          <a:xfrm>
            <a:off x="523951" y="3195115"/>
            <a:ext cx="38405" cy="3201090"/>
          </a:xfrm>
          <a:prstGeom prst="rect">
            <a:avLst/>
          </a:prstGeom>
          <a:solidFill>
            <a:srgbClr val="ED8B3C"/>
          </a:solidFill>
          <a:ln w="12700">
            <a:solidFill>
              <a:srgbClr val="ED8B3C">
                <a:alpha val="0"/>
              </a:srgbClr>
            </a:solidFill>
            <a:prstDash val="solid"/>
          </a:ln>
        </p:spPr>
        <p:txBody>
          <a:bodyPr/>
          <a:lstStyle/>
          <a:p>
            <a:pPr>
              <a:lnSpc>
                <a:spcPct val="120000"/>
              </a:lnSpc>
              <a:spcBef>
                <a:spcPts val="300"/>
              </a:spcBef>
            </a:pPr>
            <a:endParaRPr lang="ja-JP" noProof="0" dirty="0"/>
          </a:p>
        </p:txBody>
      </p:sp>
      <p:pic>
        <p:nvPicPr>
          <p:cNvPr id="5" name="Image 0" descr="gen-dedup-d02bc1997363ff3622dff9afb0f2e67c.png"/>
          <p:cNvPicPr preferRelativeResize="0">
            <a:picLocks/>
          </p:cNvPicPr>
          <p:nvPr/>
        </p:nvPicPr>
        <p:blipFill>
          <a:blip r:embed="rId3"/>
          <a:srcRect b="18444"/>
          <a:stretch/>
        </p:blipFill>
        <p:spPr>
          <a:xfrm>
            <a:off x="780898" y="3900456"/>
            <a:ext cx="10476000" cy="36000"/>
          </a:xfrm>
          <a:prstGeom prst="rect">
            <a:avLst/>
          </a:prstGeom>
        </p:spPr>
      </p:pic>
      <p:pic>
        <p:nvPicPr>
          <p:cNvPr id="8" name="Image 1" descr="gen-dedup-468f209c8b765fcabfd32ae0c933e113.png"/>
          <p:cNvPicPr>
            <a:picLocks noChangeAspect="1"/>
          </p:cNvPicPr>
          <p:nvPr/>
        </p:nvPicPr>
        <p:blipFill>
          <a:blip r:embed="rId4"/>
          <a:srcRect l="-404" r="-404"/>
          <a:stretch/>
        </p:blipFill>
        <p:spPr>
          <a:xfrm>
            <a:off x="571500" y="1162202"/>
            <a:ext cx="571500" cy="28346"/>
          </a:xfrm>
          <a:prstGeom prst="rect">
            <a:avLst/>
          </a:prstGeom>
        </p:spPr>
      </p:pic>
      <p:sp>
        <p:nvSpPr>
          <p:cNvPr id="10" name="Text 6"/>
          <p:cNvSpPr txBox="1"/>
          <p:nvPr/>
        </p:nvSpPr>
        <p:spPr>
          <a:xfrm>
            <a:off x="571500" y="700430"/>
            <a:ext cx="7254156" cy="411257"/>
          </a:xfrm>
          <a:prstGeom prst="rect">
            <a:avLst/>
          </a:prstGeom>
          <a:noFill/>
          <a:ln/>
        </p:spPr>
        <p:txBody>
          <a:bodyPr wrap="none" lIns="36000" tIns="36000" rIns="36000" bIns="36000" rtlCol="0" anchor="ctr">
            <a:spAutoFit/>
          </a:bodyPr>
          <a:lstStyle/>
          <a:p>
            <a:pPr marL="0" indent="0" algn="l">
              <a:spcBef>
                <a:spcPts val="300"/>
              </a:spcBef>
              <a:buNone/>
            </a:pPr>
            <a:r>
              <a:rPr lang="ja-JP" sz="2200" b="1" noProof="0" dirty="0">
                <a:solidFill>
                  <a:srgbClr val="081F3A"/>
                </a:solidFill>
                <a:latin typeface="Noto Sans JP" pitchFamily="34" charset="0"/>
                <a:ea typeface="Noto Sans JP" pitchFamily="34" charset="-122"/>
                <a:cs typeface="Noto Sans JP" pitchFamily="34" charset="-120"/>
              </a:rPr>
              <a:t>利用の流れ ― </a:t>
            </a:r>
            <a:r>
              <a:rPr lang="ja-JP" sz="2200" b="1" noProof="0" dirty="0">
                <a:solidFill>
                  <a:srgbClr val="ED8B3C"/>
                </a:solidFill>
                <a:latin typeface="Noto Sans JP" pitchFamily="34" charset="0"/>
                <a:ea typeface="Noto Sans JP" pitchFamily="34" charset="-122"/>
                <a:cs typeface="Noto Sans JP" pitchFamily="34" charset="-120"/>
              </a:rPr>
              <a:t>ホテル側の利用は、無料でご相談可能です</a:t>
            </a:r>
            <a:endParaRPr lang="ja-JP" sz="2200" noProof="0" dirty="0"/>
          </a:p>
        </p:txBody>
      </p:sp>
      <p:sp>
        <p:nvSpPr>
          <p:cNvPr id="11" name="Text 7"/>
          <p:cNvSpPr txBox="1"/>
          <p:nvPr/>
        </p:nvSpPr>
        <p:spPr>
          <a:xfrm>
            <a:off x="571501" y="1234327"/>
            <a:ext cx="10858500" cy="500321"/>
          </a:xfrm>
          <a:prstGeom prst="rect">
            <a:avLst/>
          </a:prstGeom>
          <a:noFill/>
          <a:ln/>
        </p:spPr>
        <p:txBody>
          <a:bodyPr wrap="square" lIns="36000" tIns="36000" rIns="36000" bIns="36000" rtlCol="0" anchor="ctr">
            <a:spAutoFit/>
          </a:bodyPr>
          <a:lstStyle/>
          <a:p>
            <a:pPr marL="0" indent="0" algn="l">
              <a:lnSpc>
                <a:spcPct val="120000"/>
              </a:lnSpc>
              <a:spcBef>
                <a:spcPts val="300"/>
              </a:spcBef>
              <a:buNone/>
            </a:pPr>
            <a:r>
              <a:rPr lang="ja-JP" sz="1200" noProof="0" dirty="0">
                <a:solidFill>
                  <a:srgbClr val="404A57"/>
                </a:solidFill>
                <a:latin typeface="Noto Sans JP" pitchFamily="34" charset="0"/>
                <a:ea typeface="Noto Sans JP" pitchFamily="34" charset="-122"/>
                <a:cs typeface="Noto Sans JP" pitchFamily="34" charset="-120"/>
              </a:rPr>
              <a:t>当面のホテル側の費用は、</a:t>
            </a:r>
            <a:r>
              <a:rPr lang="ja-JP" sz="1200" b="1" noProof="0" dirty="0">
                <a:solidFill>
                  <a:srgbClr val="ED8B3C"/>
                </a:solidFill>
                <a:latin typeface="Noto Sans JP" pitchFamily="34" charset="0"/>
                <a:ea typeface="Noto Sans JP" pitchFamily="34" charset="-122"/>
                <a:cs typeface="Noto Sans JP" pitchFamily="34" charset="-120"/>
              </a:rPr>
              <a:t>ゼロ円</a:t>
            </a:r>
            <a:r>
              <a:rPr lang="ja-JP" sz="1200" noProof="0" dirty="0">
                <a:solidFill>
                  <a:srgbClr val="404A57"/>
                </a:solidFill>
                <a:latin typeface="Noto Sans JP" pitchFamily="34" charset="0"/>
                <a:ea typeface="Noto Sans JP" pitchFamily="34" charset="-122"/>
                <a:cs typeface="Noto Sans JP" pitchFamily="34" charset="-120"/>
              </a:rPr>
              <a:t>です。</a:t>
            </a:r>
            <a:r>
              <a:rPr lang="ja-JP" altLang="en-US" sz="1200" noProof="0" dirty="0">
                <a:solidFill>
                  <a:srgbClr val="404A57"/>
                </a:solidFill>
                <a:latin typeface="Noto Sans JP" pitchFamily="34" charset="0"/>
                <a:ea typeface="Noto Sans JP" pitchFamily="34" charset="-122"/>
                <a:cs typeface="Noto Sans JP" pitchFamily="34" charset="-120"/>
              </a:rPr>
              <a:t>コンシェルジュからゲストのご要望を共有いただき、デクスターが現地ネットワークを活用して情報を収集・確認、ゲストに適した体験の選択肢を現場知見とともにご提案します。</a:t>
            </a:r>
            <a:endParaRPr lang="ja-JP" sz="1200" noProof="0" dirty="0"/>
          </a:p>
        </p:txBody>
      </p:sp>
      <p:sp>
        <p:nvSpPr>
          <p:cNvPr id="12" name="Text 8"/>
          <p:cNvSpPr txBox="1"/>
          <p:nvPr/>
        </p:nvSpPr>
        <p:spPr>
          <a:xfrm>
            <a:off x="800100" y="2018995"/>
            <a:ext cx="2857500" cy="143561"/>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3CAEA3"/>
                </a:solidFill>
                <a:latin typeface="Noto Sans JP" pitchFamily="34" charset="0"/>
                <a:ea typeface="Noto Sans JP" pitchFamily="34" charset="-122"/>
                <a:cs typeface="Noto Sans JP" pitchFamily="34" charset="-120"/>
              </a:rPr>
              <a:t>ホテル側のコスト</a:t>
            </a:r>
            <a:endParaRPr lang="ja-JP" sz="900" noProof="0" dirty="0"/>
          </a:p>
        </p:txBody>
      </p:sp>
      <p:sp>
        <p:nvSpPr>
          <p:cNvPr id="13" name="Text 9"/>
          <p:cNvSpPr txBox="1"/>
          <p:nvPr/>
        </p:nvSpPr>
        <p:spPr>
          <a:xfrm>
            <a:off x="800100" y="2623414"/>
            <a:ext cx="314554" cy="210312"/>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ED8B3C"/>
                </a:solidFill>
                <a:latin typeface="Noto Sans JP" pitchFamily="34" charset="0"/>
                <a:ea typeface="Noto Sans JP" pitchFamily="34" charset="-122"/>
                <a:cs typeface="Noto Sans JP" pitchFamily="34" charset="-120"/>
              </a:rPr>
              <a:t>円／月</a:t>
            </a:r>
            <a:endParaRPr lang="ja-JP" sz="900" noProof="0" dirty="0"/>
          </a:p>
        </p:txBody>
      </p:sp>
      <p:sp>
        <p:nvSpPr>
          <p:cNvPr id="14" name="Text 10"/>
          <p:cNvSpPr txBox="1"/>
          <p:nvPr/>
        </p:nvSpPr>
        <p:spPr>
          <a:xfrm>
            <a:off x="1343254" y="2266798"/>
            <a:ext cx="814730" cy="571500"/>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4900" b="1" noProof="0" dirty="0">
                <a:solidFill>
                  <a:srgbClr val="FBFAF7"/>
                </a:solidFill>
                <a:latin typeface="Noto Sans JP" pitchFamily="34" charset="0"/>
                <a:ea typeface="Noto Sans JP" pitchFamily="34" charset="-122"/>
                <a:cs typeface="Noto Sans JP" pitchFamily="34" charset="-120"/>
              </a:rPr>
              <a:t>¥0</a:t>
            </a:r>
            <a:endParaRPr lang="ja-JP" sz="4900" noProof="0" dirty="0"/>
          </a:p>
        </p:txBody>
      </p:sp>
      <p:sp>
        <p:nvSpPr>
          <p:cNvPr id="15" name="Text 11"/>
          <p:cNvSpPr txBox="1"/>
          <p:nvPr/>
        </p:nvSpPr>
        <p:spPr>
          <a:xfrm>
            <a:off x="3211425" y="2282439"/>
            <a:ext cx="2855516" cy="24435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000" b="1" noProof="0" dirty="0">
                <a:solidFill>
                  <a:srgbClr val="ED8B3C"/>
                </a:solidFill>
                <a:latin typeface="Noto Sans JP" pitchFamily="34" charset="0"/>
                <a:ea typeface="Noto Sans JP" pitchFamily="34" charset="-122"/>
                <a:cs typeface="Noto Sans JP" pitchFamily="34" charset="-120"/>
              </a:rPr>
              <a:t>初期費用 ¥0 ・ 月額固定費 ¥0 ・ 最低利用数なし</a:t>
            </a:r>
            <a:endParaRPr lang="ja-JP" sz="1000" noProof="0" dirty="0">
              <a:solidFill>
                <a:srgbClr val="ED8B3C"/>
              </a:solidFill>
            </a:endParaRPr>
          </a:p>
        </p:txBody>
      </p:sp>
      <p:sp>
        <p:nvSpPr>
          <p:cNvPr id="17" name="Text 13"/>
          <p:cNvSpPr txBox="1"/>
          <p:nvPr/>
        </p:nvSpPr>
        <p:spPr>
          <a:xfrm>
            <a:off x="780898" y="3366108"/>
            <a:ext cx="10792663" cy="124358"/>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ED8B3C"/>
                </a:solidFill>
                <a:latin typeface="Noto Sans JP" pitchFamily="34" charset="0"/>
                <a:ea typeface="Noto Sans JP" pitchFamily="34" charset="-122"/>
                <a:cs typeface="Noto Sans JP" pitchFamily="34" charset="-120"/>
              </a:rPr>
              <a:t>5 ステップの運用プロセス</a:t>
            </a:r>
            <a:endParaRPr lang="ja-JP" sz="900" noProof="0" dirty="0"/>
          </a:p>
        </p:txBody>
      </p:sp>
      <p:sp>
        <p:nvSpPr>
          <p:cNvPr id="18" name="Text 14"/>
          <p:cNvSpPr txBox="1"/>
          <p:nvPr/>
        </p:nvSpPr>
        <p:spPr>
          <a:xfrm>
            <a:off x="780898" y="3572403"/>
            <a:ext cx="10792663" cy="200254"/>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200" b="1" noProof="0" dirty="0">
                <a:solidFill>
                  <a:srgbClr val="081F3A"/>
                </a:solidFill>
                <a:latin typeface="Noto Sans JP" pitchFamily="34" charset="0"/>
                <a:ea typeface="Noto Sans JP" pitchFamily="34" charset="-122"/>
                <a:cs typeface="Noto Sans JP" pitchFamily="34" charset="-120"/>
              </a:rPr>
              <a:t>個別アクティビティご紹介の運用フロー</a:t>
            </a:r>
            <a:endParaRPr lang="ja-JP" sz="1200" noProof="0" dirty="0"/>
          </a:p>
        </p:txBody>
      </p:sp>
      <p:sp>
        <p:nvSpPr>
          <p:cNvPr id="19" name="Text 15"/>
          <p:cNvSpPr txBox="1"/>
          <p:nvPr/>
        </p:nvSpPr>
        <p:spPr>
          <a:xfrm>
            <a:off x="895198" y="4138474"/>
            <a:ext cx="313639" cy="247802"/>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900" b="1" noProof="0" dirty="0">
                <a:solidFill>
                  <a:srgbClr val="3CAEA3"/>
                </a:solidFill>
                <a:latin typeface="Noto Sans JP" pitchFamily="34" charset="0"/>
                <a:ea typeface="Noto Sans JP" pitchFamily="34" charset="-122"/>
                <a:cs typeface="Noto Sans JP" pitchFamily="34" charset="-120"/>
              </a:rPr>
              <a:t>01</a:t>
            </a:r>
            <a:endParaRPr lang="ja-JP" sz="1900" noProof="0" dirty="0"/>
          </a:p>
        </p:txBody>
      </p:sp>
      <p:sp>
        <p:nvSpPr>
          <p:cNvPr id="21" name="Text 17"/>
          <p:cNvSpPr txBox="1"/>
          <p:nvPr/>
        </p:nvSpPr>
        <p:spPr>
          <a:xfrm>
            <a:off x="1240784" y="4140199"/>
            <a:ext cx="1355105" cy="24435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altLang="en-US" sz="1000" b="1" dirty="0">
                <a:solidFill>
                  <a:srgbClr val="081F3A"/>
                </a:solidFill>
                <a:latin typeface="Noto Sans JP" pitchFamily="34" charset="0"/>
                <a:ea typeface="Noto Sans JP" pitchFamily="34" charset="-122"/>
              </a:rPr>
              <a:t>ゲストからの問い合せ</a:t>
            </a:r>
            <a:endParaRPr lang="ja-JP" sz="1000" noProof="0" dirty="0"/>
          </a:p>
        </p:txBody>
      </p:sp>
      <p:sp>
        <p:nvSpPr>
          <p:cNvPr id="22" name="Text 18"/>
          <p:cNvSpPr txBox="1"/>
          <p:nvPr/>
        </p:nvSpPr>
        <p:spPr>
          <a:xfrm>
            <a:off x="895198" y="4602835"/>
            <a:ext cx="1692000" cy="1153576"/>
          </a:xfrm>
          <a:prstGeom prst="rect">
            <a:avLst/>
          </a:prstGeom>
          <a:noFill/>
          <a:ln/>
        </p:spPr>
        <p:txBody>
          <a:bodyPr wrap="square" lIns="36000" tIns="36000" rIns="36000" bIns="36000" rtlCol="0" anchor="t">
            <a:spAutoFit/>
          </a:bodyPr>
          <a:lstStyle/>
          <a:p>
            <a:pPr marL="0" indent="0" algn="l">
              <a:lnSpc>
                <a:spcPct val="110000"/>
              </a:lnSpc>
              <a:spcBef>
                <a:spcPts val="600"/>
              </a:spcBef>
              <a:buNone/>
            </a:pPr>
            <a:r>
              <a:rPr lang="ja-JP" altLang="en-US" sz="1000" noProof="0" dirty="0">
                <a:solidFill>
                  <a:srgbClr val="404A57"/>
                </a:solidFill>
                <a:latin typeface="Noto Sans JP" pitchFamily="34" charset="0"/>
                <a:ea typeface="Noto Sans JP" pitchFamily="34" charset="-122"/>
                <a:cs typeface="Noto Sans JP" pitchFamily="34" charset="-120"/>
              </a:rPr>
              <a:t>ゲストから伺ったテーマ・エリア・人数・日程・予算・ご要望などを、デクスターへ共有いただきます。</a:t>
            </a:r>
            <a:endParaRPr lang="en-US" altLang="ja-JP" sz="1000" noProof="0" dirty="0">
              <a:solidFill>
                <a:srgbClr val="404A57"/>
              </a:solidFill>
              <a:latin typeface="Noto Sans JP" pitchFamily="34" charset="0"/>
              <a:ea typeface="Noto Sans JP" pitchFamily="34" charset="-122"/>
              <a:cs typeface="Noto Sans JP" pitchFamily="34" charset="-120"/>
            </a:endParaRPr>
          </a:p>
          <a:p>
            <a:pPr marL="0" indent="0" algn="l">
              <a:lnSpc>
                <a:spcPct val="110000"/>
              </a:lnSpc>
              <a:spcBef>
                <a:spcPts val="600"/>
              </a:spcBef>
              <a:buNone/>
            </a:pPr>
            <a:r>
              <a:rPr lang="ja-JP" altLang="en-US" sz="1000" dirty="0">
                <a:solidFill>
                  <a:srgbClr val="404A57"/>
                </a:solidFill>
                <a:latin typeface="Noto Sans JP" pitchFamily="34" charset="0"/>
                <a:ea typeface="Noto Sans JP" pitchFamily="34" charset="-122"/>
              </a:rPr>
              <a:t>メールまたは電話にてご連絡ください。</a:t>
            </a:r>
            <a:endParaRPr lang="en-US" altLang="ja-JP" sz="1000" dirty="0">
              <a:solidFill>
                <a:srgbClr val="404A57"/>
              </a:solidFill>
              <a:latin typeface="Noto Sans JP" pitchFamily="34" charset="0"/>
              <a:ea typeface="Noto Sans JP" pitchFamily="34" charset="-122"/>
            </a:endParaRPr>
          </a:p>
        </p:txBody>
      </p:sp>
      <p:sp>
        <p:nvSpPr>
          <p:cNvPr id="23" name="Shape 19"/>
          <p:cNvSpPr/>
          <p:nvPr/>
        </p:nvSpPr>
        <p:spPr>
          <a:xfrm>
            <a:off x="895198" y="5940547"/>
            <a:ext cx="1676095" cy="384131"/>
          </a:xfrm>
          <a:prstGeom prst="rect">
            <a:avLst/>
          </a:prstGeom>
          <a:solidFill>
            <a:srgbClr val="F7F4EE"/>
          </a:solidFill>
          <a:ln/>
        </p:spPr>
        <p:txBody>
          <a:bodyPr/>
          <a:lstStyle/>
          <a:p>
            <a:pPr>
              <a:lnSpc>
                <a:spcPct val="120000"/>
              </a:lnSpc>
              <a:spcBef>
                <a:spcPts val="300"/>
              </a:spcBef>
            </a:pPr>
            <a:endParaRPr lang="ja-JP" noProof="0" dirty="0"/>
          </a:p>
        </p:txBody>
      </p:sp>
      <p:sp>
        <p:nvSpPr>
          <p:cNvPr id="24" name="Shape 20"/>
          <p:cNvSpPr/>
          <p:nvPr/>
        </p:nvSpPr>
        <p:spPr>
          <a:xfrm>
            <a:off x="895198" y="5940547"/>
            <a:ext cx="19202" cy="384131"/>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p>
        </p:txBody>
      </p:sp>
      <p:sp>
        <p:nvSpPr>
          <p:cNvPr id="25" name="Text 21"/>
          <p:cNvSpPr txBox="1"/>
          <p:nvPr/>
        </p:nvSpPr>
        <p:spPr>
          <a:xfrm>
            <a:off x="990295" y="6019027"/>
            <a:ext cx="1226865" cy="227169"/>
          </a:xfrm>
          <a:prstGeom prst="rect">
            <a:avLst/>
          </a:prstGeom>
          <a:solidFill>
            <a:srgbClr val="FFFFFF">
              <a:alpha val="0"/>
            </a:srgbClr>
          </a:solidFill>
          <a:ln>
            <a:solidFill>
              <a:srgbClr val="FFFFFF">
                <a:alpha val="0"/>
              </a:srgbClr>
            </a:solid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081F3A"/>
                </a:solidFill>
                <a:latin typeface="Noto Sans JP" pitchFamily="34" charset="0"/>
                <a:ea typeface="Noto Sans JP" pitchFamily="34" charset="-122"/>
                <a:cs typeface="Noto Sans JP" pitchFamily="34" charset="-120"/>
              </a:rPr>
              <a:t>ホテルコンシェルジュ</a:t>
            </a:r>
            <a:endParaRPr lang="ja-JP" sz="1200" noProof="0" dirty="0"/>
          </a:p>
        </p:txBody>
      </p:sp>
      <p:sp>
        <p:nvSpPr>
          <p:cNvPr id="26" name="Text 22"/>
          <p:cNvSpPr txBox="1"/>
          <p:nvPr/>
        </p:nvSpPr>
        <p:spPr>
          <a:xfrm>
            <a:off x="3036007" y="4138474"/>
            <a:ext cx="313639" cy="247802"/>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900" b="1" noProof="0" dirty="0">
                <a:solidFill>
                  <a:srgbClr val="3CAEA3"/>
                </a:solidFill>
                <a:latin typeface="Noto Sans JP" pitchFamily="34" charset="0"/>
                <a:ea typeface="Noto Sans JP" pitchFamily="34" charset="-122"/>
                <a:cs typeface="Noto Sans JP" pitchFamily="34" charset="-120"/>
              </a:rPr>
              <a:t>02</a:t>
            </a:r>
            <a:endParaRPr lang="ja-JP" sz="1900" noProof="0" dirty="0"/>
          </a:p>
        </p:txBody>
      </p:sp>
      <p:sp>
        <p:nvSpPr>
          <p:cNvPr id="28" name="Text 24"/>
          <p:cNvSpPr txBox="1"/>
          <p:nvPr/>
        </p:nvSpPr>
        <p:spPr>
          <a:xfrm>
            <a:off x="3381593" y="4047866"/>
            <a:ext cx="1167033" cy="429019"/>
          </a:xfrm>
          <a:prstGeom prst="rect">
            <a:avLst/>
          </a:prstGeom>
          <a:noFill/>
          <a:ln/>
        </p:spPr>
        <p:txBody>
          <a:bodyPr wrap="square" lIns="36000" tIns="36000" rIns="36000" bIns="36000" rtlCol="0" anchor="ctr">
            <a:spAutoFit/>
          </a:bodyPr>
          <a:lstStyle/>
          <a:p>
            <a:pPr marL="0" indent="0" algn="l">
              <a:lnSpc>
                <a:spcPct val="120000"/>
              </a:lnSpc>
              <a:spcBef>
                <a:spcPts val="300"/>
              </a:spcBef>
              <a:buNone/>
            </a:pPr>
            <a:r>
              <a:rPr lang="ja-JP" altLang="en-US" sz="1000" b="1" noProof="0" dirty="0">
                <a:solidFill>
                  <a:srgbClr val="081F3A"/>
                </a:solidFill>
                <a:latin typeface="Noto Sans JP" pitchFamily="34" charset="0"/>
                <a:ea typeface="Noto Sans JP" pitchFamily="34" charset="-122"/>
                <a:cs typeface="Noto Sans JP" pitchFamily="34" charset="-120"/>
              </a:rPr>
              <a:t>現地情報の確認・体験の選定</a:t>
            </a:r>
            <a:endParaRPr lang="ja-JP" sz="1000" noProof="0" dirty="0"/>
          </a:p>
        </p:txBody>
      </p:sp>
      <p:sp>
        <p:nvSpPr>
          <p:cNvPr id="29" name="Text 25"/>
          <p:cNvSpPr txBox="1"/>
          <p:nvPr/>
        </p:nvSpPr>
        <p:spPr>
          <a:xfrm>
            <a:off x="3036007" y="4602835"/>
            <a:ext cx="1692000" cy="907355"/>
          </a:xfrm>
          <a:prstGeom prst="rect">
            <a:avLst/>
          </a:prstGeom>
          <a:noFill/>
          <a:ln/>
        </p:spPr>
        <p:txBody>
          <a:bodyPr wrap="square" lIns="36000" tIns="36000" rIns="36000" bIns="36000" rtlCol="0" anchor="t">
            <a:spAutoFit/>
          </a:bodyPr>
          <a:lstStyle/>
          <a:p>
            <a:pPr marL="0" indent="0" algn="l">
              <a:lnSpc>
                <a:spcPct val="110000"/>
              </a:lnSpc>
              <a:spcBef>
                <a:spcPts val="600"/>
              </a:spcBef>
              <a:buNone/>
            </a:pPr>
            <a:r>
              <a:rPr lang="ja-JP" altLang="en-US" sz="1000" noProof="0" dirty="0">
                <a:solidFill>
                  <a:srgbClr val="404A57"/>
                </a:solidFill>
                <a:latin typeface="Noto Sans JP" pitchFamily="34" charset="0"/>
                <a:ea typeface="Noto Sans JP" pitchFamily="34" charset="-122"/>
                <a:cs typeface="Noto Sans JP" pitchFamily="34" charset="-120"/>
              </a:rPr>
              <a:t>地域事業者や現地パートナーへ直接確認し、最新の受入状況や体験内容、ゲストとの相性を踏まえて候補を選定します。</a:t>
            </a:r>
            <a:endParaRPr lang="en-US" altLang="ja-JP" sz="1000" noProof="0" dirty="0">
              <a:solidFill>
                <a:srgbClr val="404A57"/>
              </a:solidFill>
              <a:latin typeface="Noto Sans JP" pitchFamily="34" charset="0"/>
              <a:ea typeface="Noto Sans JP" pitchFamily="34" charset="-122"/>
              <a:cs typeface="Noto Sans JP" pitchFamily="34" charset="-120"/>
            </a:endParaRPr>
          </a:p>
        </p:txBody>
      </p:sp>
      <p:sp>
        <p:nvSpPr>
          <p:cNvPr id="30" name="Shape 26"/>
          <p:cNvSpPr/>
          <p:nvPr/>
        </p:nvSpPr>
        <p:spPr>
          <a:xfrm>
            <a:off x="3036007" y="5940547"/>
            <a:ext cx="1676095" cy="384131"/>
          </a:xfrm>
          <a:prstGeom prst="rect">
            <a:avLst/>
          </a:prstGeom>
          <a:solidFill>
            <a:srgbClr val="F7F4EE"/>
          </a:solidFill>
          <a:ln/>
        </p:spPr>
        <p:txBody>
          <a:bodyPr/>
          <a:lstStyle/>
          <a:p>
            <a:pPr>
              <a:lnSpc>
                <a:spcPct val="120000"/>
              </a:lnSpc>
              <a:spcBef>
                <a:spcPts val="300"/>
              </a:spcBef>
            </a:pPr>
            <a:endParaRPr lang="ja-JP" noProof="0" dirty="0"/>
          </a:p>
        </p:txBody>
      </p:sp>
      <p:sp>
        <p:nvSpPr>
          <p:cNvPr id="31" name="Shape 27"/>
          <p:cNvSpPr/>
          <p:nvPr/>
        </p:nvSpPr>
        <p:spPr>
          <a:xfrm>
            <a:off x="3036007" y="5940547"/>
            <a:ext cx="19202" cy="384131"/>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p>
        </p:txBody>
      </p:sp>
      <p:sp>
        <p:nvSpPr>
          <p:cNvPr id="32" name="Text 28"/>
          <p:cNvSpPr txBox="1"/>
          <p:nvPr/>
        </p:nvSpPr>
        <p:spPr>
          <a:xfrm>
            <a:off x="3131105" y="6019027"/>
            <a:ext cx="1021681" cy="227169"/>
          </a:xfrm>
          <a:prstGeom prst="rect">
            <a:avLst/>
          </a:prstGeom>
          <a:solidFill>
            <a:srgbClr val="FFFFFF">
              <a:alpha val="0"/>
            </a:srgbClr>
          </a:solidFill>
          <a:ln>
            <a:solidFill>
              <a:srgbClr val="FFFFFF">
                <a:alpha val="0"/>
              </a:srgbClr>
            </a:solidFill>
          </a:ln>
        </p:spPr>
        <p:txBody>
          <a:bodyPr wrap="none" lIns="36000" tIns="36000" rIns="36000" bIns="36000" rtlCol="0" anchor="ctr">
            <a:spAutoFit/>
          </a:bodyPr>
          <a:lstStyle/>
          <a:p>
            <a:pPr marL="0" indent="0" algn="l">
              <a:lnSpc>
                <a:spcPct val="120000"/>
              </a:lnSpc>
              <a:spcBef>
                <a:spcPts val="300"/>
              </a:spcBef>
              <a:buNone/>
            </a:pPr>
            <a:r>
              <a:rPr lang="ja-JP" altLang="en-US" sz="900" b="1" noProof="0" dirty="0">
                <a:solidFill>
                  <a:srgbClr val="081F3A"/>
                </a:solidFill>
                <a:latin typeface="Noto Sans JP" pitchFamily="34" charset="0"/>
                <a:ea typeface="Noto Sans JP" pitchFamily="34" charset="-122"/>
                <a:cs typeface="Noto Sans JP" pitchFamily="34" charset="-120"/>
              </a:rPr>
              <a:t>デクスター</a:t>
            </a:r>
            <a:r>
              <a:rPr lang="ja-JP" sz="900" b="1" noProof="0" dirty="0">
                <a:solidFill>
                  <a:srgbClr val="081F3A"/>
                </a:solidFill>
                <a:latin typeface="Noto Sans JP" pitchFamily="34" charset="0"/>
                <a:ea typeface="Noto Sans JP" pitchFamily="34" charset="-122"/>
                <a:cs typeface="Noto Sans JP" pitchFamily="34" charset="-120"/>
              </a:rPr>
              <a:t>デスク</a:t>
            </a:r>
            <a:endParaRPr lang="ja-JP" sz="1200" noProof="0" dirty="0"/>
          </a:p>
        </p:txBody>
      </p:sp>
      <p:sp>
        <p:nvSpPr>
          <p:cNvPr id="40" name="Text 36"/>
          <p:cNvSpPr txBox="1"/>
          <p:nvPr/>
        </p:nvSpPr>
        <p:spPr>
          <a:xfrm>
            <a:off x="7327871" y="4138474"/>
            <a:ext cx="313639" cy="247802"/>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900" b="1" noProof="0" dirty="0">
                <a:solidFill>
                  <a:srgbClr val="3CAEA3"/>
                </a:solidFill>
                <a:latin typeface="Noto Sans JP" pitchFamily="34" charset="0"/>
                <a:ea typeface="Noto Sans JP" pitchFamily="34" charset="-122"/>
                <a:cs typeface="Noto Sans JP" pitchFamily="34" charset="-120"/>
              </a:rPr>
              <a:t>04</a:t>
            </a:r>
            <a:endParaRPr lang="ja-JP" sz="1900" noProof="0" dirty="0"/>
          </a:p>
        </p:txBody>
      </p:sp>
      <p:sp>
        <p:nvSpPr>
          <p:cNvPr id="42" name="Text 38"/>
          <p:cNvSpPr txBox="1"/>
          <p:nvPr/>
        </p:nvSpPr>
        <p:spPr>
          <a:xfrm>
            <a:off x="7672543" y="4047866"/>
            <a:ext cx="1286891" cy="429019"/>
          </a:xfrm>
          <a:prstGeom prst="rect">
            <a:avLst/>
          </a:prstGeom>
          <a:noFill/>
          <a:ln/>
        </p:spPr>
        <p:txBody>
          <a:bodyPr wrap="square" lIns="36000" tIns="36000" rIns="36000" bIns="36000" rtlCol="0" anchor="ctr">
            <a:spAutoFit/>
          </a:bodyPr>
          <a:lstStyle/>
          <a:p>
            <a:pPr marL="0" indent="0" algn="l">
              <a:lnSpc>
                <a:spcPct val="120000"/>
              </a:lnSpc>
              <a:spcBef>
                <a:spcPts val="300"/>
              </a:spcBef>
              <a:buNone/>
            </a:pPr>
            <a:r>
              <a:rPr lang="ja-JP" altLang="en-US" sz="1000" b="1" noProof="0" dirty="0">
                <a:solidFill>
                  <a:srgbClr val="081F3A"/>
                </a:solidFill>
                <a:latin typeface="Noto Sans JP" pitchFamily="34" charset="0"/>
                <a:ea typeface="Noto Sans JP" pitchFamily="34" charset="-122"/>
                <a:cs typeface="Noto Sans JP" pitchFamily="34" charset="-120"/>
              </a:rPr>
              <a:t>ゲストへのご提案・ご意向確認</a:t>
            </a:r>
            <a:endParaRPr lang="ja-JP" sz="1000" noProof="0" dirty="0"/>
          </a:p>
        </p:txBody>
      </p:sp>
      <p:sp>
        <p:nvSpPr>
          <p:cNvPr id="43" name="Text 39"/>
          <p:cNvSpPr txBox="1"/>
          <p:nvPr/>
        </p:nvSpPr>
        <p:spPr>
          <a:xfrm>
            <a:off x="7327871" y="4602835"/>
            <a:ext cx="1692000" cy="568801"/>
          </a:xfrm>
          <a:prstGeom prst="rect">
            <a:avLst/>
          </a:prstGeom>
          <a:noFill/>
          <a:ln/>
        </p:spPr>
        <p:txBody>
          <a:bodyPr wrap="square" lIns="36000" tIns="36000" rIns="36000" bIns="36000" rtlCol="0" anchor="t">
            <a:spAutoFit/>
          </a:bodyPr>
          <a:lstStyle>
            <a:lvl1pPr indent="0">
              <a:lnSpc>
                <a:spcPct val="120000"/>
              </a:lnSpc>
              <a:spcBef>
                <a:spcPts val="600"/>
              </a:spcBef>
              <a:buNone/>
              <a:defRPr sz="900">
                <a:solidFill>
                  <a:srgbClr val="404A57"/>
                </a:solidFill>
                <a:latin typeface="Noto Sans JP" pitchFamily="34" charset="0"/>
                <a:ea typeface="Noto Sans JP" pitchFamily="34" charset="-122"/>
                <a:cs typeface="Noto Sans JP" pitchFamily="34" charset="-120"/>
              </a:defRPr>
            </a:lvl1pPr>
          </a:lstStyle>
          <a:p>
            <a:pPr>
              <a:lnSpc>
                <a:spcPct val="110000"/>
              </a:lnSpc>
            </a:pPr>
            <a:r>
              <a:rPr lang="ja-JP" altLang="ja-JP" sz="1000" dirty="0"/>
              <a:t>コンシェルジュからゲストへご提案し、ご希望や追加要望を確認</a:t>
            </a:r>
            <a:r>
              <a:rPr lang="ja-JP" altLang="en-US" sz="1000" dirty="0"/>
              <a:t>いただきます</a:t>
            </a:r>
          </a:p>
        </p:txBody>
      </p:sp>
      <p:sp>
        <p:nvSpPr>
          <p:cNvPr id="44" name="Shape 40"/>
          <p:cNvSpPr/>
          <p:nvPr/>
        </p:nvSpPr>
        <p:spPr>
          <a:xfrm>
            <a:off x="7327871" y="5940547"/>
            <a:ext cx="1676095" cy="384131"/>
          </a:xfrm>
          <a:prstGeom prst="rect">
            <a:avLst/>
          </a:prstGeom>
          <a:solidFill>
            <a:srgbClr val="F7F4EE"/>
          </a:solidFill>
          <a:ln/>
        </p:spPr>
        <p:txBody>
          <a:bodyPr/>
          <a:lstStyle/>
          <a:p>
            <a:pPr>
              <a:lnSpc>
                <a:spcPct val="120000"/>
              </a:lnSpc>
              <a:spcBef>
                <a:spcPts val="300"/>
              </a:spcBef>
            </a:pPr>
            <a:endParaRPr lang="ja-JP" noProof="0" dirty="0"/>
          </a:p>
        </p:txBody>
      </p:sp>
      <p:sp>
        <p:nvSpPr>
          <p:cNvPr id="45" name="Shape 41"/>
          <p:cNvSpPr/>
          <p:nvPr/>
        </p:nvSpPr>
        <p:spPr>
          <a:xfrm>
            <a:off x="7327871" y="5940547"/>
            <a:ext cx="19202" cy="384131"/>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p>
        </p:txBody>
      </p:sp>
      <p:sp>
        <p:nvSpPr>
          <p:cNvPr id="46" name="Text 42"/>
          <p:cNvSpPr txBox="1"/>
          <p:nvPr/>
        </p:nvSpPr>
        <p:spPr>
          <a:xfrm>
            <a:off x="7422968" y="6019027"/>
            <a:ext cx="1517264" cy="227169"/>
          </a:xfrm>
          <a:prstGeom prst="rect">
            <a:avLst/>
          </a:prstGeom>
          <a:solidFill>
            <a:srgbClr val="FFFFFF">
              <a:alpha val="0"/>
            </a:srgbClr>
          </a:solidFill>
          <a:ln>
            <a:solidFill>
              <a:srgbClr val="FFFFFF">
                <a:alpha val="0"/>
              </a:srgbClr>
            </a:solidFill>
          </a:ln>
        </p:spPr>
        <p:txBody>
          <a:bodyPr wrap="square" lIns="36000" tIns="36000" rIns="36000" bIns="36000" rtlCol="0" anchor="ctr">
            <a:spAutoFit/>
          </a:bodyPr>
          <a:lstStyle/>
          <a:p>
            <a:pPr marL="0" indent="0" algn="l">
              <a:lnSpc>
                <a:spcPct val="120000"/>
              </a:lnSpc>
              <a:spcBef>
                <a:spcPts val="300"/>
              </a:spcBef>
              <a:buNone/>
            </a:pPr>
            <a:r>
              <a:rPr lang="ja-JP" altLang="en-US" sz="900" b="1" noProof="0" dirty="0">
                <a:solidFill>
                  <a:srgbClr val="081F3A"/>
                </a:solidFill>
                <a:latin typeface="Noto Sans JP" pitchFamily="34" charset="0"/>
                <a:ea typeface="Noto Sans JP" pitchFamily="34" charset="-122"/>
                <a:cs typeface="Noto Sans JP" pitchFamily="34" charset="-120"/>
              </a:rPr>
              <a:t>ホテルコンシェルジュ</a:t>
            </a:r>
            <a:endParaRPr lang="ja-JP" sz="1200" noProof="0" dirty="0"/>
          </a:p>
        </p:txBody>
      </p:sp>
      <p:sp>
        <p:nvSpPr>
          <p:cNvPr id="47" name="Text 43"/>
          <p:cNvSpPr txBox="1"/>
          <p:nvPr/>
        </p:nvSpPr>
        <p:spPr>
          <a:xfrm>
            <a:off x="9444999" y="4062934"/>
            <a:ext cx="361244" cy="39888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900" b="1" noProof="0" dirty="0">
                <a:solidFill>
                  <a:srgbClr val="3CAEA3"/>
                </a:solidFill>
                <a:latin typeface="Noto Sans JP" pitchFamily="34" charset="0"/>
                <a:ea typeface="Noto Sans JP" pitchFamily="34" charset="-122"/>
                <a:cs typeface="Noto Sans JP" pitchFamily="34" charset="-120"/>
              </a:rPr>
              <a:t>05</a:t>
            </a:r>
            <a:endParaRPr lang="ja-JP" sz="1900" noProof="0" dirty="0">
              <a:solidFill>
                <a:srgbClr val="3CAEA3"/>
              </a:solidFill>
            </a:endParaRPr>
          </a:p>
        </p:txBody>
      </p:sp>
      <p:sp>
        <p:nvSpPr>
          <p:cNvPr id="49" name="Text 45"/>
          <p:cNvSpPr txBox="1"/>
          <p:nvPr/>
        </p:nvSpPr>
        <p:spPr>
          <a:xfrm>
            <a:off x="9789671" y="4047866"/>
            <a:ext cx="1268604" cy="429019"/>
          </a:xfrm>
          <a:prstGeom prst="rect">
            <a:avLst/>
          </a:prstGeom>
          <a:noFill/>
          <a:ln/>
        </p:spPr>
        <p:txBody>
          <a:bodyPr wrap="square" lIns="36000" tIns="36000" rIns="36000" bIns="36000" rtlCol="0" anchor="ctr">
            <a:spAutoFit/>
          </a:bodyPr>
          <a:lstStyle/>
          <a:p>
            <a:pPr marL="0" indent="0" algn="l">
              <a:lnSpc>
                <a:spcPct val="120000"/>
              </a:lnSpc>
              <a:spcBef>
                <a:spcPts val="300"/>
              </a:spcBef>
              <a:buNone/>
            </a:pPr>
            <a:r>
              <a:rPr lang="ja-JP" altLang="en-US" sz="1000" b="1" noProof="0" dirty="0">
                <a:solidFill>
                  <a:srgbClr val="081F3A"/>
                </a:solidFill>
                <a:latin typeface="Noto Sans JP" pitchFamily="34" charset="0"/>
                <a:ea typeface="Noto Sans JP" pitchFamily="34" charset="-122"/>
                <a:cs typeface="Noto Sans JP" pitchFamily="34" charset="-120"/>
              </a:rPr>
              <a:t>ご予約・実施に向けた調整</a:t>
            </a:r>
            <a:endParaRPr lang="ja-JP" sz="1000" noProof="0" dirty="0"/>
          </a:p>
        </p:txBody>
      </p:sp>
      <p:sp>
        <p:nvSpPr>
          <p:cNvPr id="50" name="Text 46"/>
          <p:cNvSpPr txBox="1"/>
          <p:nvPr/>
        </p:nvSpPr>
        <p:spPr>
          <a:xfrm>
            <a:off x="9444999" y="4602835"/>
            <a:ext cx="1692000" cy="740643"/>
          </a:xfrm>
          <a:prstGeom prst="rect">
            <a:avLst/>
          </a:prstGeom>
          <a:noFill/>
          <a:ln/>
        </p:spPr>
        <p:txBody>
          <a:bodyPr wrap="square" lIns="36000" tIns="36000" rIns="36000" bIns="36000" rtlCol="0" anchor="t">
            <a:spAutoFit/>
          </a:bodyPr>
          <a:lstStyle/>
          <a:p>
            <a:pPr marL="0" indent="0" algn="l">
              <a:lnSpc>
                <a:spcPct val="110000"/>
              </a:lnSpc>
              <a:spcBef>
                <a:spcPts val="600"/>
              </a:spcBef>
              <a:buNone/>
            </a:pPr>
            <a:r>
              <a:rPr lang="ja-JP" altLang="en-US" sz="1000" noProof="0" dirty="0">
                <a:solidFill>
                  <a:srgbClr val="404A57"/>
                </a:solidFill>
                <a:latin typeface="Noto Sans JP" pitchFamily="34" charset="0"/>
                <a:ea typeface="Noto Sans JP" pitchFamily="34" charset="-122"/>
                <a:cs typeface="Noto Sans JP" pitchFamily="34" charset="-120"/>
              </a:rPr>
              <a:t>ゲストのご意向を踏まえ、体験事業者との予約・実施条件の確認や必要な調整を行います</a:t>
            </a:r>
            <a:endParaRPr lang="ja-JP" sz="1000" noProof="0" dirty="0"/>
          </a:p>
        </p:txBody>
      </p:sp>
      <p:sp>
        <p:nvSpPr>
          <p:cNvPr id="33" name="Text 29"/>
          <p:cNvSpPr txBox="1"/>
          <p:nvPr/>
        </p:nvSpPr>
        <p:spPr>
          <a:xfrm>
            <a:off x="5210743" y="4062934"/>
            <a:ext cx="361244" cy="39888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900" b="1" noProof="0" dirty="0">
                <a:solidFill>
                  <a:srgbClr val="3CAEA3"/>
                </a:solidFill>
                <a:latin typeface="Noto Sans JP" pitchFamily="34" charset="0"/>
                <a:ea typeface="Noto Sans JP" pitchFamily="34" charset="-122"/>
                <a:cs typeface="Noto Sans JP" pitchFamily="34" charset="-120"/>
              </a:rPr>
              <a:t>03</a:t>
            </a:r>
            <a:endParaRPr lang="ja-JP" sz="1900" noProof="0" dirty="0">
              <a:solidFill>
                <a:srgbClr val="3CAEA3"/>
              </a:solidFill>
            </a:endParaRPr>
          </a:p>
        </p:txBody>
      </p:sp>
      <p:sp>
        <p:nvSpPr>
          <p:cNvPr id="35" name="Text 31"/>
          <p:cNvSpPr txBox="1"/>
          <p:nvPr/>
        </p:nvSpPr>
        <p:spPr>
          <a:xfrm>
            <a:off x="5556329" y="4141481"/>
            <a:ext cx="1098625" cy="241788"/>
          </a:xfrm>
          <a:prstGeom prst="rect">
            <a:avLst/>
          </a:prstGeom>
          <a:noFill/>
          <a:ln/>
        </p:spPr>
        <p:txBody>
          <a:bodyPr wrap="none" lIns="36000" tIns="36000" rIns="36000" bIns="36000" rtlCol="0" anchor="ctr">
            <a:spAutoFit/>
          </a:bodyPr>
          <a:lstStyle>
            <a:lvl1pPr indent="0">
              <a:lnSpc>
                <a:spcPct val="120000"/>
              </a:lnSpc>
              <a:spcBef>
                <a:spcPts val="300"/>
              </a:spcBef>
              <a:buNone/>
              <a:defRPr sz="1000" b="1">
                <a:solidFill>
                  <a:srgbClr val="081F3A"/>
                </a:solidFill>
                <a:latin typeface="Noto Sans JP" pitchFamily="34" charset="0"/>
                <a:ea typeface="Noto Sans JP" pitchFamily="34" charset="-122"/>
                <a:cs typeface="Noto Sans JP" pitchFamily="34" charset="-120"/>
              </a:defRPr>
            </a:lvl1pPr>
          </a:lstStyle>
          <a:p>
            <a:r>
              <a:rPr lang="ja-JP" altLang="en-US" dirty="0"/>
              <a:t>体験候補をご提案</a:t>
            </a:r>
          </a:p>
        </p:txBody>
      </p:sp>
      <p:sp>
        <p:nvSpPr>
          <p:cNvPr id="36" name="Text 32"/>
          <p:cNvSpPr txBox="1"/>
          <p:nvPr/>
        </p:nvSpPr>
        <p:spPr>
          <a:xfrm>
            <a:off x="5210743" y="4602835"/>
            <a:ext cx="1728000" cy="1492131"/>
          </a:xfrm>
          <a:prstGeom prst="rect">
            <a:avLst/>
          </a:prstGeom>
          <a:noFill/>
          <a:ln/>
        </p:spPr>
        <p:txBody>
          <a:bodyPr wrap="square" lIns="36000" tIns="36000" rIns="36000" bIns="36000" rtlCol="0" anchor="t">
            <a:spAutoFit/>
          </a:bodyPr>
          <a:lstStyle>
            <a:lvl1pPr indent="0">
              <a:lnSpc>
                <a:spcPct val="120000"/>
              </a:lnSpc>
              <a:spcBef>
                <a:spcPts val="300"/>
              </a:spcBef>
              <a:buNone/>
              <a:defRPr sz="900">
                <a:solidFill>
                  <a:srgbClr val="404A57"/>
                </a:solidFill>
                <a:latin typeface="Noto Sans JP" pitchFamily="34" charset="0"/>
                <a:ea typeface="Noto Sans JP" pitchFamily="34" charset="-122"/>
                <a:cs typeface="Noto Sans JP" pitchFamily="34" charset="-120"/>
              </a:defRPr>
            </a:lvl1pPr>
          </a:lstStyle>
          <a:p>
            <a:pPr>
              <a:lnSpc>
                <a:spcPct val="110000"/>
              </a:lnSpc>
              <a:spcBef>
                <a:spcPts val="600"/>
              </a:spcBef>
            </a:pPr>
            <a:r>
              <a:rPr lang="ja-JP" altLang="ja-JP" sz="1000" dirty="0"/>
              <a:t>体験内容・おすすめ理由・目安料金・所要時間・注意事項などを整理し、ゲストへのご提案材料としてご提供します。</a:t>
            </a:r>
            <a:endParaRPr lang="en-US" altLang="ja-JP" sz="1000" dirty="0"/>
          </a:p>
          <a:p>
            <a:pPr>
              <a:lnSpc>
                <a:spcPct val="110000"/>
              </a:lnSpc>
              <a:spcBef>
                <a:spcPts val="600"/>
              </a:spcBef>
            </a:pPr>
            <a:r>
              <a:rPr lang="ja-JP" altLang="ja-JP" sz="1000" dirty="0"/>
              <a:t>24 時間以内に</a:t>
            </a:r>
            <a:r>
              <a:rPr lang="en-US" altLang="ja-JP" sz="1000" b="1" dirty="0">
                <a:solidFill>
                  <a:srgbClr val="081F3A"/>
                </a:solidFill>
              </a:rPr>
              <a:t>1</a:t>
            </a:r>
            <a:r>
              <a:rPr lang="ja-JP" altLang="ja-JP" sz="1000" b="1" dirty="0">
                <a:solidFill>
                  <a:srgbClr val="081F3A"/>
                </a:solidFill>
              </a:rPr>
              <a:t>〜</a:t>
            </a:r>
            <a:r>
              <a:rPr lang="en-US" altLang="ja-JP" sz="1000" b="1" dirty="0">
                <a:solidFill>
                  <a:srgbClr val="081F3A"/>
                </a:solidFill>
              </a:rPr>
              <a:t>3</a:t>
            </a:r>
            <a:r>
              <a:rPr lang="ja-JP" altLang="ja-JP" sz="1000" b="1" dirty="0">
                <a:solidFill>
                  <a:srgbClr val="081F3A"/>
                </a:solidFill>
              </a:rPr>
              <a:t>件</a:t>
            </a:r>
            <a:r>
              <a:rPr lang="ja-JP" altLang="ja-JP" sz="1000" dirty="0"/>
              <a:t>の</a:t>
            </a:r>
            <a:r>
              <a:rPr lang="ja-JP" altLang="en-US" sz="1000" dirty="0"/>
              <a:t>提案</a:t>
            </a:r>
            <a:r>
              <a:rPr lang="ja-JP" altLang="ja-JP" sz="1000" dirty="0"/>
              <a:t>をホテルへ</a:t>
            </a:r>
            <a:r>
              <a:rPr lang="ja-JP" altLang="en-US" sz="1000" dirty="0"/>
              <a:t>回答いたします。</a:t>
            </a:r>
            <a:endParaRPr lang="en-US" altLang="ja-JP" sz="1000" dirty="0"/>
          </a:p>
        </p:txBody>
      </p:sp>
      <p:sp>
        <p:nvSpPr>
          <p:cNvPr id="61" name="Shape 26">
            <a:extLst>
              <a:ext uri="{FF2B5EF4-FFF2-40B4-BE49-F238E27FC236}">
                <a16:creationId xmlns:a16="http://schemas.microsoft.com/office/drawing/2014/main" id="{0BFC6F04-FE01-E887-FB97-289EB14FCD36}"/>
              </a:ext>
            </a:extLst>
          </p:cNvPr>
          <p:cNvSpPr/>
          <p:nvPr/>
        </p:nvSpPr>
        <p:spPr>
          <a:xfrm>
            <a:off x="5153135" y="5940547"/>
            <a:ext cx="1676095" cy="384131"/>
          </a:xfrm>
          <a:prstGeom prst="rect">
            <a:avLst/>
          </a:prstGeom>
          <a:solidFill>
            <a:srgbClr val="F7F4EE"/>
          </a:solidFill>
          <a:ln/>
        </p:spPr>
        <p:txBody>
          <a:bodyPr/>
          <a:lstStyle/>
          <a:p>
            <a:pPr>
              <a:lnSpc>
                <a:spcPct val="120000"/>
              </a:lnSpc>
              <a:spcBef>
                <a:spcPts val="300"/>
              </a:spcBef>
            </a:pPr>
            <a:endParaRPr lang="ja-JP" noProof="0" dirty="0"/>
          </a:p>
        </p:txBody>
      </p:sp>
      <p:sp>
        <p:nvSpPr>
          <p:cNvPr id="62" name="Shape 27">
            <a:extLst>
              <a:ext uri="{FF2B5EF4-FFF2-40B4-BE49-F238E27FC236}">
                <a16:creationId xmlns:a16="http://schemas.microsoft.com/office/drawing/2014/main" id="{53CD3E46-236C-993A-A5A7-8C93E222DFFE}"/>
              </a:ext>
            </a:extLst>
          </p:cNvPr>
          <p:cNvSpPr/>
          <p:nvPr/>
        </p:nvSpPr>
        <p:spPr>
          <a:xfrm>
            <a:off x="5153135" y="5940547"/>
            <a:ext cx="19202" cy="384131"/>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p>
        </p:txBody>
      </p:sp>
      <p:sp>
        <p:nvSpPr>
          <p:cNvPr id="63" name="Text 28">
            <a:extLst>
              <a:ext uri="{FF2B5EF4-FFF2-40B4-BE49-F238E27FC236}">
                <a16:creationId xmlns:a16="http://schemas.microsoft.com/office/drawing/2014/main" id="{424EF8E4-5F71-3521-3A6B-42B6FA1F6C5C}"/>
              </a:ext>
            </a:extLst>
          </p:cNvPr>
          <p:cNvSpPr txBox="1"/>
          <p:nvPr/>
        </p:nvSpPr>
        <p:spPr>
          <a:xfrm>
            <a:off x="5248233" y="6019027"/>
            <a:ext cx="1021681" cy="227169"/>
          </a:xfrm>
          <a:prstGeom prst="rect">
            <a:avLst/>
          </a:prstGeom>
          <a:solidFill>
            <a:srgbClr val="FFFFFF">
              <a:alpha val="0"/>
            </a:srgbClr>
          </a:solidFill>
          <a:ln>
            <a:solidFill>
              <a:srgbClr val="FFFFFF">
                <a:alpha val="0"/>
              </a:srgbClr>
            </a:solidFill>
          </a:ln>
        </p:spPr>
        <p:txBody>
          <a:bodyPr wrap="none" lIns="36000" tIns="36000" rIns="36000" bIns="36000" rtlCol="0" anchor="ctr">
            <a:spAutoFit/>
          </a:bodyPr>
          <a:lstStyle/>
          <a:p>
            <a:pPr>
              <a:lnSpc>
                <a:spcPct val="120000"/>
              </a:lnSpc>
              <a:spcBef>
                <a:spcPts val="300"/>
              </a:spcBef>
            </a:pPr>
            <a:r>
              <a:rPr lang="ja-JP" altLang="en-US" sz="900" b="1" dirty="0">
                <a:solidFill>
                  <a:srgbClr val="081F3A"/>
                </a:solidFill>
                <a:latin typeface="Noto Sans JP" pitchFamily="34" charset="0"/>
                <a:ea typeface="Noto Sans JP" pitchFamily="34" charset="-122"/>
                <a:cs typeface="Noto Sans JP" pitchFamily="34" charset="-120"/>
              </a:rPr>
              <a:t>デクスター</a:t>
            </a:r>
            <a:r>
              <a:rPr lang="ja-JP" altLang="ja-JP" sz="900" b="1" dirty="0">
                <a:solidFill>
                  <a:srgbClr val="081F3A"/>
                </a:solidFill>
                <a:latin typeface="Noto Sans JP" pitchFamily="34" charset="0"/>
                <a:ea typeface="Noto Sans JP" pitchFamily="34" charset="-122"/>
                <a:cs typeface="Noto Sans JP" pitchFamily="34" charset="-120"/>
              </a:rPr>
              <a:t>デスク</a:t>
            </a:r>
            <a:endParaRPr lang="ja-JP" sz="1200" noProof="0" dirty="0"/>
          </a:p>
        </p:txBody>
      </p:sp>
      <p:sp>
        <p:nvSpPr>
          <p:cNvPr id="69" name="Shape 40">
            <a:extLst>
              <a:ext uri="{FF2B5EF4-FFF2-40B4-BE49-F238E27FC236}">
                <a16:creationId xmlns:a16="http://schemas.microsoft.com/office/drawing/2014/main" id="{D162D2C6-358F-2DEC-E332-E121DEE10A27}"/>
              </a:ext>
            </a:extLst>
          </p:cNvPr>
          <p:cNvSpPr/>
          <p:nvPr/>
        </p:nvSpPr>
        <p:spPr>
          <a:xfrm>
            <a:off x="9445914" y="5940547"/>
            <a:ext cx="1676095" cy="384131"/>
          </a:xfrm>
          <a:prstGeom prst="rect">
            <a:avLst/>
          </a:prstGeom>
          <a:solidFill>
            <a:srgbClr val="F7F4EE"/>
          </a:solidFill>
          <a:ln/>
        </p:spPr>
        <p:txBody>
          <a:bodyPr/>
          <a:lstStyle/>
          <a:p>
            <a:pPr>
              <a:lnSpc>
                <a:spcPct val="120000"/>
              </a:lnSpc>
              <a:spcBef>
                <a:spcPts val="300"/>
              </a:spcBef>
            </a:pPr>
            <a:endParaRPr lang="ja-JP" noProof="0" dirty="0"/>
          </a:p>
        </p:txBody>
      </p:sp>
      <p:sp>
        <p:nvSpPr>
          <p:cNvPr id="70" name="Shape 41">
            <a:extLst>
              <a:ext uri="{FF2B5EF4-FFF2-40B4-BE49-F238E27FC236}">
                <a16:creationId xmlns:a16="http://schemas.microsoft.com/office/drawing/2014/main" id="{177B5FAB-4306-1014-4C65-81F595CBFB52}"/>
              </a:ext>
            </a:extLst>
          </p:cNvPr>
          <p:cNvSpPr/>
          <p:nvPr/>
        </p:nvSpPr>
        <p:spPr>
          <a:xfrm>
            <a:off x="9445914" y="5940547"/>
            <a:ext cx="19202" cy="384131"/>
          </a:xfrm>
          <a:prstGeom prst="rect">
            <a:avLst/>
          </a:prstGeom>
          <a:solidFill>
            <a:srgbClr val="3CAEA3"/>
          </a:solidFill>
          <a:ln w="12700">
            <a:solidFill>
              <a:srgbClr val="3CAEA3">
                <a:alpha val="0"/>
              </a:srgbClr>
            </a:solidFill>
            <a:prstDash val="solid"/>
          </a:ln>
        </p:spPr>
        <p:txBody>
          <a:bodyPr/>
          <a:lstStyle/>
          <a:p>
            <a:pPr>
              <a:lnSpc>
                <a:spcPct val="120000"/>
              </a:lnSpc>
              <a:spcBef>
                <a:spcPts val="300"/>
              </a:spcBef>
            </a:pPr>
            <a:endParaRPr lang="ja-JP" noProof="0" dirty="0"/>
          </a:p>
        </p:txBody>
      </p:sp>
      <p:sp>
        <p:nvSpPr>
          <p:cNvPr id="71" name="Text 42">
            <a:extLst>
              <a:ext uri="{FF2B5EF4-FFF2-40B4-BE49-F238E27FC236}">
                <a16:creationId xmlns:a16="http://schemas.microsoft.com/office/drawing/2014/main" id="{78F3D606-3C3D-EA2D-5D34-9B278DB24165}"/>
              </a:ext>
            </a:extLst>
          </p:cNvPr>
          <p:cNvSpPr txBox="1"/>
          <p:nvPr/>
        </p:nvSpPr>
        <p:spPr>
          <a:xfrm>
            <a:off x="9541011" y="5935928"/>
            <a:ext cx="1517264" cy="393368"/>
          </a:xfrm>
          <a:prstGeom prst="rect">
            <a:avLst/>
          </a:prstGeom>
          <a:solidFill>
            <a:srgbClr val="FFFFFF">
              <a:alpha val="0"/>
            </a:srgbClr>
          </a:solidFill>
          <a:ln>
            <a:solidFill>
              <a:srgbClr val="FFFFFF">
                <a:alpha val="0"/>
              </a:srgbClr>
            </a:solidFill>
          </a:ln>
        </p:spPr>
        <p:txBody>
          <a:bodyPr wrap="square" lIns="36000" tIns="36000" rIns="36000" bIns="36000" rtlCol="0" anchor="ctr">
            <a:spAutoFit/>
          </a:bodyPr>
          <a:lstStyle/>
          <a:p>
            <a:pPr marL="0" indent="0" algn="l">
              <a:lnSpc>
                <a:spcPct val="120000"/>
              </a:lnSpc>
              <a:spcBef>
                <a:spcPts val="300"/>
              </a:spcBef>
              <a:buNone/>
            </a:pPr>
            <a:r>
              <a:rPr lang="ja-JP" altLang="en-US" sz="900" b="1" noProof="0" dirty="0">
                <a:solidFill>
                  <a:srgbClr val="081F3A"/>
                </a:solidFill>
                <a:latin typeface="Noto Sans JP" pitchFamily="34" charset="0"/>
                <a:ea typeface="Noto Sans JP" pitchFamily="34" charset="-122"/>
                <a:cs typeface="Noto Sans JP" pitchFamily="34" charset="-120"/>
              </a:rPr>
              <a:t>ホテルコンシェルジュ </a:t>
            </a:r>
            <a:r>
              <a:rPr lang="en-US" altLang="ja-JP" sz="900" b="1" noProof="0" dirty="0">
                <a:solidFill>
                  <a:srgbClr val="081F3A"/>
                </a:solidFill>
                <a:latin typeface="Noto Sans JP" pitchFamily="34" charset="0"/>
                <a:ea typeface="Noto Sans JP" pitchFamily="34" charset="-122"/>
                <a:cs typeface="Noto Sans JP" pitchFamily="34" charset="-120"/>
              </a:rPr>
              <a:t>× </a:t>
            </a:r>
            <a:r>
              <a:rPr lang="ja-JP" altLang="en-US" sz="900" b="1" noProof="0" dirty="0">
                <a:solidFill>
                  <a:srgbClr val="081F3A"/>
                </a:solidFill>
                <a:latin typeface="Noto Sans JP" pitchFamily="34" charset="0"/>
                <a:ea typeface="Noto Sans JP" pitchFamily="34" charset="-122"/>
                <a:cs typeface="Noto Sans JP" pitchFamily="34" charset="-120"/>
              </a:rPr>
              <a:t>デクスター</a:t>
            </a:r>
            <a:endParaRPr lang="ja-JP" sz="1200" noProof="0" dirty="0"/>
          </a:p>
        </p:txBody>
      </p:sp>
      <p:sp>
        <p:nvSpPr>
          <p:cNvPr id="73" name="テキスト ボックス 72">
            <a:extLst>
              <a:ext uri="{FF2B5EF4-FFF2-40B4-BE49-F238E27FC236}">
                <a16:creationId xmlns:a16="http://schemas.microsoft.com/office/drawing/2014/main" id="{B2C666A7-FFAA-FFA0-8F99-662DA4C4E22D}"/>
              </a:ext>
            </a:extLst>
          </p:cNvPr>
          <p:cNvSpPr txBox="1"/>
          <p:nvPr/>
        </p:nvSpPr>
        <p:spPr>
          <a:xfrm>
            <a:off x="826549" y="6392074"/>
            <a:ext cx="10747012" cy="224861"/>
          </a:xfrm>
          <a:prstGeom prst="rect">
            <a:avLst/>
          </a:prstGeom>
          <a:noFill/>
          <a:ln/>
        </p:spPr>
        <p:txBody>
          <a:bodyPr wrap="square" lIns="36000" tIns="36000" rIns="36000" bIns="36000" rtlCol="0" anchor="t">
            <a:spAutoFit/>
          </a:bodyPr>
          <a:lstStyle>
            <a:lvl1pPr indent="0">
              <a:lnSpc>
                <a:spcPct val="120000"/>
              </a:lnSpc>
              <a:spcBef>
                <a:spcPts val="600"/>
              </a:spcBef>
              <a:buNone/>
              <a:defRPr sz="900">
                <a:solidFill>
                  <a:srgbClr val="404A57"/>
                </a:solidFill>
                <a:latin typeface="Noto Sans JP" pitchFamily="34" charset="0"/>
                <a:ea typeface="Noto Sans JP" pitchFamily="34" charset="-122"/>
                <a:cs typeface="Noto Sans JP" pitchFamily="34" charset="-120"/>
              </a:defRPr>
            </a:lvl1pPr>
          </a:lstStyle>
          <a:p>
            <a:r>
              <a:rPr lang="ja-JP" altLang="ja-JP" dirty="0"/>
              <a:t>体験後のゲストの声やコンシェルジュの所感を共有</a:t>
            </a:r>
            <a:r>
              <a:rPr lang="ja-JP" altLang="en-US" dirty="0"/>
              <a:t>ください。</a:t>
            </a:r>
            <a:r>
              <a:rPr lang="ja-JP" altLang="ja-JP" dirty="0"/>
              <a:t>「どのようなゲストに、どの体験が喜ばれたか」を知見として蓄積し、次回以降のご提案精度向上に活かします。</a:t>
            </a:r>
            <a:endParaRPr lang="ja-JP" altLang="en-US" dirty="0"/>
          </a:p>
        </p:txBody>
      </p:sp>
      <p:sp>
        <p:nvSpPr>
          <p:cNvPr id="74" name="Text 11">
            <a:extLst>
              <a:ext uri="{FF2B5EF4-FFF2-40B4-BE49-F238E27FC236}">
                <a16:creationId xmlns:a16="http://schemas.microsoft.com/office/drawing/2014/main" id="{DD1EBAF4-02E9-5BB8-D96D-8D50363ED3C4}"/>
              </a:ext>
            </a:extLst>
          </p:cNvPr>
          <p:cNvSpPr txBox="1"/>
          <p:nvPr/>
        </p:nvSpPr>
        <p:spPr>
          <a:xfrm>
            <a:off x="3211425" y="2568174"/>
            <a:ext cx="3406949" cy="24435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altLang="en-US" sz="1000" b="1" noProof="0" dirty="0">
                <a:solidFill>
                  <a:srgbClr val="ED8B3C"/>
                </a:solidFill>
                <a:latin typeface="Noto Sans JP" pitchFamily="34" charset="0"/>
                <a:ea typeface="Noto Sans JP" pitchFamily="34" charset="-122"/>
                <a:cs typeface="Noto Sans JP" pitchFamily="34" charset="-120"/>
              </a:rPr>
              <a:t>現在、ホテルパートナーとの試行連携期間としてご提供中</a:t>
            </a:r>
            <a:endParaRPr lang="ja-JP" sz="1000" noProof="0" dirty="0">
              <a:solidFill>
                <a:srgbClr val="ED8B3C"/>
              </a:solidFill>
            </a:endParaRPr>
          </a:p>
        </p:txBody>
      </p:sp>
      <p:sp>
        <p:nvSpPr>
          <p:cNvPr id="9" name="Text 5"/>
          <p:cNvSpPr txBox="1"/>
          <p:nvPr/>
        </p:nvSpPr>
        <p:spPr>
          <a:xfrm>
            <a:off x="571500" y="289215"/>
            <a:ext cx="3429000" cy="241788"/>
          </a:xfrm>
          <a:prstGeom prst="rect">
            <a:avLst/>
          </a:prstGeom>
          <a:noFill/>
          <a:ln/>
        </p:spPr>
        <p:txBody>
          <a:bodyPr wrap="square" lIns="36000" tIns="36000" rIns="36000" bIns="36000" rtlCol="0" anchor="ctr">
            <a:spAutoFit/>
          </a:bodyPr>
          <a:lstStyle>
            <a:lvl1pPr indent="0">
              <a:lnSpc>
                <a:spcPct val="120000"/>
              </a:lnSpc>
              <a:spcBef>
                <a:spcPts val="300"/>
              </a:spcBef>
              <a:buNone/>
              <a:defRPr sz="1000" b="1">
                <a:solidFill>
                  <a:srgbClr val="3CAEA3"/>
                </a:solidFill>
                <a:latin typeface="Noto Sans JP" pitchFamily="34" charset="0"/>
                <a:ea typeface="Noto Sans JP" pitchFamily="34" charset="-122"/>
                <a:cs typeface="Noto Sans JP" pitchFamily="34" charset="-120"/>
              </a:defRPr>
            </a:lvl1pPr>
          </a:lstStyle>
          <a:p>
            <a:r>
              <a:rPr lang="ja-JP" noProof="0" dirty="0"/>
              <a:t>サービス内容</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gen-dedup-57b904bccf98371bde297672e6e3ec88.png"/>
          <p:cNvPicPr>
            <a:picLocks noChangeAspect="1"/>
          </p:cNvPicPr>
          <p:nvPr/>
        </p:nvPicPr>
        <p:blipFill>
          <a:blip r:embed="rId3"/>
          <a:srcRect l="-422" r="-422"/>
          <a:stretch/>
        </p:blipFill>
        <p:spPr>
          <a:xfrm>
            <a:off x="1143000" y="1904695"/>
            <a:ext cx="838505" cy="28346"/>
          </a:xfrm>
          <a:prstGeom prst="rect">
            <a:avLst/>
          </a:prstGeom>
        </p:spPr>
      </p:pic>
      <p:sp>
        <p:nvSpPr>
          <p:cNvPr id="3" name="Text 0"/>
          <p:cNvSpPr txBox="1"/>
          <p:nvPr/>
        </p:nvSpPr>
        <p:spPr>
          <a:xfrm>
            <a:off x="1142999" y="2298501"/>
            <a:ext cx="10225007" cy="934478"/>
          </a:xfrm>
          <a:prstGeom prst="rect">
            <a:avLst/>
          </a:prstGeom>
          <a:noFill/>
          <a:ln/>
        </p:spPr>
        <p:txBody>
          <a:bodyPr wrap="square" lIns="36000" tIns="36000" rIns="36000" bIns="36000" rtlCol="0" anchor="ctr">
            <a:spAutoFit/>
          </a:bodyPr>
          <a:lstStyle/>
          <a:p>
            <a:pPr marL="0" indent="0" algn="l">
              <a:buNone/>
            </a:pPr>
            <a:r>
              <a:rPr lang="ja-JP" sz="2800" b="1" kern="0" spc="126" noProof="0" dirty="0">
                <a:solidFill>
                  <a:srgbClr val="FBFAF7"/>
                </a:solidFill>
                <a:latin typeface="Noto Sans JP" pitchFamily="34" charset="0"/>
                <a:ea typeface="Noto Sans JP" pitchFamily="34" charset="-122"/>
                <a:cs typeface="Noto Sans JP" pitchFamily="34" charset="-120"/>
              </a:rPr>
              <a:t>まずは、</a:t>
            </a:r>
            <a:r>
              <a:rPr lang="ja-JP" altLang="en-US" sz="2800" b="1" kern="0" spc="126" noProof="0" dirty="0">
                <a:solidFill>
                  <a:srgbClr val="ED8B3C"/>
                </a:solidFill>
                <a:latin typeface="Noto Sans JP" pitchFamily="34" charset="0"/>
                <a:ea typeface="Noto Sans JP" pitchFamily="34" charset="-122"/>
                <a:cs typeface="Noto Sans JP" pitchFamily="34" charset="-120"/>
              </a:rPr>
              <a:t>「もう一歩踏み込んだ提案をしたい」ゲストのご要望</a:t>
            </a:r>
            <a:r>
              <a:rPr lang="ja-JP" sz="2800" b="1" kern="0" spc="126" noProof="0" dirty="0">
                <a:solidFill>
                  <a:srgbClr val="FBFAF7"/>
                </a:solidFill>
                <a:latin typeface="Noto Sans JP" pitchFamily="34" charset="0"/>
                <a:ea typeface="Noto Sans JP" pitchFamily="34" charset="-122"/>
                <a:cs typeface="Noto Sans JP" pitchFamily="34" charset="-120"/>
              </a:rPr>
              <a:t>をお聞かせください。</a:t>
            </a:r>
            <a:endParaRPr lang="ja-JP" sz="2800" noProof="0" dirty="0"/>
          </a:p>
        </p:txBody>
      </p:sp>
      <p:sp>
        <p:nvSpPr>
          <p:cNvPr id="4" name="Text 1"/>
          <p:cNvSpPr txBox="1"/>
          <p:nvPr/>
        </p:nvSpPr>
        <p:spPr>
          <a:xfrm>
            <a:off x="1143000" y="3836676"/>
            <a:ext cx="9906610" cy="286207"/>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200" noProof="0" dirty="0">
                <a:solidFill>
                  <a:srgbClr val="C5CAD2"/>
                </a:solidFill>
                <a:latin typeface="Noto Sans JP" pitchFamily="34" charset="0"/>
                <a:ea typeface="Noto Sans JP" pitchFamily="34" charset="-122"/>
                <a:cs typeface="Noto Sans JP" pitchFamily="34" charset="-120"/>
              </a:rPr>
              <a:t>具体的なゲストの声に応じて、</a:t>
            </a:r>
            <a:r>
              <a:rPr lang="ja-JP" sz="1200" b="1" noProof="0" dirty="0">
                <a:solidFill>
                  <a:srgbClr val="FBFAF7"/>
                </a:solidFill>
                <a:latin typeface="Noto Sans JP" pitchFamily="34" charset="0"/>
                <a:ea typeface="Noto Sans JP" pitchFamily="34" charset="-122"/>
                <a:cs typeface="Noto Sans JP" pitchFamily="34" charset="-120"/>
              </a:rPr>
              <a:t>地域</a:t>
            </a:r>
            <a:r>
              <a:rPr lang="ja-JP" sz="1200" noProof="0" dirty="0">
                <a:solidFill>
                  <a:srgbClr val="C5CAD2"/>
                </a:solidFill>
                <a:latin typeface="Noto Sans JP" pitchFamily="34" charset="0"/>
                <a:ea typeface="Noto Sans JP" pitchFamily="34" charset="-122"/>
                <a:cs typeface="Noto Sans JP" pitchFamily="34" charset="-120"/>
              </a:rPr>
              <a:t>・</a:t>
            </a:r>
            <a:r>
              <a:rPr lang="ja-JP" sz="1200" b="1" noProof="0" dirty="0">
                <a:solidFill>
                  <a:srgbClr val="FBFAF7"/>
                </a:solidFill>
                <a:latin typeface="Noto Sans JP" pitchFamily="34" charset="0"/>
                <a:ea typeface="Noto Sans JP" pitchFamily="34" charset="-122"/>
                <a:cs typeface="Noto Sans JP" pitchFamily="34" charset="-120"/>
              </a:rPr>
              <a:t>テーマ</a:t>
            </a:r>
            <a:r>
              <a:rPr lang="ja-JP" sz="1200" noProof="0" dirty="0">
                <a:solidFill>
                  <a:srgbClr val="C5CAD2"/>
                </a:solidFill>
                <a:latin typeface="Noto Sans JP" pitchFamily="34" charset="0"/>
                <a:ea typeface="Noto Sans JP" pitchFamily="34" charset="-122"/>
                <a:cs typeface="Noto Sans JP" pitchFamily="34" charset="-120"/>
              </a:rPr>
              <a:t>・</a:t>
            </a:r>
            <a:r>
              <a:rPr lang="ja-JP" sz="1200" b="1" noProof="0" dirty="0">
                <a:solidFill>
                  <a:srgbClr val="FBFAF7"/>
                </a:solidFill>
                <a:latin typeface="Noto Sans JP" pitchFamily="34" charset="0"/>
                <a:ea typeface="Noto Sans JP" pitchFamily="34" charset="-122"/>
                <a:cs typeface="Noto Sans JP" pitchFamily="34" charset="-120"/>
              </a:rPr>
              <a:t>予算</a:t>
            </a:r>
            <a:r>
              <a:rPr lang="ja-JP" sz="1200" noProof="0" dirty="0">
                <a:solidFill>
                  <a:srgbClr val="C5CAD2"/>
                </a:solidFill>
                <a:latin typeface="Noto Sans JP" pitchFamily="34" charset="0"/>
                <a:ea typeface="Noto Sans JP" pitchFamily="34" charset="-122"/>
                <a:cs typeface="Noto Sans JP" pitchFamily="34" charset="-120"/>
              </a:rPr>
              <a:t>・</a:t>
            </a:r>
            <a:r>
              <a:rPr lang="ja-JP" sz="1200" b="1" noProof="0" dirty="0">
                <a:solidFill>
                  <a:srgbClr val="FBFAF7"/>
                </a:solidFill>
                <a:latin typeface="Noto Sans JP" pitchFamily="34" charset="0"/>
                <a:ea typeface="Noto Sans JP" pitchFamily="34" charset="-122"/>
                <a:cs typeface="Noto Sans JP" pitchFamily="34" charset="-120"/>
              </a:rPr>
              <a:t>滞在期間</a:t>
            </a:r>
            <a:r>
              <a:rPr lang="ja-JP" sz="1200" noProof="0" dirty="0">
                <a:solidFill>
                  <a:srgbClr val="C5CAD2"/>
                </a:solidFill>
                <a:latin typeface="Noto Sans JP" pitchFamily="34" charset="0"/>
                <a:ea typeface="Noto Sans JP" pitchFamily="34" charset="-122"/>
                <a:cs typeface="Noto Sans JP" pitchFamily="34" charset="-120"/>
              </a:rPr>
              <a:t>などを伺い、</a:t>
            </a:r>
            <a:r>
              <a:rPr lang="ja-JP" altLang="en-US" sz="1200" noProof="0" dirty="0">
                <a:solidFill>
                  <a:srgbClr val="C5CAD2"/>
                </a:solidFill>
                <a:latin typeface="Noto Sans JP" pitchFamily="34" charset="0"/>
                <a:ea typeface="Noto Sans JP" pitchFamily="34" charset="-122"/>
                <a:cs typeface="Noto Sans JP" pitchFamily="34" charset="-120"/>
              </a:rPr>
              <a:t>デクスター</a:t>
            </a:r>
            <a:r>
              <a:rPr lang="ja-JP" sz="1200" noProof="0" dirty="0">
                <a:solidFill>
                  <a:srgbClr val="C5CAD2"/>
                </a:solidFill>
                <a:latin typeface="Noto Sans JP" pitchFamily="34" charset="0"/>
                <a:ea typeface="Noto Sans JP" pitchFamily="34" charset="-122"/>
                <a:cs typeface="Noto Sans JP" pitchFamily="34" charset="-120"/>
              </a:rPr>
              <a:t>のネットワークからご提案可能な体験を検討します</a:t>
            </a:r>
            <a:endParaRPr lang="ja-JP" sz="1200" noProof="0" dirty="0"/>
          </a:p>
        </p:txBody>
      </p:sp>
      <p:sp>
        <p:nvSpPr>
          <p:cNvPr id="5" name="Text 2"/>
          <p:cNvSpPr txBox="1"/>
          <p:nvPr/>
        </p:nvSpPr>
        <p:spPr>
          <a:xfrm>
            <a:off x="1143000" y="4799412"/>
            <a:ext cx="5143500" cy="162763"/>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900" b="1" noProof="0" dirty="0">
                <a:solidFill>
                  <a:srgbClr val="ED8B3C"/>
                </a:solidFill>
                <a:latin typeface="Noto Sans JP" pitchFamily="34" charset="0"/>
                <a:ea typeface="Noto Sans JP" pitchFamily="34" charset="-122"/>
                <a:cs typeface="Noto Sans JP" pitchFamily="34" charset="-120"/>
              </a:rPr>
              <a:t>デクスターお問い合わせ窓口</a:t>
            </a:r>
            <a:endParaRPr lang="ja-JP" sz="900" noProof="0" dirty="0"/>
          </a:p>
        </p:txBody>
      </p:sp>
      <p:sp>
        <p:nvSpPr>
          <p:cNvPr id="6" name="Text 3"/>
          <p:cNvSpPr txBox="1"/>
          <p:nvPr/>
        </p:nvSpPr>
        <p:spPr>
          <a:xfrm>
            <a:off x="1143000" y="5037156"/>
            <a:ext cx="5143500" cy="324612"/>
          </a:xfrm>
          <a:prstGeom prst="rect">
            <a:avLst/>
          </a:prstGeom>
          <a:noFill/>
          <a:ln/>
        </p:spPr>
        <p:txBody>
          <a:bodyPr wrap="none" lIns="36000" tIns="36000" rIns="36000" bIns="36000" rtlCol="0" anchor="ctr">
            <a:spAutoFit/>
          </a:bodyPr>
          <a:lstStyle/>
          <a:p>
            <a:pPr marL="0" indent="0" algn="l">
              <a:lnSpc>
                <a:spcPct val="120000"/>
              </a:lnSpc>
              <a:spcBef>
                <a:spcPts val="300"/>
              </a:spcBef>
              <a:buNone/>
            </a:pPr>
            <a:r>
              <a:rPr lang="ja-JP" sz="1800" b="1" noProof="0" dirty="0">
                <a:solidFill>
                  <a:srgbClr val="FBFAF7"/>
                </a:solidFill>
                <a:latin typeface="Noto Sans JP" pitchFamily="34" charset="0"/>
                <a:ea typeface="Noto Sans JP" pitchFamily="34" charset="-122"/>
                <a:cs typeface="Noto Sans JP" pitchFamily="34" charset="-120"/>
              </a:rPr>
              <a:t>デクスター合同会社 ／ Dexter LLC.</a:t>
            </a:r>
            <a:endParaRPr lang="ja-JP" sz="1800" noProof="0" dirty="0"/>
          </a:p>
        </p:txBody>
      </p:sp>
      <p:sp>
        <p:nvSpPr>
          <p:cNvPr id="7" name="Text 4"/>
          <p:cNvSpPr txBox="1"/>
          <p:nvPr/>
        </p:nvSpPr>
        <p:spPr>
          <a:xfrm>
            <a:off x="1143000" y="5704668"/>
            <a:ext cx="5143500" cy="695858"/>
          </a:xfrm>
          <a:prstGeom prst="rect">
            <a:avLst/>
          </a:prstGeom>
          <a:noFill/>
          <a:ln/>
        </p:spPr>
        <p:txBody>
          <a:bodyPr wrap="square" lIns="36000" tIns="36000" rIns="36000" bIns="36000" rtlCol="0" anchor="t">
            <a:spAutoFit/>
          </a:bodyPr>
          <a:lstStyle/>
          <a:p>
            <a:pPr marL="0" indent="0" algn="l">
              <a:lnSpc>
                <a:spcPct val="120000"/>
              </a:lnSpc>
              <a:spcBef>
                <a:spcPts val="300"/>
              </a:spcBef>
              <a:buNone/>
            </a:pPr>
            <a:r>
              <a:rPr lang="ja-JP" sz="1500" b="1" noProof="0" dirty="0">
                <a:solidFill>
                  <a:srgbClr val="FBFAF7"/>
                </a:solidFill>
                <a:latin typeface="Noto Sans JP" pitchFamily="34" charset="0"/>
                <a:ea typeface="Noto Sans JP" pitchFamily="34" charset="-122"/>
                <a:cs typeface="Noto Sans JP" pitchFamily="34" charset="-120"/>
              </a:rPr>
              <a:t>担当：中島、武川</a:t>
            </a:r>
            <a:endParaRPr lang="ja-JP" sz="1500" noProof="0" dirty="0"/>
          </a:p>
          <a:p>
            <a:pPr marL="0" indent="0" algn="l">
              <a:lnSpc>
                <a:spcPct val="120000"/>
              </a:lnSpc>
              <a:spcBef>
                <a:spcPts val="300"/>
              </a:spcBef>
              <a:buNone/>
            </a:pPr>
            <a:r>
              <a:rPr lang="ja-JP" sz="1500" b="1" noProof="0" dirty="0">
                <a:solidFill>
                  <a:srgbClr val="ED8B3C"/>
                </a:solidFill>
                <a:latin typeface="Noto Sans JP" pitchFamily="34" charset="0"/>
                <a:ea typeface="Noto Sans JP" pitchFamily="34" charset="-122"/>
                <a:cs typeface="Noto Sans JP" pitchFamily="34" charset="-120"/>
              </a:rPr>
              <a:t>TEL：090－XXXX－XXXX</a:t>
            </a:r>
            <a:endParaRPr lang="ja-JP" sz="1500" noProof="0" dirty="0"/>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106</TotalTime>
  <Words>2687</Words>
  <Application>Microsoft Office PowerPoint</Application>
  <PresentationFormat>ワイド画面</PresentationFormat>
  <Paragraphs>278</Paragraphs>
  <Slides>10</Slides>
  <Notes>10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10</vt:i4>
      </vt:variant>
    </vt:vector>
  </HeadingPairs>
  <TitlesOfParts>
    <vt:vector size="13" baseType="lpstr">
      <vt:lpstr>Noto Sans JP</vt:lpstr>
      <vt:lpstr>Arial</vt:lpstr>
      <vt:lpstr>1_Office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ktakano</dc:creator>
  <cp:lastModifiedBy>BP高野 和也</cp:lastModifiedBy>
  <cp:revision>5</cp:revision>
  <dcterms:created xsi:type="dcterms:W3CDTF">2026-07-10T00:55:41Z</dcterms:created>
  <dcterms:modified xsi:type="dcterms:W3CDTF">2026-07-16T04:48:22Z</dcterms:modified>
</cp:coreProperties>
</file>